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5.svg" ContentType="image/svg+xml"/>
  <Override PartName="/ppt/media/image17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9"/>
  </p:handoutMasterIdLst>
  <p:sldIdLst>
    <p:sldId id="258" r:id="rId3"/>
    <p:sldId id="281" r:id="rId5"/>
    <p:sldId id="257" r:id="rId6"/>
    <p:sldId id="259" r:id="rId7"/>
    <p:sldId id="260" r:id="rId8"/>
    <p:sldId id="283" r:id="rId9"/>
    <p:sldId id="261" r:id="rId10"/>
    <p:sldId id="262" r:id="rId11"/>
    <p:sldId id="284" r:id="rId12"/>
    <p:sldId id="265" r:id="rId13"/>
    <p:sldId id="288" r:id="rId14"/>
    <p:sldId id="285" r:id="rId15"/>
    <p:sldId id="279" r:id="rId16"/>
    <p:sldId id="280" r:id="rId17"/>
    <p:sldId id="287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4" userDrawn="1">
          <p15:clr>
            <a:srgbClr val="A4A3A4"/>
          </p15:clr>
        </p15:guide>
        <p15:guide id="2" pos="38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B0088"/>
    <a:srgbClr val="FFFFFF"/>
    <a:srgbClr val="1E386B"/>
    <a:srgbClr val="005BAC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14"/>
        <p:guide pos="385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handoutMaster" Target="handoutMasters/handoutMaster1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66.xml"/><Relationship Id="rId8" Type="http://schemas.openxmlformats.org/officeDocument/2006/relationships/image" Target="../media/image2.png"/><Relationship Id="rId7" Type="http://schemas.openxmlformats.org/officeDocument/2006/relationships/image" Target="../media/image8.jpeg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svg"/><Relationship Id="rId8" Type="http://schemas.openxmlformats.org/officeDocument/2006/relationships/image" Target="../media/image16.png"/><Relationship Id="rId7" Type="http://schemas.openxmlformats.org/officeDocument/2006/relationships/image" Target="../media/image15.sv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67.xml"/><Relationship Id="rId15" Type="http://schemas.openxmlformats.org/officeDocument/2006/relationships/image" Target="../media/image2.png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8.xml"/><Relationship Id="rId2" Type="http://schemas.openxmlformats.org/officeDocument/2006/relationships/image" Target="../media/image2.png"/><Relationship Id="rId1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image" Target="../media/image31.svg"/><Relationship Id="rId7" Type="http://schemas.openxmlformats.org/officeDocument/2006/relationships/image" Target="../media/image30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71.xml"/><Relationship Id="rId3" Type="http://schemas.openxmlformats.org/officeDocument/2006/relationships/image" Target="../media/image26.png"/><Relationship Id="rId29" Type="http://schemas.openxmlformats.org/officeDocument/2006/relationships/image" Target="../media/image2.png"/><Relationship Id="rId28" Type="http://schemas.openxmlformats.org/officeDocument/2006/relationships/image" Target="../media/image51.svg"/><Relationship Id="rId27" Type="http://schemas.openxmlformats.org/officeDocument/2006/relationships/image" Target="../media/image50.png"/><Relationship Id="rId26" Type="http://schemas.openxmlformats.org/officeDocument/2006/relationships/image" Target="../media/image49.svg"/><Relationship Id="rId25" Type="http://schemas.openxmlformats.org/officeDocument/2006/relationships/image" Target="../media/image48.png"/><Relationship Id="rId24" Type="http://schemas.openxmlformats.org/officeDocument/2006/relationships/image" Target="../media/image47.svg"/><Relationship Id="rId23" Type="http://schemas.openxmlformats.org/officeDocument/2006/relationships/image" Target="../media/image46.png"/><Relationship Id="rId22" Type="http://schemas.openxmlformats.org/officeDocument/2006/relationships/image" Target="../media/image45.svg"/><Relationship Id="rId21" Type="http://schemas.openxmlformats.org/officeDocument/2006/relationships/image" Target="../media/image44.png"/><Relationship Id="rId20" Type="http://schemas.openxmlformats.org/officeDocument/2006/relationships/image" Target="../media/image43.svg"/><Relationship Id="rId2" Type="http://schemas.openxmlformats.org/officeDocument/2006/relationships/image" Target="../media/image25.svg"/><Relationship Id="rId19" Type="http://schemas.openxmlformats.org/officeDocument/2006/relationships/image" Target="../media/image42.png"/><Relationship Id="rId18" Type="http://schemas.openxmlformats.org/officeDocument/2006/relationships/image" Target="../media/image41.svg"/><Relationship Id="rId17" Type="http://schemas.openxmlformats.org/officeDocument/2006/relationships/image" Target="../media/image40.png"/><Relationship Id="rId16" Type="http://schemas.openxmlformats.org/officeDocument/2006/relationships/image" Target="../media/image39.svg"/><Relationship Id="rId15" Type="http://schemas.openxmlformats.org/officeDocument/2006/relationships/image" Target="../media/image38.png"/><Relationship Id="rId14" Type="http://schemas.openxmlformats.org/officeDocument/2006/relationships/image" Target="../media/image37.svg"/><Relationship Id="rId13" Type="http://schemas.openxmlformats.org/officeDocument/2006/relationships/image" Target="../media/image36.png"/><Relationship Id="rId12" Type="http://schemas.openxmlformats.org/officeDocument/2006/relationships/image" Target="../media/image35.svg"/><Relationship Id="rId11" Type="http://schemas.openxmlformats.org/officeDocument/2006/relationships/image" Target="../media/image34.png"/><Relationship Id="rId10" Type="http://schemas.openxmlformats.org/officeDocument/2006/relationships/image" Target="../media/image33.sv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2.xml"/><Relationship Id="rId2" Type="http://schemas.openxmlformats.org/officeDocument/2006/relationships/image" Target="../media/image2.png"/><Relationship Id="rId1" Type="http://schemas.openxmlformats.org/officeDocument/2006/relationships/image" Target="../media/image5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74.xml"/><Relationship Id="rId1" Type="http://schemas.openxmlformats.org/officeDocument/2006/relationships/tags" Target="../tags/tag73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5.xml"/><Relationship Id="rId2" Type="http://schemas.openxmlformats.org/officeDocument/2006/relationships/image" Target="../media/image2.png"/><Relationship Id="rId1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6.xml"/><Relationship Id="rId2" Type="http://schemas.openxmlformats.org/officeDocument/2006/relationships/image" Target="../media/image2.png"/><Relationship Id="rId1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78.xml"/><Relationship Id="rId1" Type="http://schemas.openxmlformats.org/officeDocument/2006/relationships/tags" Target="../tags/tag7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image" Target="../media/image2.png"/><Relationship Id="rId7" Type="http://schemas.openxmlformats.org/officeDocument/2006/relationships/image" Target="../media/image60.png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0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00965" y="1638300"/>
            <a:ext cx="12443460" cy="3582035"/>
          </a:xfrm>
          <a:prstGeom prst="rect">
            <a:avLst/>
          </a:prstGeom>
          <a:solidFill>
            <a:srgbClr val="7030A0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直角三角形 7"/>
          <p:cNvSpPr/>
          <p:nvPr/>
        </p:nvSpPr>
        <p:spPr>
          <a:xfrm>
            <a:off x="4069715" y="1301750"/>
            <a:ext cx="218440" cy="33655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剪去同侧角的矩形 9"/>
          <p:cNvSpPr/>
          <p:nvPr/>
        </p:nvSpPr>
        <p:spPr>
          <a:xfrm rot="10800000">
            <a:off x="790575" y="1300480"/>
            <a:ext cx="3279140" cy="3319780"/>
          </a:xfrm>
          <a:prstGeom prst="snip2SameRect">
            <a:avLst>
              <a:gd name="adj1" fmla="val 27749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751830" y="4319270"/>
            <a:ext cx="5247640" cy="52197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zh-CN" altLang="en-US" sz="2800">
                <a:solidFill>
                  <a:schemeClr val="bg1"/>
                </a:solidFill>
                <a:latin typeface="黑体" charset="0"/>
                <a:ea typeface="黑体" charset="0"/>
              </a:rPr>
              <a:t>王羿珧</a:t>
            </a:r>
            <a:r>
              <a:rPr lang="en-US" altLang="zh-CN" sz="2800">
                <a:solidFill>
                  <a:schemeClr val="bg1"/>
                </a:solidFill>
                <a:latin typeface="黑体" charset="0"/>
                <a:ea typeface="黑体" charset="0"/>
              </a:rPr>
              <a:t> </a:t>
            </a:r>
            <a:r>
              <a:rPr lang="en-US" altLang="zh-CN" sz="2800">
                <a:solidFill>
                  <a:schemeClr val="bg1"/>
                </a:solidFill>
                <a:latin typeface="Times New Roman" panose="02020503050405090304" charset="0"/>
                <a:ea typeface="黑体" charset="0"/>
                <a:cs typeface="Times New Roman" panose="02020503050405090304" charset="0"/>
              </a:rPr>
              <a:t>2026211232</a:t>
            </a:r>
            <a:endParaRPr lang="zh-CN" altLang="en-US" sz="2400">
              <a:solidFill>
                <a:schemeClr val="bg1"/>
              </a:solidFill>
              <a:latin typeface="黑体" charset="0"/>
              <a:ea typeface="黑体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288155" y="2238058"/>
            <a:ext cx="7646035" cy="144526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lvl="1" algn="ctr"/>
            <a:r>
              <a:rPr lang="en-US" altLang="zh-CN" sz="4400" b="1">
                <a:solidFill>
                  <a:schemeClr val="bg1"/>
                </a:solidFill>
                <a:latin typeface="Times New Roman" panose="02020503050405090304" charset="0"/>
                <a:ea typeface="仿宋_GB2312" panose="02010609030101010101" charset="-122"/>
                <a:cs typeface="Times New Roman" panose="02020503050405090304" charset="0"/>
                <a:sym typeface="+mn-ea"/>
              </a:rPr>
              <a:t>(7) DeepCAVE-X: </a:t>
            </a:r>
            <a:r>
              <a:rPr lang="zh-CN" altLang="en-US" sz="4400" b="1">
                <a:solidFill>
                  <a:schemeClr val="bg1"/>
                </a:solidFill>
                <a:latin typeface="Times New Roman" panose="02020503050405090304" charset="0"/>
                <a:ea typeface="仿宋_GB2312" panose="02010609030101010101" charset="-122"/>
                <a:cs typeface="Times New Roman" panose="02020503050405090304" charset="0"/>
                <a:sym typeface="+mn-ea"/>
              </a:rPr>
              <a:t>基于强化学习的</a:t>
            </a:r>
            <a:r>
              <a:rPr lang="zh-CN" altLang="en-US" sz="4400" b="1">
                <a:solidFill>
                  <a:schemeClr val="bg1"/>
                </a:solidFill>
                <a:latin typeface="Times New Roman" panose="02020503050405090304" charset="0"/>
                <a:ea typeface="仿宋_GB2312" panose="02010609030101010101" charset="-122"/>
                <a:cs typeface="Times New Roman" panose="02020503050405090304" charset="0"/>
                <a:sym typeface="+mn-ea"/>
              </a:rPr>
              <a:t>自适应</a:t>
            </a:r>
            <a:r>
              <a:rPr lang="zh-CN" altLang="en-US" sz="4400" b="1">
                <a:solidFill>
                  <a:schemeClr val="bg1"/>
                </a:solidFill>
                <a:latin typeface="Times New Roman" panose="02020503050405090304" charset="0"/>
                <a:ea typeface="仿宋_GB2312" panose="02010609030101010101" charset="-122"/>
                <a:cs typeface="Times New Roman" panose="02020503050405090304" charset="0"/>
                <a:sym typeface="+mn-ea"/>
              </a:rPr>
              <a:t> </a:t>
            </a:r>
            <a:r>
              <a:rPr lang="en-US" altLang="zh-CN" sz="4400" b="1">
                <a:solidFill>
                  <a:schemeClr val="bg1"/>
                </a:solidFill>
                <a:latin typeface="Times New Roman" panose="02020503050405090304" charset="0"/>
                <a:ea typeface="仿宋_GB2312" panose="02010609030101010101" charset="-122"/>
                <a:cs typeface="Times New Roman" panose="02020503050405090304" charset="0"/>
                <a:sym typeface="+mn-ea"/>
              </a:rPr>
              <a:t>HPO Setup</a:t>
            </a:r>
            <a:endParaRPr lang="zh-CN" altLang="en-US" sz="4400" b="1">
              <a:solidFill>
                <a:schemeClr val="bg1"/>
              </a:solidFill>
              <a:latin typeface="Times New Roman" panose="02020503050405090304" charset="0"/>
              <a:ea typeface="仿宋_GB2312" panose="02010609030101010101" charset="-122"/>
              <a:cs typeface="Times New Roman" panose="0202050305040509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05095" y="6269990"/>
            <a:ext cx="1831975" cy="337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7030A0"/>
                </a:solidFill>
                <a:latin typeface="Silom" panose="00000400000000000000" charset="0"/>
                <a:cs typeface="Silom" panose="00000400000000000000" charset="0"/>
              </a:rPr>
              <a:t>2026. 09. 13</a:t>
            </a:r>
            <a:endParaRPr lang="en-US" altLang="zh-CN">
              <a:solidFill>
                <a:srgbClr val="7030A0"/>
              </a:solidFill>
              <a:latin typeface="Silom" panose="00000400000000000000" charset="0"/>
              <a:cs typeface="Silom" panose="00000400000000000000" charset="0"/>
            </a:endParaRPr>
          </a:p>
        </p:txBody>
      </p:sp>
      <p:pic>
        <p:nvPicPr>
          <p:cNvPr id="11" name="图片 10" descr="截屏2026-09-08 12.55.5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1137920"/>
            <a:ext cx="2479040" cy="2944495"/>
          </a:xfrm>
          <a:prstGeom prst="rect">
            <a:avLst/>
          </a:prstGeom>
        </p:spPr>
      </p:pic>
      <p:pic>
        <p:nvPicPr>
          <p:cNvPr id="25" name="图片 24" descr="截屏2026-09-08 12.53.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3350" y="46355"/>
            <a:ext cx="1836420" cy="56261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zh-CN">
                <a:solidFill>
                  <a:srgbClr val="4B0088"/>
                </a:solidFill>
                <a:latin typeface="黑体" charset="0"/>
                <a:ea typeface="黑体" charset="0"/>
              </a:rPr>
              <a:t>&gt; </a:t>
            </a:r>
            <a:r>
              <a:rPr lang="zh-CN" altLang="en-US">
                <a:solidFill>
                  <a:srgbClr val="4B0088"/>
                </a:solidFill>
                <a:latin typeface="黑体" charset="0"/>
                <a:ea typeface="黑体" charset="0"/>
              </a:rPr>
              <a:t>选题依据</a:t>
            </a:r>
            <a:endParaRPr lang="zh-CN" altLang="en-US">
              <a:solidFill>
                <a:srgbClr val="4B0088"/>
              </a:solidFill>
              <a:latin typeface="黑体" charset="0"/>
              <a:ea typeface="黑体" charset="0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选题背景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研究现状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开发想法</a:t>
            </a:r>
            <a:endParaRPr lang="zh-CN" altLang="en-US">
              <a:solidFill>
                <a:srgbClr val="7030A0"/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7" name="矩形 6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HPO Setup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1/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551180" y="830580"/>
            <a:ext cx="3600000" cy="520700"/>
            <a:chOff x="868" y="1308"/>
            <a:chExt cx="3969" cy="820"/>
          </a:xfrm>
        </p:grpSpPr>
        <p:grpSp>
          <p:nvGrpSpPr>
            <p:cNvPr id="19" name="组合 18"/>
            <p:cNvGrpSpPr/>
            <p:nvPr/>
          </p:nvGrpSpPr>
          <p:grpSpPr>
            <a:xfrm>
              <a:off x="868" y="2128"/>
              <a:ext cx="2126" cy="0"/>
              <a:chOff x="868" y="2128"/>
              <a:chExt cx="2126" cy="0"/>
            </a:xfrm>
          </p:grpSpPr>
          <p:cxnSp>
            <p:nvCxnSpPr>
              <p:cNvPr id="17" name="直接连接符 16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1263" y="2128"/>
                <a:ext cx="1731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0" name="文本框 19"/>
            <p:cNvSpPr txBox="1"/>
            <p:nvPr/>
          </p:nvSpPr>
          <p:spPr>
            <a:xfrm>
              <a:off x="869" y="1308"/>
              <a:ext cx="39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选题背景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sp>
        <p:nvSpPr>
          <p:cNvPr id="51" name="矩形 50"/>
          <p:cNvSpPr/>
          <p:nvPr>
            <p:custDataLst>
              <p:tags r:id="rId1"/>
            </p:custDataLst>
          </p:nvPr>
        </p:nvSpPr>
        <p:spPr>
          <a:xfrm>
            <a:off x="0" y="3988435"/>
            <a:ext cx="12191365" cy="108000"/>
          </a:xfrm>
          <a:prstGeom prst="rect">
            <a:avLst/>
          </a:prstGeom>
          <a:solidFill>
            <a:srgbClr val="4B0088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b" anchorCtr="0"/>
          <a:p>
            <a:pPr algn="ctr"/>
            <a:endParaRPr lang="zh-CN" altLang="en-US" sz="2800" b="1">
              <a:solidFill>
                <a:schemeClr val="bg1"/>
              </a:solidFill>
              <a:latin typeface="Source Han Sans SC Bold" panose="020B0800000000000000" charset="-122"/>
              <a:ea typeface="Source Han Sans SC Bold" panose="020B0800000000000000" charset="-122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1387475" y="360807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2017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425055" y="362077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2023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5911215" y="410045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2022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10071735" y="3608705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2024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10071735" y="410045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2024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4190365" y="360807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2021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4190365" y="4100450"/>
            <a:ext cx="9245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rgbClr val="4B0088">
                    <a:alpha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 Bold" panose="02020503050405090304" charset="0"/>
                <a:cs typeface="Times New Roman Bold" panose="02020503050405090304" charset="0"/>
              </a:rPr>
              <a:t>2021</a:t>
            </a:r>
            <a:endParaRPr lang="en-US" altLang="zh-CN" b="1">
              <a:solidFill>
                <a:srgbClr val="4B0088">
                  <a:alpha val="80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 Bold" panose="02020503050405090304" charset="0"/>
              <a:cs typeface="Times New Roman Bold" panose="02020503050405090304" charset="0"/>
            </a:endParaRPr>
          </a:p>
        </p:txBody>
      </p:sp>
      <p:pic>
        <p:nvPicPr>
          <p:cNvPr id="76" name="图片 7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660" y="1720850"/>
            <a:ext cx="2418715" cy="1359535"/>
          </a:xfrm>
          <a:prstGeom prst="rect">
            <a:avLst/>
          </a:prstGeom>
        </p:spPr>
      </p:pic>
      <p:sp>
        <p:nvSpPr>
          <p:cNvPr id="77" name="文本框 76"/>
          <p:cNvSpPr txBox="1"/>
          <p:nvPr/>
        </p:nvSpPr>
        <p:spPr>
          <a:xfrm>
            <a:off x="6627495" y="3098165"/>
            <a:ext cx="24377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CrowdStrike 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蓝屏</a:t>
            </a:r>
            <a:endParaRPr lang="zh-CN" altLang="en-US" b="1">
              <a:solidFill>
                <a:schemeClr val="tx1">
                  <a:alpha val="80000"/>
                </a:schemeClr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pic>
        <p:nvPicPr>
          <p:cNvPr id="78" name="图片 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695" y="1715770"/>
            <a:ext cx="1818005" cy="1369695"/>
          </a:xfrm>
          <a:prstGeom prst="rect">
            <a:avLst/>
          </a:prstGeom>
        </p:spPr>
      </p:pic>
      <p:sp>
        <p:nvSpPr>
          <p:cNvPr id="79" name="文本框 78"/>
          <p:cNvSpPr txBox="1"/>
          <p:nvPr/>
        </p:nvSpPr>
        <p:spPr>
          <a:xfrm>
            <a:off x="9289415" y="3100705"/>
            <a:ext cx="24377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LockBit 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勒索软件</a:t>
            </a:r>
            <a:endParaRPr lang="zh-CN" altLang="en-US" b="1">
              <a:solidFill>
                <a:schemeClr val="tx1">
                  <a:alpha val="80000"/>
                </a:schemeClr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pic>
        <p:nvPicPr>
          <p:cNvPr id="80" name="图片 7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8035" y="1713865"/>
            <a:ext cx="2602865" cy="1359535"/>
          </a:xfrm>
          <a:prstGeom prst="rect">
            <a:avLst/>
          </a:prstGeom>
        </p:spPr>
      </p:pic>
      <p:sp>
        <p:nvSpPr>
          <p:cNvPr id="81" name="文本框 80"/>
          <p:cNvSpPr txBox="1"/>
          <p:nvPr/>
        </p:nvSpPr>
        <p:spPr>
          <a:xfrm>
            <a:off x="3418840" y="3100705"/>
            <a:ext cx="24377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Log4j 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远程注入攻击</a:t>
            </a:r>
            <a:endParaRPr lang="zh-CN" altLang="en-US" b="1">
              <a:solidFill>
                <a:schemeClr val="tx1">
                  <a:alpha val="80000"/>
                </a:schemeClr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pic>
        <p:nvPicPr>
          <p:cNvPr id="82" name="图片 81" descr="Wana_Decrypt0r_screensh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115" y="1727835"/>
            <a:ext cx="1792605" cy="1353820"/>
          </a:xfrm>
          <a:prstGeom prst="rect">
            <a:avLst/>
          </a:prstGeom>
        </p:spPr>
      </p:pic>
      <p:sp>
        <p:nvSpPr>
          <p:cNvPr id="83" name="文本框 82"/>
          <p:cNvSpPr txBox="1"/>
          <p:nvPr/>
        </p:nvSpPr>
        <p:spPr>
          <a:xfrm>
            <a:off x="631190" y="3105785"/>
            <a:ext cx="24377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黑体" charset="0"/>
                <a:cs typeface="Times New Roman" panose="02020503050405090304" charset="0"/>
              </a:rPr>
              <a:t>WannaCry 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宋体" charset="0"/>
                <a:ea typeface="宋体" charset="0"/>
                <a:cs typeface="Times New Roman" panose="02020503050405090304" charset="0"/>
              </a:rPr>
              <a:t>勒索软件</a:t>
            </a:r>
            <a:endParaRPr lang="zh-CN" altLang="en-US" b="1">
              <a:solidFill>
                <a:schemeClr val="tx1">
                  <a:alpha val="80000"/>
                </a:schemeClr>
              </a:solidFill>
              <a:latin typeface="宋体" charset="0"/>
              <a:ea typeface="宋体" charset="0"/>
              <a:cs typeface="Times New Roman" panose="02020503050405090304" charset="0"/>
            </a:endParaRPr>
          </a:p>
        </p:txBody>
      </p:sp>
      <p:pic>
        <p:nvPicPr>
          <p:cNvPr id="84" name="图片 8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175" y="4355465"/>
            <a:ext cx="1104785" cy="1440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85" name="文本框 84"/>
          <p:cNvSpPr txBox="1"/>
          <p:nvPr/>
        </p:nvSpPr>
        <p:spPr>
          <a:xfrm>
            <a:off x="5513705" y="4582160"/>
            <a:ext cx="2010410" cy="9220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宋体" charset="0"/>
                <a:ea typeface="宋体" charset="0"/>
              </a:rPr>
              <a:t>《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宋体" charset="0"/>
                <a:ea typeface="宋体" charset="0"/>
              </a:rPr>
              <a:t>工业和信息化领域数据安全管理办法（试行）</a:t>
            </a:r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宋体" charset="0"/>
                <a:ea typeface="宋体" charset="0"/>
              </a:rPr>
              <a:t>》</a:t>
            </a:r>
            <a:endParaRPr lang="en-US" altLang="zh-CN" b="1">
              <a:solidFill>
                <a:schemeClr val="tx1">
                  <a:alpha val="80000"/>
                </a:schemeClr>
              </a:solidFill>
              <a:latin typeface="宋体" charset="0"/>
              <a:ea typeface="宋体" charset="0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9289415" y="4573905"/>
            <a:ext cx="2366010" cy="92202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《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工业领域数据安全能力提升实施方案（</a:t>
            </a:r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2024-2026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年）</a:t>
            </a:r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》</a:t>
            </a:r>
            <a:endParaRPr lang="en-US" altLang="zh-CN" b="1">
              <a:solidFill>
                <a:schemeClr val="tx1">
                  <a:alpha val="80000"/>
                </a:schemeClr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sp>
        <p:nvSpPr>
          <p:cNvPr id="87" name="文本框 86"/>
          <p:cNvSpPr txBox="1"/>
          <p:nvPr/>
        </p:nvSpPr>
        <p:spPr>
          <a:xfrm>
            <a:off x="3447415" y="4850130"/>
            <a:ext cx="2128520" cy="64516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</a:rPr>
              <a:t>《</a:t>
            </a:r>
            <a:r>
              <a:rPr lang="zh-CN" altLang="en-US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</a:rPr>
              <a:t>关键信息基础设施安全保护条例</a:t>
            </a:r>
            <a:r>
              <a:rPr lang="en-US" altLang="zh-CN" b="1">
                <a:solidFill>
                  <a:schemeClr val="tx1">
                    <a:alpha val="80000"/>
                  </a:schemeClr>
                </a:solidFill>
                <a:latin typeface="Times New Roman" panose="02020503050405090304" charset="0"/>
                <a:ea typeface="宋体" charset="0"/>
              </a:rPr>
              <a:t>》</a:t>
            </a:r>
            <a:endParaRPr lang="en-US" altLang="zh-CN" b="1">
              <a:solidFill>
                <a:schemeClr val="tx1">
                  <a:alpha val="80000"/>
                </a:schemeClr>
              </a:solidFill>
              <a:latin typeface="Times New Roman" panose="02020503050405090304" charset="0"/>
              <a:ea typeface="宋体" charset="0"/>
            </a:endParaRPr>
          </a:p>
        </p:txBody>
      </p:sp>
      <p:pic>
        <p:nvPicPr>
          <p:cNvPr id="88" name="图片 8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355" y="4364990"/>
            <a:ext cx="1000513" cy="1440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91" name="文本框 90"/>
          <p:cNvSpPr txBox="1"/>
          <p:nvPr/>
        </p:nvSpPr>
        <p:spPr>
          <a:xfrm>
            <a:off x="3797300" y="1136015"/>
            <a:ext cx="5152390" cy="36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针对全球关键基础设施的</a:t>
            </a:r>
            <a:r>
              <a:rPr lang="zh-CN" altLang="en-US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sym typeface="+mn-ea"/>
              </a:rPr>
              <a:t>工业网络攻击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不断增加</a:t>
            </a:r>
            <a:endParaRPr lang="zh-CN" altLang="en-US">
              <a:solidFill>
                <a:schemeClr val="tx1"/>
              </a:solidFill>
              <a:latin typeface="黑体" charset="0"/>
              <a:ea typeface="黑体" charset="0"/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3797300" y="5664200"/>
            <a:ext cx="5152390" cy="36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颁布一系列</a:t>
            </a:r>
            <a:r>
              <a:rPr lang="zh-CN" altLang="en-US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sym typeface="+mn-ea"/>
              </a:rPr>
              <a:t>条例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，彰显出对信息安全问题的重视</a:t>
            </a:r>
            <a:endParaRPr lang="zh-CN" altLang="en-US">
              <a:solidFill>
                <a:schemeClr val="tx1"/>
              </a:solidFill>
              <a:latin typeface="黑体" charset="0"/>
              <a:ea typeface="黑体" charset="0"/>
              <a:sym typeface="+mn-ea"/>
            </a:endParaRPr>
          </a:p>
        </p:txBody>
      </p:sp>
      <p:grpSp>
        <p:nvGrpSpPr>
          <p:cNvPr id="27" name="组合 26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2" name="矩形 1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r>
                <a:rPr lang="en-US" altLang="zh-CN" sz="2400" b="1" baseline="-25000">
                  <a:latin typeface="华文仿宋" panose="02010600040101010101" charset="-122"/>
                  <a:ea typeface="华文仿宋" panose="02010600040101010101" charset="-122"/>
                </a:rPr>
                <a:t>1</a:t>
              </a:r>
              <a:endParaRPr lang="en-US" altLang="zh-CN" sz="2400" b="1" baseline="-250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</a:t>
              </a:r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26" name="图片 25" descr="截屏2026-09-08 12.53.2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</p:spTree>
    <p:custDataLst>
      <p:tags r:id="rId9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551180" y="830580"/>
            <a:ext cx="8450794" cy="520700"/>
            <a:chOff x="868" y="1308"/>
            <a:chExt cx="9317" cy="820"/>
          </a:xfrm>
        </p:grpSpPr>
        <p:grpSp>
          <p:nvGrpSpPr>
            <p:cNvPr id="19" name="组合 18"/>
            <p:cNvGrpSpPr/>
            <p:nvPr/>
          </p:nvGrpSpPr>
          <p:grpSpPr>
            <a:xfrm>
              <a:off x="868" y="2128"/>
              <a:ext cx="9317" cy="0"/>
              <a:chOff x="868" y="2128"/>
              <a:chExt cx="9317" cy="0"/>
            </a:xfrm>
          </p:grpSpPr>
          <p:cxnSp>
            <p:nvCxnSpPr>
              <p:cNvPr id="17" name="直接连接符 16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1261" y="2128"/>
                <a:ext cx="8924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0" name="文本框 19"/>
            <p:cNvSpPr txBox="1"/>
            <p:nvPr/>
          </p:nvSpPr>
          <p:spPr>
            <a:xfrm>
              <a:off x="869" y="1308"/>
              <a:ext cx="39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研究现状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sp>
        <p:nvSpPr>
          <p:cNvPr id="15" name="文本框 14"/>
          <p:cNvSpPr txBox="1"/>
          <p:nvPr/>
        </p:nvSpPr>
        <p:spPr>
          <a:xfrm>
            <a:off x="2273300" y="937260"/>
            <a:ext cx="6715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sym typeface="+mn-ea"/>
              </a:rPr>
              <a:t>多变量时序异常检测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是保障工业互联网</a:t>
            </a:r>
            <a:r>
              <a:rPr lang="zh-CN" altLang="en-US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sym typeface="+mn-ea"/>
              </a:rPr>
              <a:t>安全健康发展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的重要技术</a:t>
            </a:r>
            <a:endParaRPr lang="zh-CN" altLang="en-US">
              <a:solidFill>
                <a:schemeClr val="tx1"/>
              </a:solidFill>
              <a:latin typeface="黑体" charset="0"/>
              <a:ea typeface="黑体" charset="0"/>
              <a:sym typeface="+mn-ea"/>
            </a:endParaRPr>
          </a:p>
        </p:txBody>
      </p:sp>
      <p:grpSp>
        <p:nvGrpSpPr>
          <p:cNvPr id="28" name="组合 27"/>
          <p:cNvGrpSpPr/>
          <p:nvPr/>
        </p:nvGrpSpPr>
        <p:grpSpPr>
          <a:xfrm>
            <a:off x="629920" y="1605280"/>
            <a:ext cx="2577465" cy="4223295"/>
            <a:chOff x="992" y="2528"/>
            <a:chExt cx="4059" cy="6651"/>
          </a:xfrm>
        </p:grpSpPr>
        <p:sp>
          <p:nvSpPr>
            <p:cNvPr id="102" name="矩形 101"/>
            <p:cNvSpPr/>
            <p:nvPr/>
          </p:nvSpPr>
          <p:spPr>
            <a:xfrm>
              <a:off x="993" y="2528"/>
              <a:ext cx="4058" cy="55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58" name="组合 57"/>
            <p:cNvGrpSpPr/>
            <p:nvPr/>
          </p:nvGrpSpPr>
          <p:grpSpPr>
            <a:xfrm>
              <a:off x="992" y="3388"/>
              <a:ext cx="3942" cy="1762"/>
              <a:chOff x="993" y="4537"/>
              <a:chExt cx="3942" cy="1762"/>
            </a:xfrm>
          </p:grpSpPr>
          <p:grpSp>
            <p:nvGrpSpPr>
              <p:cNvPr id="53" name="组合 52"/>
              <p:cNvGrpSpPr/>
              <p:nvPr/>
            </p:nvGrpSpPr>
            <p:grpSpPr>
              <a:xfrm>
                <a:off x="1142" y="4575"/>
                <a:ext cx="3793" cy="1724"/>
                <a:chOff x="1187" y="3949"/>
                <a:chExt cx="3793" cy="1724"/>
              </a:xfrm>
            </p:grpSpPr>
            <p:grpSp>
              <p:nvGrpSpPr>
                <p:cNvPr id="52" name="组合 51"/>
                <p:cNvGrpSpPr/>
                <p:nvPr/>
              </p:nvGrpSpPr>
              <p:grpSpPr>
                <a:xfrm>
                  <a:off x="1187" y="4713"/>
                  <a:ext cx="1632" cy="904"/>
                  <a:chOff x="1187" y="4174"/>
                  <a:chExt cx="1632" cy="904"/>
                </a:xfrm>
              </p:grpSpPr>
              <p:pic>
                <p:nvPicPr>
                  <p:cNvPr id="46" name="图片 45" descr="程序员"/>
                  <p:cNvPicPr>
                    <a:picLocks noChangeAspect="1"/>
                  </p:cNvPicPr>
                  <p:nvPr/>
                </p:nvPicPr>
                <p:blipFill>
                  <a:blip r:embed="rId1"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187" y="4174"/>
                    <a:ext cx="881" cy="881"/>
                  </a:xfrm>
                  <a:prstGeom prst="rect">
                    <a:avLst/>
                  </a:prstGeom>
                </p:spPr>
              </p:pic>
              <p:pic>
                <p:nvPicPr>
                  <p:cNvPr id="47" name="图片 46" descr="代码文件"/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263" y="4498"/>
                    <a:ext cx="557" cy="557"/>
                  </a:xfrm>
                  <a:prstGeom prst="rect">
                    <a:avLst/>
                  </a:prstGeom>
                </p:spPr>
              </p:pic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1932" y="4498"/>
                    <a:ext cx="642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b="1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rPr>
                      <a:t>:</a:t>
                    </a:r>
                    <a:endParaRPr lang="en-US" altLang="zh-CN" b="1">
                      <a:effectLst>
                        <a:outerShdw blurRad="38100" dist="38100" dir="2700000" algn="tl">
                          <a:srgbClr val="000000">
                            <a:alpha val="43137"/>
                          </a:srgbClr>
                        </a:outerShdw>
                      </a:effectLst>
                    </a:endParaRPr>
                  </a:p>
                </p:txBody>
              </p:sp>
            </p:grpSp>
            <p:pic>
              <p:nvPicPr>
                <p:cNvPr id="51" name="图片 50" descr="截屏2026-03-03 11.00.29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820" y="3949"/>
                  <a:ext cx="2160" cy="1725"/>
                </a:xfrm>
                <a:prstGeom prst="rect">
                  <a:avLst/>
                </a:prstGeom>
                <a:ln>
                  <a:solidFill>
                    <a:schemeClr val="accent1">
                      <a:lumMod val="50000"/>
                    </a:schemeClr>
                  </a:solidFill>
                </a:ln>
              </p:spPr>
            </p:pic>
          </p:grpSp>
          <p:sp>
            <p:nvSpPr>
              <p:cNvPr id="56" name="文本框 55"/>
              <p:cNvSpPr txBox="1"/>
              <p:nvPr/>
            </p:nvSpPr>
            <p:spPr>
              <a:xfrm>
                <a:off x="993" y="4537"/>
                <a:ext cx="1827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b="1" i="1">
                    <a:solidFill>
                      <a:schemeClr val="tx1"/>
                    </a:solidFill>
                    <a:effectLst/>
                    <a:latin typeface="Times New Roman Bold Italic" panose="02020503050405090304" charset="0"/>
                    <a:cs typeface="Times New Roman Bold Italic" panose="02020503050405090304" charset="0"/>
                  </a:rPr>
                  <a:t>RESIN</a:t>
                </a:r>
                <a:r>
                  <a:rPr lang="en-US" altLang="zh-CN" b="1" baseline="30000">
                    <a:solidFill>
                      <a:schemeClr val="tx1"/>
                    </a:solidFill>
                    <a:effectLst/>
                    <a:latin typeface="Times New Roman Bold" panose="02020503050405090304" charset="0"/>
                    <a:cs typeface="Times New Roman Bold" panose="02020503050405090304" charset="0"/>
                  </a:rPr>
                  <a:t>[1]</a:t>
                </a:r>
                <a:endParaRPr lang="en-US" altLang="zh-CN" b="1" i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endParaRPr>
              </a:p>
            </p:txBody>
          </p:sp>
        </p:grpSp>
        <p:sp>
          <p:nvSpPr>
            <p:cNvPr id="57" name="文本框 56"/>
            <p:cNvSpPr txBox="1"/>
            <p:nvPr/>
          </p:nvSpPr>
          <p:spPr>
            <a:xfrm>
              <a:off x="993" y="2551"/>
              <a:ext cx="4057" cy="62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基于规则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  <p:grpSp>
          <p:nvGrpSpPr>
            <p:cNvPr id="75" name="组合 74"/>
            <p:cNvGrpSpPr/>
            <p:nvPr/>
          </p:nvGrpSpPr>
          <p:grpSpPr>
            <a:xfrm>
              <a:off x="993" y="5811"/>
              <a:ext cx="3479" cy="1868"/>
              <a:chOff x="994" y="7253"/>
              <a:chExt cx="3479" cy="1868"/>
            </a:xfrm>
          </p:grpSpPr>
          <p:sp>
            <p:nvSpPr>
              <p:cNvPr id="65" name="文本框 64"/>
              <p:cNvSpPr txBox="1"/>
              <p:nvPr/>
            </p:nvSpPr>
            <p:spPr>
              <a:xfrm>
                <a:off x="994" y="7253"/>
                <a:ext cx="1827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b="1" i="1">
                    <a:solidFill>
                      <a:schemeClr val="tx1"/>
                    </a:solidFill>
                    <a:effectLst/>
                    <a:latin typeface="Times New Roman Bold Italic" panose="02020503050405090304" charset="0"/>
                    <a:cs typeface="Times New Roman Bold Italic" panose="02020503050405090304" charset="0"/>
                  </a:rPr>
                  <a:t>Argos</a:t>
                </a:r>
                <a:r>
                  <a:rPr lang="en-US" altLang="zh-CN" b="1" baseline="30000">
                    <a:solidFill>
                      <a:schemeClr val="tx1"/>
                    </a:solidFill>
                    <a:effectLst/>
                    <a:latin typeface="Times New Roman Bold" panose="02020503050405090304" charset="0"/>
                    <a:cs typeface="Times New Roman Bold" panose="02020503050405090304" charset="0"/>
                  </a:rPr>
                  <a:t>[2]</a:t>
                </a:r>
                <a:endPara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endParaRPr>
              </a:p>
            </p:txBody>
          </p:sp>
          <p:grpSp>
            <p:nvGrpSpPr>
              <p:cNvPr id="74" name="组合 73"/>
              <p:cNvGrpSpPr/>
              <p:nvPr/>
            </p:nvGrpSpPr>
            <p:grpSpPr>
              <a:xfrm>
                <a:off x="1345" y="7913"/>
                <a:ext cx="3128" cy="1208"/>
                <a:chOff x="1345" y="7593"/>
                <a:chExt cx="3128" cy="1208"/>
              </a:xfrm>
            </p:grpSpPr>
            <p:grpSp>
              <p:nvGrpSpPr>
                <p:cNvPr id="72" name="组合 71"/>
                <p:cNvGrpSpPr/>
                <p:nvPr/>
              </p:nvGrpSpPr>
              <p:grpSpPr>
                <a:xfrm>
                  <a:off x="1345" y="7593"/>
                  <a:ext cx="3128" cy="758"/>
                  <a:chOff x="1334" y="7821"/>
                  <a:chExt cx="3128" cy="758"/>
                </a:xfrm>
              </p:grpSpPr>
              <p:pic>
                <p:nvPicPr>
                  <p:cNvPr id="67" name="图片 66" descr="robot-2-line"/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96DAC541-7B7A-43D3-8B79-37D633B846F1}">
                        <asvg:svgBlip xmlns:asvg="http://schemas.microsoft.com/office/drawing/2016/SVG/main" r:embed="rId7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569" y="7821"/>
                    <a:ext cx="759" cy="759"/>
                  </a:xfrm>
                  <a:prstGeom prst="rect">
                    <a:avLst/>
                  </a:prstGeom>
                </p:spPr>
              </p:pic>
              <p:pic>
                <p:nvPicPr>
                  <p:cNvPr id="68" name="图片 67" descr="line-chart"/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34" y="7873"/>
                    <a:ext cx="657" cy="657"/>
                  </a:xfrm>
                  <a:prstGeom prst="rect">
                    <a:avLst/>
                  </a:prstGeom>
                </p:spPr>
              </p:pic>
              <p:cxnSp>
                <p:nvCxnSpPr>
                  <p:cNvPr id="69" name="直接箭头连接符 68"/>
                  <p:cNvCxnSpPr/>
                  <p:nvPr/>
                </p:nvCxnSpPr>
                <p:spPr>
                  <a:xfrm>
                    <a:off x="2081" y="8202"/>
                    <a:ext cx="374" cy="0"/>
                  </a:xfrm>
                  <a:prstGeom prst="straightConnector1">
                    <a:avLst/>
                  </a:prstGeom>
                  <a:ln w="19050">
                    <a:solidFill>
                      <a:schemeClr val="tx2">
                        <a:lumMod val="90000"/>
                        <a:lumOff val="10000"/>
                        <a:alpha val="80000"/>
                      </a:schemeClr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直接箭头连接符 69"/>
                  <p:cNvCxnSpPr/>
                  <p:nvPr/>
                </p:nvCxnSpPr>
                <p:spPr>
                  <a:xfrm>
                    <a:off x="3442" y="8202"/>
                    <a:ext cx="374" cy="0"/>
                  </a:xfrm>
                  <a:prstGeom prst="straightConnector1">
                    <a:avLst/>
                  </a:prstGeom>
                  <a:ln w="19050">
                    <a:solidFill>
                      <a:schemeClr val="tx2">
                        <a:lumMod val="90000"/>
                        <a:lumOff val="10000"/>
                        <a:alpha val="80000"/>
                      </a:schemeClr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pic>
                <p:nvPicPr>
                  <p:cNvPr id="71" name="图片 70" descr="代码文件"/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96DAC541-7B7A-43D3-8B79-37D633B846F1}">
                        <asvg:svgBlip xmlns:asvg="http://schemas.microsoft.com/office/drawing/2016/SVG/main" r:embed="rId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906" y="7924"/>
                    <a:ext cx="557" cy="557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73" name="文本框 72"/>
                <p:cNvSpPr txBox="1"/>
                <p:nvPr/>
              </p:nvSpPr>
              <p:spPr>
                <a:xfrm>
                  <a:off x="2030" y="8221"/>
                  <a:ext cx="1827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b="1">
                      <a:solidFill>
                        <a:schemeClr val="tx1"/>
                      </a:solidFill>
                      <a:effectLst/>
                      <a:latin typeface="Times New Roman Bold" panose="02020503050405090304" charset="0"/>
                      <a:cs typeface="Times New Roman Bold" panose="02020503050405090304" charset="0"/>
                    </a:rPr>
                    <a:t>Agent</a:t>
                  </a:r>
                  <a:endParaRPr lang="en-US" altLang="zh-CN" b="1">
                    <a:solidFill>
                      <a:schemeClr val="tx1"/>
                    </a:solidFill>
                    <a:effectLst/>
                    <a:latin typeface="Times New Roman Bold" panose="02020503050405090304" charset="0"/>
                    <a:cs typeface="Times New Roman Bold" panose="02020503050405090304" charset="0"/>
                  </a:endParaRPr>
                </a:p>
              </p:txBody>
            </p:sp>
          </p:grpSp>
        </p:grpSp>
        <p:sp>
          <p:nvSpPr>
            <p:cNvPr id="16" name="矩形 15"/>
            <p:cNvSpPr/>
            <p:nvPr/>
          </p:nvSpPr>
          <p:spPr>
            <a:xfrm>
              <a:off x="992" y="8045"/>
              <a:ext cx="4058" cy="113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1110" y="8298"/>
              <a:ext cx="3839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逊于深度学习</a:t>
              </a:r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方法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3498215" y="1607185"/>
            <a:ext cx="2669540" cy="4225835"/>
            <a:chOff x="5412" y="2524"/>
            <a:chExt cx="4204" cy="6655"/>
          </a:xfrm>
        </p:grpSpPr>
        <p:sp>
          <p:nvSpPr>
            <p:cNvPr id="39" name="矩形 38"/>
            <p:cNvSpPr/>
            <p:nvPr/>
          </p:nvSpPr>
          <p:spPr>
            <a:xfrm>
              <a:off x="5502" y="2524"/>
              <a:ext cx="4058" cy="55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5501" y="2559"/>
              <a:ext cx="4057" cy="62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基于大模型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  <p:pic>
          <p:nvPicPr>
            <p:cNvPr id="80" name="图片 79" descr="Alnegheimish 等 - 2024 - Large language models can be zero-shot anomaly detectors for time series_0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741" y="3750"/>
              <a:ext cx="1641" cy="2125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</p:pic>
        <p:pic>
          <p:nvPicPr>
            <p:cNvPr id="81" name="图片 80" descr="Liu 等 - 2025 - Large Language Models can Deliver Accurate and Interpretable Time Series Anomaly Detection_00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710" y="3756"/>
              <a:ext cx="1631" cy="2111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</p:pic>
        <p:sp>
          <p:nvSpPr>
            <p:cNvPr id="83" name="文本框 82"/>
            <p:cNvSpPr txBox="1"/>
            <p:nvPr/>
          </p:nvSpPr>
          <p:spPr>
            <a:xfrm>
              <a:off x="5593" y="5986"/>
              <a:ext cx="1928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zero-shot</a:t>
              </a:r>
              <a:endParaRPr lang="en-US" altLang="zh-CN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LLM</a:t>
              </a:r>
              <a:endParaRPr lang="en-US" altLang="zh-CN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7515" y="5986"/>
              <a:ext cx="1928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RAG</a:t>
              </a:r>
              <a:endParaRPr lang="en-US" altLang="zh-CN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LLM</a:t>
              </a:r>
              <a:endParaRPr lang="en-US" altLang="zh-CN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7318" y="7099"/>
              <a:ext cx="2298" cy="95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窗口有限</a:t>
              </a:r>
              <a:endParaRPr lang="zh-CN" altLang="en-US" sz="1400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  <a:p>
              <a:pPr algn="ctr"/>
              <a:r>
                <a:rPr lang="zh-CN" altLang="en-US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❌</a:t>
              </a:r>
              <a:r>
                <a:rPr lang="en-US" altLang="zh-CN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 </a:t>
              </a:r>
              <a:r>
                <a:rPr lang="zh-CN" altLang="en-US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跨窗口异常</a:t>
              </a:r>
              <a:endParaRPr lang="zh-CN" altLang="en-US" sz="1400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  <a:p>
              <a:pPr algn="ctr"/>
              <a:endParaRPr lang="zh-CN" altLang="en-US" sz="1400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87" name="文本框 86"/>
            <p:cNvSpPr txBox="1"/>
            <p:nvPr/>
          </p:nvSpPr>
          <p:spPr>
            <a:xfrm>
              <a:off x="5412" y="7103"/>
              <a:ext cx="2298" cy="95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zh-CN" altLang="en-US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检测精度逊于</a:t>
              </a:r>
              <a:endParaRPr lang="zh-CN" altLang="en-US" sz="1400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  <a:p>
              <a:pPr algn="ctr"/>
              <a:r>
                <a:rPr lang="zh-CN" altLang="en-US" sz="1400" b="1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深度学习方法</a:t>
              </a:r>
              <a:endParaRPr lang="zh-CN" altLang="en-US" sz="1400" b="1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88" name="文本框 87"/>
            <p:cNvSpPr txBox="1"/>
            <p:nvPr/>
          </p:nvSpPr>
          <p:spPr>
            <a:xfrm>
              <a:off x="7589" y="3140"/>
              <a:ext cx="18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LLMAD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[4]</a:t>
              </a:r>
              <a:endParaRPr lang="en-US" altLang="zh-CN" b="1" i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5592" y="3140"/>
              <a:ext cx="1866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SIGLLM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[3]</a:t>
              </a:r>
              <a:endParaRPr lang="en-US" altLang="zh-CN" b="1" i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5502" y="8045"/>
              <a:ext cx="4058" cy="113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5604" y="8298"/>
              <a:ext cx="3839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逊于深度学习</a:t>
              </a:r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方法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6483350" y="1607185"/>
            <a:ext cx="5080000" cy="4221480"/>
            <a:chOff x="10210" y="2531"/>
            <a:chExt cx="8000" cy="6648"/>
          </a:xfrm>
        </p:grpSpPr>
        <p:sp>
          <p:nvSpPr>
            <p:cNvPr id="45" name="矩形 44"/>
            <p:cNvSpPr/>
            <p:nvPr/>
          </p:nvSpPr>
          <p:spPr>
            <a:xfrm>
              <a:off x="10210" y="2531"/>
              <a:ext cx="7910" cy="55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1">
                      <a:lumMod val="20000"/>
                      <a:lumOff val="8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0242" y="2562"/>
              <a:ext cx="7879" cy="62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基于深度学习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  <p:cxnSp>
          <p:nvCxnSpPr>
            <p:cNvPr id="77" name="直接连接符 76"/>
            <p:cNvCxnSpPr/>
            <p:nvPr/>
          </p:nvCxnSpPr>
          <p:spPr>
            <a:xfrm flipV="1">
              <a:off x="14165" y="3186"/>
              <a:ext cx="0" cy="2180"/>
            </a:xfrm>
            <a:prstGeom prst="line">
              <a:avLst/>
            </a:prstGeom>
            <a:ln w="12700" cap="flat" cmpd="sng" algn="ctr">
              <a:solidFill>
                <a:schemeClr val="tx2">
                  <a:lumMod val="90000"/>
                  <a:lumOff val="10000"/>
                </a:schemeClr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8" name="文本框 77"/>
            <p:cNvSpPr txBox="1"/>
            <p:nvPr/>
          </p:nvSpPr>
          <p:spPr>
            <a:xfrm>
              <a:off x="10317" y="3146"/>
              <a:ext cx="3839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基于预测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228" y="3146"/>
              <a:ext cx="3839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基于重构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10614" y="4802"/>
              <a:ext cx="130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TCN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[5]</a:t>
              </a:r>
              <a:endParaRPr lang="en-US" altLang="zh-CN" b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2450" y="4802"/>
              <a:ext cx="130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GTA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[6]</a:t>
              </a:r>
              <a:endParaRPr lang="en-US" altLang="zh-CN" b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pic>
          <p:nvPicPr>
            <p:cNvPr id="100" name="图片 99" descr="截屏2026-03-03 14.32.4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447" y="3769"/>
              <a:ext cx="1641" cy="1022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</p:pic>
        <p:cxnSp>
          <p:nvCxnSpPr>
            <p:cNvPr id="101" name="直接连接符 100"/>
            <p:cNvCxnSpPr/>
            <p:nvPr/>
          </p:nvCxnSpPr>
          <p:spPr>
            <a:xfrm flipH="1">
              <a:off x="10242" y="5382"/>
              <a:ext cx="7878" cy="0"/>
            </a:xfrm>
            <a:prstGeom prst="line">
              <a:avLst/>
            </a:prstGeom>
            <a:ln w="12700" cap="flat" cmpd="sng" algn="ctr">
              <a:solidFill>
                <a:schemeClr val="tx2">
                  <a:lumMod val="90000"/>
                  <a:lumOff val="10000"/>
                </a:schemeClr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03" name="图片 102" descr="截屏2026-03-03 14.46.3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2278" y="3769"/>
              <a:ext cx="1650" cy="1017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</p:pic>
        <p:pic>
          <p:nvPicPr>
            <p:cNvPr id="105" name="图片 104" descr="截屏2026-03-03 15.00.11"/>
            <p:cNvPicPr>
              <a:picLocks noChangeAspect="1"/>
            </p:cNvPicPr>
            <p:nvPr/>
          </p:nvPicPr>
          <p:blipFill>
            <a:blip r:embed="rId14"/>
            <a:srcRect l="2511" t="4464" r="2229" b="57449"/>
            <a:stretch>
              <a:fillRect/>
            </a:stretch>
          </p:blipFill>
          <p:spPr>
            <a:xfrm>
              <a:off x="14328" y="3754"/>
              <a:ext cx="2693" cy="657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</p:pic>
        <p:pic>
          <p:nvPicPr>
            <p:cNvPr id="106" name="图片 105" descr="截屏2026-03-03 15.00.11"/>
            <p:cNvPicPr>
              <a:picLocks noChangeAspect="1"/>
            </p:cNvPicPr>
            <p:nvPr/>
          </p:nvPicPr>
          <p:blipFill>
            <a:blip r:embed="rId14"/>
            <a:srcRect l="2122" t="53391" r="2618" b="12986"/>
            <a:stretch>
              <a:fillRect/>
            </a:stretch>
          </p:blipFill>
          <p:spPr>
            <a:xfrm>
              <a:off x="14328" y="4671"/>
              <a:ext cx="2697" cy="581"/>
            </a:xfrm>
            <a:prstGeom prst="rect">
              <a:avLst/>
            </a:prstGeom>
            <a:ln>
              <a:solidFill>
                <a:schemeClr val="tx2">
                  <a:lumMod val="90000"/>
                  <a:lumOff val="10000"/>
                </a:schemeClr>
              </a:solidFill>
            </a:ln>
          </p:spPr>
        </p:pic>
        <p:sp>
          <p:nvSpPr>
            <p:cNvPr id="107" name="文本框 106"/>
            <p:cNvSpPr txBox="1"/>
            <p:nvPr/>
          </p:nvSpPr>
          <p:spPr>
            <a:xfrm>
              <a:off x="17022" y="3804"/>
              <a:ext cx="1004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AE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[7]</a:t>
              </a:r>
              <a:endParaRPr lang="en-US" altLang="zh-CN" b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108" name="文本框 107"/>
            <p:cNvSpPr txBox="1"/>
            <p:nvPr/>
          </p:nvSpPr>
          <p:spPr>
            <a:xfrm>
              <a:off x="16903" y="4682"/>
              <a:ext cx="130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b="1" i="1">
                  <a:solidFill>
                    <a:schemeClr val="tx1"/>
                  </a:solidFill>
                  <a:effectLst/>
                  <a:latin typeface="Times New Roman Bold Italic" panose="02020503050405090304" charset="0"/>
                  <a:cs typeface="Times New Roman Bold Italic" panose="02020503050405090304" charset="0"/>
                </a:rPr>
                <a:t>VAE</a:t>
              </a:r>
              <a:r>
                <a:rPr lang="en-US" altLang="zh-CN" b="1" baseline="30000">
                  <a:solidFill>
                    <a:schemeClr val="tx1"/>
                  </a:solidFill>
                  <a:effectLst/>
                  <a:latin typeface="Times New Roman Bold" panose="02020503050405090304" charset="0"/>
                  <a:cs typeface="Times New Roman Bold" panose="02020503050405090304" charset="0"/>
                </a:rPr>
                <a:t>[7]</a:t>
              </a:r>
              <a:endParaRPr lang="en-US" altLang="zh-CN" b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10317" y="5507"/>
              <a:ext cx="7708" cy="2394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问题</a:t>
              </a:r>
              <a:r>
                <a:rPr lang="en-US" altLang="zh-CN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: </a:t>
              </a:r>
              <a:r>
                <a:rPr lang="zh-CN" altLang="en-US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异常漏报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(</a:t>
              </a:r>
              <a:r>
                <a:rPr lang="zh-CN" altLang="en-US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召回低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)</a:t>
              </a:r>
              <a:r>
                <a:rPr lang="en-US" altLang="zh-CN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虚假告警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(</a:t>
              </a:r>
              <a:r>
                <a:rPr lang="zh-CN" altLang="en-US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精准度低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)</a:t>
              </a:r>
              <a:endParaRPr lang="zh-CN" altLang="en-US">
                <a:solidFill>
                  <a:schemeClr val="tx1"/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  <a:p>
              <a:pPr algn="ctr"/>
              <a:endParaRPr lang="zh-CN" altLang="en-US" sz="800">
                <a:solidFill>
                  <a:schemeClr val="tx1"/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  <a:p>
              <a:pPr algn="ctr"/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原因之一</a:t>
              </a:r>
              <a:r>
                <a:rPr lang="en-US" altLang="zh-CN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: </a:t>
              </a:r>
              <a:r>
                <a:rPr lang="zh-CN" altLang="en-US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算法对</a:t>
              </a:r>
              <a:r>
                <a:rPr lang="zh-CN" altLang="en-US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传感器变量一视同仁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(</a:t>
              </a:r>
              <a:r>
                <a:rPr lang="zh-CN" altLang="en-US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方案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, </a:t>
              </a:r>
              <a:r>
                <a:rPr lang="zh-CN" altLang="en-US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标准</a:t>
              </a:r>
              <a:r>
                <a:rPr lang="en-US" altLang="zh-CN" sz="12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)</a:t>
              </a:r>
              <a:endParaRPr lang="zh-CN" altLang="en-US" sz="1400">
                <a:solidFill>
                  <a:schemeClr val="tx1"/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  <a:p>
              <a:pPr algn="ctr"/>
              <a:r>
                <a:rPr lang="en-US" altLang="zh-CN" sz="1400">
                  <a:solidFill>
                    <a:schemeClr val="tx1"/>
                  </a:solidFill>
                  <a:effectLst/>
                  <a:latin typeface="Times New Roman" panose="02020503050405090304" charset="0"/>
                  <a:ea typeface="黑体" charset="0"/>
                  <a:cs typeface="Times New Roman" panose="02020503050405090304" charset="0"/>
                </a:rPr>
                <a:t>e.g.</a:t>
              </a:r>
              <a:r>
                <a:rPr lang="en-US" altLang="zh-CN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 </a:t>
              </a:r>
              <a:r>
                <a:rPr lang="zh-CN" altLang="en-US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同一波动</a:t>
              </a:r>
              <a:r>
                <a:rPr lang="en-US" altLang="zh-CN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，</a:t>
              </a:r>
              <a:r>
                <a:rPr lang="zh-CN" altLang="en-US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关键传感器</a:t>
              </a:r>
              <a:r>
                <a:rPr lang="en-US" altLang="zh-CN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 -&gt; </a:t>
              </a:r>
              <a:r>
                <a:rPr lang="zh-CN" altLang="en-US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异常；环境传感器</a:t>
              </a:r>
              <a:r>
                <a:rPr lang="en-US" altLang="zh-CN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 -&gt; </a:t>
              </a:r>
              <a:r>
                <a:rPr lang="zh-CN" altLang="en-US" sz="1400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正常</a:t>
              </a:r>
              <a:endParaRPr lang="zh-CN" altLang="en-US">
                <a:solidFill>
                  <a:schemeClr val="tx1"/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  <a:p>
              <a:pPr algn="ctr"/>
              <a:endParaRPr lang="zh-CN" altLang="en-US" sz="800">
                <a:solidFill>
                  <a:schemeClr val="accent6">
                    <a:lumMod val="50000"/>
                  </a:schemeClr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  <a:p>
              <a:pPr algn="ctr"/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解决方案</a:t>
              </a:r>
              <a:r>
                <a:rPr lang="en-US" altLang="zh-CN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: </a:t>
              </a:r>
              <a:r>
                <a:rPr lang="zh-CN" altLang="en-US">
                  <a:solidFill>
                    <a:schemeClr val="tx1"/>
                  </a:solidFill>
                  <a:effectLst/>
                  <a:latin typeface="黑体" charset="0"/>
                  <a:ea typeface="黑体" charset="0"/>
                  <a:cs typeface="黑体" charset="0"/>
                </a:rPr>
                <a:t>通过某种方式赋予个性化检测方案</a:t>
              </a:r>
              <a:endParaRPr lang="zh-CN" altLang="en-US" sz="1400">
                <a:solidFill>
                  <a:schemeClr val="tx1"/>
                </a:solidFill>
                <a:effectLst/>
                <a:latin typeface="黑体" charset="0"/>
                <a:ea typeface="黑体" charset="0"/>
                <a:cs typeface="黑体" charset="0"/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10210" y="8045"/>
              <a:ext cx="7910" cy="1134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318" y="8298"/>
              <a:ext cx="7708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缺乏个性化检测</a:t>
              </a:r>
              <a:r>
                <a:rPr lang="zh-CN" altLang="en-US" sz="2000" b="1">
                  <a:solidFill>
                    <a:schemeClr val="tx1">
                      <a:alpha val="80000"/>
                    </a:schemeClr>
                  </a:solidFill>
                  <a:effectLst/>
                  <a:latin typeface="宋体" charset="0"/>
                  <a:ea typeface="宋体" charset="0"/>
                  <a:cs typeface="Times New Roman Bold" panose="02020503050405090304" charset="0"/>
                </a:rPr>
                <a:t>方案</a:t>
              </a:r>
              <a:endParaRPr lang="zh-CN" altLang="en-US" sz="2000" b="1">
                <a:solidFill>
                  <a:schemeClr val="tx1">
                    <a:alpha val="80000"/>
                  </a:schemeClr>
                </a:solidFill>
                <a:effectLst/>
                <a:latin typeface="宋体" charset="0"/>
                <a:ea typeface="宋体" charset="0"/>
                <a:cs typeface="Times New Roman Bold" panose="02020503050405090304" charset="0"/>
              </a:endParaRP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31" name="矩形 30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2/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37" name="矩形 36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r>
                <a:rPr lang="en-US" altLang="zh-CN" sz="2400" b="1" baseline="-25000">
                  <a:latin typeface="华文仿宋" panose="02010600040101010101" charset="-122"/>
                  <a:ea typeface="华文仿宋" panose="02010600040101010101" charset="-122"/>
                </a:rPr>
                <a:t>2</a:t>
              </a:r>
              <a:endParaRPr lang="en-US" altLang="zh-CN" sz="2400" b="1" baseline="-250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</a:t>
              </a:r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42" name="图片 41" descr="截屏2026-09-08 12.53.23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</p:spTree>
    <p:custDataLst>
      <p:tags r:id="rId16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551180" y="830580"/>
            <a:ext cx="9360544" cy="520700"/>
            <a:chOff x="868" y="1308"/>
            <a:chExt cx="10320" cy="820"/>
          </a:xfrm>
        </p:grpSpPr>
        <p:grpSp>
          <p:nvGrpSpPr>
            <p:cNvPr id="19" name="组合 18"/>
            <p:cNvGrpSpPr/>
            <p:nvPr/>
          </p:nvGrpSpPr>
          <p:grpSpPr>
            <a:xfrm>
              <a:off x="868" y="2128"/>
              <a:ext cx="10320" cy="0"/>
              <a:chOff x="868" y="2128"/>
              <a:chExt cx="10320" cy="0"/>
            </a:xfrm>
          </p:grpSpPr>
          <p:cxnSp>
            <p:nvCxnSpPr>
              <p:cNvPr id="17" name="直接连接符 16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>
                <a:off x="1265" y="2128"/>
                <a:ext cx="9923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0" name="文本框 19"/>
            <p:cNvSpPr txBox="1"/>
            <p:nvPr/>
          </p:nvSpPr>
          <p:spPr>
            <a:xfrm>
              <a:off x="869" y="1308"/>
              <a:ext cx="39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开发动机与想法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sp>
        <p:nvSpPr>
          <p:cNvPr id="22" name="文本框 21"/>
          <p:cNvSpPr txBox="1"/>
          <p:nvPr/>
        </p:nvSpPr>
        <p:spPr>
          <a:xfrm>
            <a:off x="551815" y="1560195"/>
            <a:ext cx="6108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>
                <a:solidFill>
                  <a:schemeClr val="tx1"/>
                </a:solidFill>
                <a:latin typeface="宋体" charset="0"/>
                <a:ea typeface="宋体" charset="0"/>
              </a:rPr>
              <a:t>经过前期调研</a:t>
            </a:r>
            <a:r>
              <a:rPr lang="en-US" altLang="zh-CN">
                <a:solidFill>
                  <a:schemeClr val="tx1"/>
                </a:solidFill>
                <a:latin typeface="宋体" charset="0"/>
                <a:ea typeface="宋体" charset="0"/>
              </a:rPr>
              <a:t>，</a:t>
            </a:r>
            <a:r>
              <a:rPr lang="zh-CN" altLang="en-US" b="1">
                <a:solidFill>
                  <a:schemeClr val="accent6">
                    <a:lumMod val="50000"/>
                  </a:schemeClr>
                </a:solidFill>
                <a:latin typeface="宋体" charset="0"/>
                <a:ea typeface="宋体" charset="0"/>
              </a:rPr>
              <a:t>根因分析得分</a:t>
            </a:r>
            <a:r>
              <a:rPr lang="zh-CN" altLang="en-US">
                <a:solidFill>
                  <a:schemeClr val="tx1"/>
                </a:solidFill>
                <a:latin typeface="宋体" charset="0"/>
                <a:ea typeface="宋体" charset="0"/>
              </a:rPr>
              <a:t>可能作为个性化建模的依据</a:t>
            </a:r>
            <a:endParaRPr lang="zh-CN" altLang="en-US">
              <a:solidFill>
                <a:schemeClr val="tx1"/>
              </a:solidFill>
              <a:latin typeface="宋体" charset="0"/>
              <a:ea typeface="宋体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235960" y="937260"/>
            <a:ext cx="6715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通过</a:t>
            </a:r>
            <a:r>
              <a:rPr lang="zh-CN" altLang="en-US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sym typeface="+mn-ea"/>
              </a:rPr>
              <a:t>某种方式</a:t>
            </a:r>
            <a:r>
              <a:rPr lang="en-US" altLang="zh-CN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，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赋予基于深度学习的算法更强的个性化检测能力</a:t>
            </a:r>
            <a:endParaRPr lang="zh-CN" altLang="en-US">
              <a:solidFill>
                <a:schemeClr val="tx1"/>
              </a:solidFill>
              <a:latin typeface="黑体" charset="0"/>
              <a:ea typeface="黑体" charset="0"/>
              <a:sym typeface="+mn-ea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486025" y="5577205"/>
            <a:ext cx="2315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b="1" i="1">
                <a:solidFill>
                  <a:schemeClr val="tx1"/>
                </a:solidFill>
                <a:effectLst/>
                <a:latin typeface="Times New Roman Bold Italic" panose="02020503050405090304" charset="0"/>
                <a:cs typeface="Times New Roman Bold Italic" panose="02020503050405090304" charset="0"/>
              </a:rPr>
              <a:t>AERCA</a:t>
            </a:r>
            <a:r>
              <a:rPr lang="en-US" altLang="zh-CN" b="1" baseline="30000">
                <a:solidFill>
                  <a:schemeClr val="tx1"/>
                </a:solidFill>
                <a:effectLst/>
                <a:latin typeface="Times New Roman Bold" panose="02020503050405090304" charset="0"/>
                <a:cs typeface="Times New Roman Bold" panose="02020503050405090304" charset="0"/>
              </a:rPr>
              <a:t>[8]</a:t>
            </a:r>
            <a:endParaRPr lang="zh-CN" altLang="en-US">
              <a:solidFill>
                <a:schemeClr val="tx1"/>
              </a:solidFill>
              <a:effectLst/>
              <a:latin typeface="宋体" charset="0"/>
              <a:ea typeface="宋体" charset="0"/>
              <a:cs typeface="Times New Roman Bold" panose="02020503050405090304" charset="0"/>
            </a:endParaRPr>
          </a:p>
        </p:txBody>
      </p:sp>
      <p:pic>
        <p:nvPicPr>
          <p:cNvPr id="44" name="图片 43" descr="第4页-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815" y="2065020"/>
            <a:ext cx="6108065" cy="3375660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</p:pic>
      <p:grpSp>
        <p:nvGrpSpPr>
          <p:cNvPr id="50" name="组合 49"/>
          <p:cNvGrpSpPr/>
          <p:nvPr/>
        </p:nvGrpSpPr>
        <p:grpSpPr>
          <a:xfrm>
            <a:off x="7077710" y="1798320"/>
            <a:ext cx="4485005" cy="4017645"/>
            <a:chOff x="11147" y="3257"/>
            <a:chExt cx="7063" cy="6327"/>
          </a:xfrm>
        </p:grpSpPr>
        <p:sp>
          <p:nvSpPr>
            <p:cNvPr id="45" name="文本框 44"/>
            <p:cNvSpPr txBox="1"/>
            <p:nvPr/>
          </p:nvSpPr>
          <p:spPr>
            <a:xfrm>
              <a:off x="11147" y="3257"/>
              <a:ext cx="7062" cy="5312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indent="0" algn="l"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根本原因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</a:rPr>
                <a:t>（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根因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</a:rPr>
                <a:t>）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因果链条上</a:t>
              </a:r>
              <a:r>
                <a:rPr lang="zh-CN" altLang="en-US" u="sng">
                  <a:solidFill>
                    <a:schemeClr val="tx1"/>
                  </a:solidFill>
                  <a:latin typeface="宋体" charset="0"/>
                  <a:ea typeface="宋体" charset="0"/>
                </a:rPr>
                <a:t>最先出现异常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、</a:t>
              </a:r>
              <a:r>
                <a:rPr lang="zh-CN" altLang="en-US" u="sng">
                  <a:solidFill>
                    <a:schemeClr val="tx1"/>
                  </a:solidFill>
                  <a:latin typeface="宋体" charset="0"/>
                  <a:ea typeface="宋体" charset="0"/>
                </a:rPr>
                <a:t>最直接触发异常传播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的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传感器变量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indent="0" algn="l">
                <a:buFont typeface="Arial" panose="020B0604020202090204" pitchFamily="34" charset="0"/>
                <a:buNone/>
              </a:pP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indent="0" algn="l">
                <a:buFont typeface="Arial" panose="020B0604020202090204" pitchFamily="34" charset="0"/>
                <a:buNone/>
              </a:pP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indent="0" algn="l"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根因分析得分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 -&gt; 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个性化建模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 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?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indent="0" algn="l">
                <a:buFont typeface="Arial" panose="020B0604020202090204" pitchFamily="34" charset="0"/>
                <a:buNone/>
              </a:pPr>
              <a:endParaRPr lang="zh-CN" altLang="en-US" sz="500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285750" indent="-285750" algn="l">
                <a:buFont typeface="Arial" panose="020B0604020202090204" pitchFamily="34" charset="0"/>
                <a:buChar char="•"/>
              </a:pP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</a:rPr>
                <a:t>【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直觉上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</a:rPr>
                <a:t>】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异常的触发源或关键传播节点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应获得异常检测模型更高的注意力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285750" indent="-285750" algn="l">
                <a:buFont typeface="Arial" panose="020B0604020202090204" pitchFamily="34" charset="0"/>
                <a:buChar char="•"/>
              </a:pPr>
              <a:endParaRPr lang="en-US" altLang="zh-CN" sz="500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285750" indent="-285750" algn="l">
                <a:buFont typeface="Arial" panose="020B0604020202090204" pitchFamily="34" charset="0"/>
                <a:buChar char="•"/>
              </a:pP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【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初步实验验证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】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在联想开源的基准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TrioXpert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上测试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，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使用根因分析信息后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，F</a:t>
              </a:r>
              <a:r>
                <a:rPr lang="en-US" altLang="zh-CN" baseline="-25000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1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由基线的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0.79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提高至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0.83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1148" y="8568"/>
              <a:ext cx="7063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just"/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sym typeface="+mn-ea"/>
                </a:rPr>
                <a:t>提出想法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sym typeface="+mn-ea"/>
                </a:rPr>
                <a:t>：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endParaRPr>
            </a:p>
            <a:p>
              <a:pPr algn="just"/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sym typeface="+mn-ea"/>
                </a:rPr>
                <a:t>通过</a:t>
              </a:r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latin typeface="黑体" charset="0"/>
                  <a:ea typeface="黑体" charset="0"/>
                  <a:sym typeface="+mn-ea"/>
                </a:rPr>
                <a:t>根因分析得分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sym typeface="+mn-ea"/>
                </a:rPr>
                <a:t>，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sym typeface="+mn-ea"/>
                </a:rPr>
                <a:t>赋予个性化检测能力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31" name="矩形 30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3/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  <p:grpSp>
        <p:nvGrpSpPr>
          <p:cNvPr id="36" name="组合 35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37" name="矩形 36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r>
                <a:rPr lang="en-US" altLang="zh-CN" sz="2400" b="1" baseline="-25000">
                  <a:latin typeface="华文仿宋" panose="02010600040101010101" charset="-122"/>
                  <a:ea typeface="华文仿宋" panose="02010600040101010101" charset="-122"/>
                </a:rPr>
                <a:t>3</a:t>
              </a:r>
              <a:endParaRPr lang="en-US" altLang="zh-CN" sz="2400" b="1" baseline="-250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</a:t>
              </a:r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42" name="图片 41" descr="截屏2026-09-08 12.53.2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zh-CN">
                <a:solidFill>
                  <a:srgbClr val="4B0088"/>
                </a:solidFill>
                <a:latin typeface="黑体" charset="0"/>
                <a:ea typeface="黑体" charset="0"/>
              </a:rPr>
              <a:t>&gt; </a:t>
            </a:r>
            <a:r>
              <a:rPr lang="zh-CN" altLang="en-US">
                <a:solidFill>
                  <a:srgbClr val="4B0088"/>
                </a:solidFill>
                <a:latin typeface="黑体" charset="0"/>
                <a:ea typeface="黑体" charset="0"/>
              </a:rPr>
              <a:t>开发方案</a:t>
            </a:r>
            <a:endParaRPr lang="zh-CN" altLang="en-US">
              <a:solidFill>
                <a:srgbClr val="4B0088"/>
              </a:solidFill>
              <a:latin typeface="黑体" charset="0"/>
              <a:ea typeface="黑体" charset="0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拟解决的问题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开发方案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技术栈与技术路线</a:t>
            </a:r>
            <a:endParaRPr lang="zh-CN" altLang="en-US">
              <a:solidFill>
                <a:srgbClr val="7030A0"/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4041723" cy="520700"/>
            <a:chOff x="868" y="1308"/>
            <a:chExt cx="4456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4363" cy="0"/>
              <a:chOff x="868" y="2128"/>
              <a:chExt cx="4363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62" y="2128"/>
                <a:ext cx="3969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4455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拟解决的问题与开发方案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551815" y="1524000"/>
            <a:ext cx="6715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异常漏报</a:t>
            </a:r>
            <a:r>
              <a:rPr lang="en-US" altLang="zh-CN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、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虚假告警</a:t>
            </a:r>
            <a:r>
              <a:rPr lang="en-US" altLang="zh-CN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 -&gt; 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个性化检测</a:t>
            </a:r>
            <a:r>
              <a:rPr lang="en-US" altLang="zh-CN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 -&gt; 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基于根因分析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的增强</a:t>
            </a:r>
            <a:r>
              <a:rPr lang="zh-CN" altLang="en-US">
                <a:solidFill>
                  <a:schemeClr val="tx1"/>
                </a:solidFill>
                <a:latin typeface="黑体" charset="0"/>
                <a:ea typeface="黑体" charset="0"/>
                <a:sym typeface="+mn-ea"/>
              </a:rPr>
              <a:t>器</a:t>
            </a:r>
            <a:endParaRPr lang="zh-CN" altLang="en-US">
              <a:solidFill>
                <a:schemeClr val="tx1"/>
              </a:solidFill>
              <a:latin typeface="黑体" charset="0"/>
              <a:ea typeface="黑体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551815" y="1952625"/>
            <a:ext cx="4484370" cy="828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buFont typeface="Arial" panose="020B0604020202090204" pitchFamily="34" charset="0"/>
              <a:buNone/>
            </a:pP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1. </a:t>
            </a:r>
            <a:r>
              <a:rPr lang="zh-CN" altLang="en-US">
                <a:solidFill>
                  <a:schemeClr val="tx1"/>
                </a:solidFill>
                <a:latin typeface="宋体" charset="0"/>
                <a:ea typeface="宋体" charset="0"/>
              </a:rPr>
              <a:t>如何得到</a:t>
            </a:r>
            <a:r>
              <a:rPr lang="zh-CN" altLang="en-US">
                <a:solidFill>
                  <a:schemeClr val="tx1"/>
                </a:solidFill>
                <a:latin typeface="宋体" charset="0"/>
                <a:ea typeface="宋体" charset="0"/>
              </a:rPr>
              <a:t>高质量根因分析得分</a:t>
            </a:r>
            <a:r>
              <a:rPr lang="en-US" altLang="zh-CN">
                <a:solidFill>
                  <a:schemeClr val="tx1"/>
                </a:solidFill>
                <a:latin typeface="宋体" charset="0"/>
                <a:ea typeface="宋体" charset="0"/>
              </a:rPr>
              <a:t>？</a:t>
            </a:r>
            <a:endParaRPr lang="zh-CN" altLang="en-US">
              <a:solidFill>
                <a:schemeClr val="tx1"/>
              </a:solidFill>
              <a:latin typeface="宋体" charset="0"/>
              <a:ea typeface="宋体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endParaRPr lang="en-US" altLang="zh-CN" sz="500">
              <a:solidFill>
                <a:schemeClr val="tx1"/>
              </a:solidFill>
              <a:latin typeface="宋体" charset="0"/>
              <a:ea typeface="宋体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2. 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根因分析得分如何增强异常检测模型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？</a:t>
            </a:r>
            <a:endParaRPr lang="en-US" altLang="zh-CN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grpSp>
        <p:nvGrpSpPr>
          <p:cNvPr id="94" name="组合 93"/>
          <p:cNvGrpSpPr/>
          <p:nvPr/>
        </p:nvGrpSpPr>
        <p:grpSpPr>
          <a:xfrm>
            <a:off x="483870" y="2853055"/>
            <a:ext cx="7693025" cy="2171065"/>
            <a:chOff x="2547" y="2576"/>
            <a:chExt cx="12115" cy="3419"/>
          </a:xfrm>
        </p:grpSpPr>
        <p:sp>
          <p:nvSpPr>
            <p:cNvPr id="27" name="矩形 26"/>
            <p:cNvSpPr/>
            <p:nvPr/>
          </p:nvSpPr>
          <p:spPr>
            <a:xfrm>
              <a:off x="2761" y="2576"/>
              <a:ext cx="4790" cy="3367"/>
            </a:xfrm>
            <a:prstGeom prst="rect">
              <a:avLst/>
            </a:prstGeom>
            <a:solidFill>
              <a:srgbClr val="E3F2FD"/>
            </a:solidFill>
            <a:ln w="12700" cap="flat" cmpd="sng" algn="ctr">
              <a:solidFill>
                <a:schemeClr val="tx1"/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矩形 27"/>
            <p:cNvSpPr/>
            <p:nvPr/>
          </p:nvSpPr>
          <p:spPr>
            <a:xfrm>
              <a:off x="7551" y="2576"/>
              <a:ext cx="5419" cy="3367"/>
            </a:xfrm>
            <a:prstGeom prst="rect">
              <a:avLst/>
            </a:prstGeom>
            <a:solidFill>
              <a:srgbClr val="F3E5F5"/>
            </a:solidFill>
            <a:ln w="12700" cap="flat" cmpd="sng" algn="ctr">
              <a:solidFill>
                <a:schemeClr val="tx1"/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矩形 28"/>
            <p:cNvSpPr/>
            <p:nvPr/>
          </p:nvSpPr>
          <p:spPr>
            <a:xfrm>
              <a:off x="12970" y="2576"/>
              <a:ext cx="1599" cy="3367"/>
            </a:xfrm>
            <a:prstGeom prst="rect">
              <a:avLst/>
            </a:prstGeom>
            <a:solidFill>
              <a:srgbClr val="E8F5E9"/>
            </a:solidFill>
            <a:ln w="12700" cap="flat" cmpd="sng" algn="ctr">
              <a:solidFill>
                <a:schemeClr val="tx1"/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2761" y="2594"/>
              <a:ext cx="4790" cy="434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i="1">
                  <a:latin typeface="宋体" charset="0"/>
                  <a:ea typeface="宋体" charset="0"/>
                </a:rPr>
                <a:t>根因分析模型</a:t>
              </a:r>
              <a:endParaRPr lang="zh-CN" altLang="en-US" sz="1200" b="1" i="1">
                <a:latin typeface="宋体" charset="0"/>
                <a:ea typeface="宋体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7551" y="2594"/>
              <a:ext cx="5419" cy="434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i="1">
                  <a:latin typeface="宋体" charset="0"/>
                  <a:ea typeface="宋体" charset="0"/>
                </a:rPr>
                <a:t>根因分析增强异常检测</a:t>
              </a:r>
              <a:endParaRPr lang="zh-CN" altLang="en-US" sz="1200" b="1" i="1">
                <a:latin typeface="宋体" charset="0"/>
                <a:ea typeface="宋体" charset="0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2970" y="2594"/>
              <a:ext cx="1599" cy="434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200" b="1" i="1">
                  <a:latin typeface="宋体" charset="0"/>
                  <a:ea typeface="宋体" charset="0"/>
                </a:rPr>
                <a:t>模型评估</a:t>
              </a:r>
              <a:endParaRPr lang="zh-CN" altLang="en-US" sz="1200" b="1" i="1">
                <a:latin typeface="宋体" charset="0"/>
                <a:ea typeface="宋体" charset="0"/>
              </a:endParaRPr>
            </a:p>
          </p:txBody>
        </p:sp>
        <p:grpSp>
          <p:nvGrpSpPr>
            <p:cNvPr id="33" name="组合 32"/>
            <p:cNvGrpSpPr/>
            <p:nvPr/>
          </p:nvGrpSpPr>
          <p:grpSpPr>
            <a:xfrm rot="0">
              <a:off x="4078" y="4460"/>
              <a:ext cx="1897" cy="1311"/>
              <a:chOff x="4268" y="3811"/>
              <a:chExt cx="1897" cy="1311"/>
            </a:xfrm>
          </p:grpSpPr>
          <p:pic>
            <p:nvPicPr>
              <p:cNvPr id="34" name="图片 33" descr="神经网络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82" y="3811"/>
                <a:ext cx="925" cy="925"/>
              </a:xfrm>
              <a:prstGeom prst="rect">
                <a:avLst/>
              </a:prstGeom>
            </p:spPr>
          </p:pic>
          <p:sp>
            <p:nvSpPr>
              <p:cNvPr id="35" name="文本框 34"/>
              <p:cNvSpPr txBox="1"/>
              <p:nvPr/>
            </p:nvSpPr>
            <p:spPr>
              <a:xfrm>
                <a:off x="4268" y="4736"/>
                <a:ext cx="1897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根因分析模型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36" name="组合 35"/>
            <p:cNvGrpSpPr/>
            <p:nvPr/>
          </p:nvGrpSpPr>
          <p:grpSpPr>
            <a:xfrm rot="0">
              <a:off x="2547" y="3522"/>
              <a:ext cx="1531" cy="2200"/>
              <a:chOff x="2224" y="3311"/>
              <a:chExt cx="1531" cy="2200"/>
            </a:xfrm>
          </p:grpSpPr>
          <p:pic>
            <p:nvPicPr>
              <p:cNvPr id="37" name="图片 36" descr="4.7&amp;4.8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15" y="3311"/>
                <a:ext cx="925" cy="925"/>
              </a:xfrm>
              <a:prstGeom prst="rect">
                <a:avLst/>
              </a:prstGeom>
            </p:spPr>
          </p:pic>
          <p:pic>
            <p:nvPicPr>
              <p:cNvPr id="38" name="图片 37" descr="网络拓扑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565" y="4078"/>
                <a:ext cx="793" cy="793"/>
              </a:xfrm>
              <a:prstGeom prst="rect">
                <a:avLst/>
              </a:prstGeom>
            </p:spPr>
          </p:pic>
          <p:sp>
            <p:nvSpPr>
              <p:cNvPr id="39" name="文本框 38"/>
              <p:cNvSpPr txBox="1"/>
              <p:nvPr/>
            </p:nvSpPr>
            <p:spPr>
              <a:xfrm>
                <a:off x="2224" y="4883"/>
                <a:ext cx="1531" cy="628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根因分析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数据集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5781" y="4451"/>
              <a:ext cx="1897" cy="1311"/>
              <a:chOff x="4268" y="3811"/>
              <a:chExt cx="1897" cy="1311"/>
            </a:xfrm>
          </p:grpSpPr>
          <p:pic>
            <p:nvPicPr>
              <p:cNvPr id="41" name="图片 40" descr="神经网络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4754" y="3811"/>
                <a:ext cx="925" cy="925"/>
              </a:xfrm>
              <a:prstGeom prst="rect">
                <a:avLst/>
              </a:prstGeom>
            </p:spPr>
          </p:pic>
          <p:sp>
            <p:nvSpPr>
              <p:cNvPr id="42" name="文本框 41"/>
              <p:cNvSpPr txBox="1"/>
              <p:nvPr/>
            </p:nvSpPr>
            <p:spPr>
              <a:xfrm>
                <a:off x="4268" y="4736"/>
                <a:ext cx="1897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微调模型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 rot="0">
              <a:off x="3397" y="4516"/>
              <a:ext cx="1531" cy="614"/>
              <a:chOff x="2991" y="4265"/>
              <a:chExt cx="1531" cy="614"/>
            </a:xfrm>
          </p:grpSpPr>
          <p:sp>
            <p:nvSpPr>
              <p:cNvPr id="44" name="燕尾形箭头 43"/>
              <p:cNvSpPr/>
              <p:nvPr/>
            </p:nvSpPr>
            <p:spPr>
              <a:xfrm>
                <a:off x="3503" y="4659"/>
                <a:ext cx="590" cy="220"/>
              </a:xfrm>
              <a:prstGeom prst="notchedRight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2991" y="4265"/>
                <a:ext cx="1531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 b="1">
                    <a:latin typeface="宋体" charset="0"/>
                    <a:ea typeface="宋体" charset="0"/>
                  </a:rPr>
                  <a:t>多任务</a:t>
                </a:r>
                <a:r>
                  <a:rPr lang="zh-CN" altLang="en-US" sz="1000" b="1">
                    <a:latin typeface="宋体" charset="0"/>
                    <a:ea typeface="宋体" charset="0"/>
                  </a:rPr>
                  <a:t>学习</a:t>
                </a:r>
                <a:endParaRPr lang="zh-CN" altLang="en-US" sz="1000" b="1"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47" name="组合 46"/>
            <p:cNvGrpSpPr/>
            <p:nvPr/>
          </p:nvGrpSpPr>
          <p:grpSpPr>
            <a:xfrm rot="0">
              <a:off x="5111" y="4516"/>
              <a:ext cx="1531" cy="614"/>
              <a:chOff x="3033" y="4265"/>
              <a:chExt cx="1531" cy="614"/>
            </a:xfrm>
          </p:grpSpPr>
          <p:sp>
            <p:nvSpPr>
              <p:cNvPr id="48" name="燕尾形箭头 47"/>
              <p:cNvSpPr/>
              <p:nvPr/>
            </p:nvSpPr>
            <p:spPr>
              <a:xfrm>
                <a:off x="3503" y="4659"/>
                <a:ext cx="590" cy="220"/>
              </a:xfrm>
              <a:prstGeom prst="notchedRight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3033" y="4265"/>
                <a:ext cx="1531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 b="1">
                    <a:latin typeface="宋体" charset="0"/>
                    <a:ea typeface="宋体" charset="0"/>
                  </a:rPr>
                  <a:t>迁移学习</a:t>
                </a:r>
                <a:endParaRPr lang="zh-CN" altLang="en-US" sz="1000" b="1"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50" name="组合 49"/>
            <p:cNvGrpSpPr/>
            <p:nvPr/>
          </p:nvGrpSpPr>
          <p:grpSpPr>
            <a:xfrm rot="0">
              <a:off x="4636" y="3059"/>
              <a:ext cx="2075" cy="925"/>
              <a:chOff x="5190" y="3070"/>
              <a:chExt cx="2075" cy="925"/>
            </a:xfrm>
          </p:grpSpPr>
          <p:pic>
            <p:nvPicPr>
              <p:cNvPr id="51" name="图片 50" descr="4.7&amp;4.8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190" y="3070"/>
                <a:ext cx="925" cy="925"/>
              </a:xfrm>
              <a:prstGeom prst="rect">
                <a:avLst/>
              </a:prstGeom>
            </p:spPr>
          </p:pic>
          <p:sp>
            <p:nvSpPr>
              <p:cNvPr id="52" name="文本框 51"/>
              <p:cNvSpPr txBox="1"/>
              <p:nvPr/>
            </p:nvSpPr>
            <p:spPr>
              <a:xfrm>
                <a:off x="6000" y="3158"/>
                <a:ext cx="1265" cy="628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异常检测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  <a:p>
                <a:pPr algn="ctr"/>
                <a:r>
                  <a:rPr lang="zh-CN" altLang="en-US" sz="1000">
                    <a:solidFill>
                      <a:srgbClr val="13227A"/>
                    </a:solidFill>
                    <a:latin typeface="宋体" charset="0"/>
                    <a:ea typeface="宋体" charset="0"/>
                  </a:rPr>
                  <a:t>数据集</a:t>
                </a:r>
                <a:endParaRPr lang="zh-CN" altLang="en-US" sz="1000">
                  <a:solidFill>
                    <a:srgbClr val="13227A"/>
                  </a:solidFill>
                  <a:latin typeface="宋体" charset="0"/>
                  <a:ea typeface="宋体" charset="0"/>
                </a:endParaRPr>
              </a:p>
            </p:txBody>
          </p:sp>
        </p:grpSp>
        <p:sp>
          <p:nvSpPr>
            <p:cNvPr id="53" name="燕尾形箭头 52"/>
            <p:cNvSpPr/>
            <p:nvPr/>
          </p:nvSpPr>
          <p:spPr>
            <a:xfrm rot="5400000">
              <a:off x="4821" y="4091"/>
              <a:ext cx="518" cy="220"/>
            </a:xfrm>
            <a:prstGeom prst="notched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4" name="燕尾形箭头 53"/>
            <p:cNvSpPr/>
            <p:nvPr/>
          </p:nvSpPr>
          <p:spPr>
            <a:xfrm>
              <a:off x="7235" y="4910"/>
              <a:ext cx="590" cy="220"/>
            </a:xfrm>
            <a:prstGeom prst="notched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55" name="组合 54"/>
            <p:cNvGrpSpPr/>
            <p:nvPr/>
          </p:nvGrpSpPr>
          <p:grpSpPr>
            <a:xfrm rot="0">
              <a:off x="13046" y="3155"/>
              <a:ext cx="1616" cy="519"/>
              <a:chOff x="13046" y="3337"/>
              <a:chExt cx="1616" cy="519"/>
            </a:xfrm>
          </p:grpSpPr>
          <p:pic>
            <p:nvPicPr>
              <p:cNvPr id="56" name="图片 55" descr="精确准确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3046" y="3337"/>
                <a:ext cx="519" cy="519"/>
              </a:xfrm>
              <a:prstGeom prst="rect">
                <a:avLst/>
              </a:prstGeom>
            </p:spPr>
          </p:pic>
          <p:sp>
            <p:nvSpPr>
              <p:cNvPr id="57" name="文本框 56"/>
              <p:cNvSpPr txBox="1"/>
              <p:nvPr/>
            </p:nvSpPr>
            <p:spPr>
              <a:xfrm>
                <a:off x="13397" y="3385"/>
                <a:ext cx="1265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000">
                    <a:solidFill>
                      <a:schemeClr val="accent4">
                        <a:lumMod val="50000"/>
                      </a:schemeClr>
                    </a:solidFill>
                    <a:latin typeface="Times New Roman" panose="02020503050405090304" charset="0"/>
                    <a:ea typeface="宋体" charset="0"/>
                    <a:cs typeface="Times New Roman" panose="02020503050405090304" charset="0"/>
                  </a:rPr>
                  <a:t>precision</a:t>
                </a:r>
                <a:endParaRPr lang="en-US" altLang="zh-CN" sz="1000">
                  <a:solidFill>
                    <a:schemeClr val="accent4">
                      <a:lumMod val="50000"/>
                    </a:schemeClr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endParaRPr>
              </a:p>
            </p:txBody>
          </p:sp>
        </p:grpSp>
        <p:grpSp>
          <p:nvGrpSpPr>
            <p:cNvPr id="58" name="组合 57"/>
            <p:cNvGrpSpPr/>
            <p:nvPr/>
          </p:nvGrpSpPr>
          <p:grpSpPr>
            <a:xfrm rot="0">
              <a:off x="7485" y="4676"/>
              <a:ext cx="1357" cy="1086"/>
              <a:chOff x="7485" y="4551"/>
              <a:chExt cx="1619" cy="1280"/>
            </a:xfrm>
          </p:grpSpPr>
          <p:pic>
            <p:nvPicPr>
              <p:cNvPr id="59" name="图片 58" descr="向量"/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7877" y="4551"/>
                <a:ext cx="834" cy="834"/>
              </a:xfrm>
              <a:prstGeom prst="rect">
                <a:avLst/>
              </a:prstGeom>
            </p:spPr>
          </p:pic>
          <p:sp>
            <p:nvSpPr>
              <p:cNvPr id="60" name="文本框 59"/>
              <p:cNvSpPr txBox="1"/>
              <p:nvPr/>
            </p:nvSpPr>
            <p:spPr>
              <a:xfrm>
                <a:off x="7485" y="5376"/>
                <a:ext cx="1619" cy="455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D4237A"/>
                    </a:solidFill>
                    <a:latin typeface="宋体" charset="0"/>
                    <a:ea typeface="宋体" charset="0"/>
                  </a:rPr>
                  <a:t>根因向量</a:t>
                </a:r>
                <a:endParaRPr lang="zh-CN" altLang="en-US" sz="1000">
                  <a:solidFill>
                    <a:srgbClr val="D4237A"/>
                  </a:solidFill>
                  <a:latin typeface="宋体" charset="0"/>
                  <a:ea typeface="宋体" charset="0"/>
                </a:endParaRPr>
              </a:p>
            </p:txBody>
          </p:sp>
        </p:grpSp>
        <p:pic>
          <p:nvPicPr>
            <p:cNvPr id="61" name="图片 60" descr="向量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084" y="4696"/>
              <a:ext cx="699" cy="707"/>
            </a:xfrm>
            <a:prstGeom prst="rect">
              <a:avLst/>
            </a:prstGeom>
          </p:spPr>
        </p:pic>
        <p:cxnSp>
          <p:nvCxnSpPr>
            <p:cNvPr id="62" name="直接连接符 61"/>
            <p:cNvCxnSpPr/>
            <p:nvPr/>
          </p:nvCxnSpPr>
          <p:spPr>
            <a:xfrm>
              <a:off x="8764" y="3059"/>
              <a:ext cx="0" cy="2931"/>
            </a:xfrm>
            <a:prstGeom prst="line">
              <a:avLst/>
            </a:prstGeom>
            <a:ln w="12700" cap="flat" cmpd="sng" algn="ctr">
              <a:solidFill>
                <a:prstClr val="black"/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3" name="直接连接符 62"/>
            <p:cNvCxnSpPr/>
            <p:nvPr/>
          </p:nvCxnSpPr>
          <p:spPr>
            <a:xfrm>
              <a:off x="10197" y="3056"/>
              <a:ext cx="0" cy="2939"/>
            </a:xfrm>
            <a:prstGeom prst="line">
              <a:avLst/>
            </a:prstGeom>
            <a:ln w="12700" cap="flat" cmpd="sng" algn="ctr">
              <a:solidFill>
                <a:prstClr val="black"/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4" name="直接连接符 63"/>
            <p:cNvCxnSpPr/>
            <p:nvPr/>
          </p:nvCxnSpPr>
          <p:spPr>
            <a:xfrm>
              <a:off x="11584" y="3059"/>
              <a:ext cx="0" cy="2931"/>
            </a:xfrm>
            <a:prstGeom prst="line">
              <a:avLst/>
            </a:prstGeom>
            <a:ln w="12700" cap="flat" cmpd="sng" algn="ctr">
              <a:solidFill>
                <a:prstClr val="black"/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5" name="文本框 64"/>
            <p:cNvSpPr txBox="1"/>
            <p:nvPr/>
          </p:nvSpPr>
          <p:spPr>
            <a:xfrm>
              <a:off x="8802" y="3058"/>
              <a:ext cx="1357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宋体" charset="0"/>
                  <a:ea typeface="宋体" charset="0"/>
                </a:rPr>
                <a:t>输入层</a:t>
              </a:r>
              <a:endParaRPr lang="zh-CN" altLang="en-US" sz="1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ea typeface="宋体" charset="0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229" y="3059"/>
              <a:ext cx="1357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宋体" charset="0"/>
                  <a:ea typeface="宋体" charset="0"/>
                </a:rPr>
                <a:t>隐藏层</a:t>
              </a:r>
              <a:endParaRPr lang="zh-CN" altLang="en-US" sz="1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ea typeface="宋体" charset="0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1598" y="3059"/>
              <a:ext cx="1357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宋体" charset="0"/>
                  <a:ea typeface="宋体" charset="0"/>
                </a:rPr>
                <a:t>输出层</a:t>
              </a:r>
              <a:endParaRPr lang="zh-CN" altLang="en-US" sz="1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ea typeface="宋体" charset="0"/>
              </a:endParaRPr>
            </a:p>
          </p:txBody>
        </p:sp>
        <p:pic>
          <p:nvPicPr>
            <p:cNvPr id="68" name="图片 67" descr="乘法"/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46" y="4508"/>
              <a:ext cx="170" cy="170"/>
            </a:xfrm>
            <a:prstGeom prst="rect">
              <a:avLst/>
            </a:prstGeom>
          </p:spPr>
        </p:pic>
        <p:grpSp>
          <p:nvGrpSpPr>
            <p:cNvPr id="69" name="组合 68"/>
            <p:cNvGrpSpPr/>
            <p:nvPr/>
          </p:nvGrpSpPr>
          <p:grpSpPr>
            <a:xfrm rot="0">
              <a:off x="9441" y="4593"/>
              <a:ext cx="1531" cy="537"/>
              <a:chOff x="9441" y="4139"/>
              <a:chExt cx="1531" cy="537"/>
            </a:xfrm>
          </p:grpSpPr>
          <p:sp>
            <p:nvSpPr>
              <p:cNvPr id="70" name="燕尾形箭头 69"/>
              <p:cNvSpPr/>
              <p:nvPr/>
            </p:nvSpPr>
            <p:spPr>
              <a:xfrm>
                <a:off x="9911" y="4456"/>
                <a:ext cx="590" cy="220"/>
              </a:xfrm>
              <a:prstGeom prst="notchedRight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9441" y="4139"/>
                <a:ext cx="1531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 b="1">
                    <a:latin typeface="宋体" charset="0"/>
                    <a:ea typeface="宋体" charset="0"/>
                  </a:rPr>
                  <a:t>编</a:t>
                </a:r>
                <a:r>
                  <a:rPr lang="en-US" altLang="zh-CN" sz="1000" b="1">
                    <a:latin typeface="宋体" charset="0"/>
                    <a:ea typeface="宋体" charset="0"/>
                  </a:rPr>
                  <a:t> </a:t>
                </a:r>
                <a:r>
                  <a:rPr lang="zh-CN" altLang="en-US" sz="1000" b="1">
                    <a:latin typeface="宋体" charset="0"/>
                    <a:ea typeface="宋体" charset="0"/>
                  </a:rPr>
                  <a:t>码</a:t>
                </a:r>
                <a:endParaRPr lang="zh-CN" altLang="en-US" sz="1000" b="1">
                  <a:latin typeface="宋体" charset="0"/>
                  <a:ea typeface="宋体" charset="0"/>
                </a:endParaRPr>
              </a:p>
            </p:txBody>
          </p:sp>
        </p:grpSp>
        <p:sp>
          <p:nvSpPr>
            <p:cNvPr id="72" name="文本框 71"/>
            <p:cNvSpPr txBox="1"/>
            <p:nvPr/>
          </p:nvSpPr>
          <p:spPr>
            <a:xfrm>
              <a:off x="8739" y="5558"/>
              <a:ext cx="1490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 i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宋体" charset="0"/>
                  <a:ea typeface="宋体" charset="0"/>
                </a:rPr>
                <a:t>逐元素相乘</a:t>
              </a:r>
              <a:endParaRPr lang="zh-CN" altLang="en-US" sz="10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ea typeface="宋体" charset="0"/>
              </a:endParaRPr>
            </a:p>
          </p:txBody>
        </p:sp>
        <p:grpSp>
          <p:nvGrpSpPr>
            <p:cNvPr id="88" name="组合 87"/>
            <p:cNvGrpSpPr/>
            <p:nvPr/>
          </p:nvGrpSpPr>
          <p:grpSpPr>
            <a:xfrm>
              <a:off x="8623" y="3424"/>
              <a:ext cx="1736" cy="1000"/>
              <a:chOff x="8623" y="3424"/>
              <a:chExt cx="1736" cy="1000"/>
            </a:xfrm>
          </p:grpSpPr>
          <p:pic>
            <p:nvPicPr>
              <p:cNvPr id="73" name="图片 72" descr="下载-_7_"/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 l="57346" t="48041"/>
              <a:stretch>
                <a:fillRect/>
              </a:stretch>
            </p:blipFill>
            <p:spPr>
              <a:xfrm>
                <a:off x="9018" y="3424"/>
                <a:ext cx="926" cy="848"/>
              </a:xfrm>
              <a:prstGeom prst="rect">
                <a:avLst/>
              </a:prstGeom>
            </p:spPr>
          </p:pic>
          <p:sp>
            <p:nvSpPr>
              <p:cNvPr id="74" name="文本框 73"/>
              <p:cNvSpPr txBox="1"/>
              <p:nvPr/>
            </p:nvSpPr>
            <p:spPr>
              <a:xfrm>
                <a:off x="8623" y="4038"/>
                <a:ext cx="1736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D4237A"/>
                    </a:solidFill>
                    <a:latin typeface="宋体" charset="0"/>
                    <a:ea typeface="宋体" charset="0"/>
                  </a:rPr>
                  <a:t>时间序列</a:t>
                </a:r>
                <a:r>
                  <a:rPr lang="zh-CN" altLang="en-US" sz="1000">
                    <a:solidFill>
                      <a:srgbClr val="D4237A"/>
                    </a:solidFill>
                    <a:latin typeface="宋体" charset="0"/>
                    <a:ea typeface="宋体" charset="0"/>
                  </a:rPr>
                  <a:t>输入</a:t>
                </a:r>
                <a:endParaRPr lang="zh-CN" altLang="en-US" sz="1000">
                  <a:solidFill>
                    <a:srgbClr val="D4237A"/>
                  </a:solidFill>
                  <a:latin typeface="宋体" charset="0"/>
                  <a:ea typeface="宋体" charset="0"/>
                </a:endParaRPr>
              </a:p>
            </p:txBody>
          </p:sp>
        </p:grpSp>
        <p:pic>
          <p:nvPicPr>
            <p:cNvPr id="75" name="图片 74" descr="加法"/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777" y="4264"/>
              <a:ext cx="196" cy="196"/>
            </a:xfrm>
            <a:prstGeom prst="rect">
              <a:avLst/>
            </a:prstGeom>
          </p:spPr>
        </p:pic>
        <p:pic>
          <p:nvPicPr>
            <p:cNvPr id="76" name="图片 75" descr="向量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503" y="3522"/>
              <a:ext cx="699" cy="707"/>
            </a:xfrm>
            <a:prstGeom prst="rect">
              <a:avLst/>
            </a:prstGeom>
          </p:spPr>
        </p:pic>
        <p:sp>
          <p:nvSpPr>
            <p:cNvPr id="77" name="文本框 76"/>
            <p:cNvSpPr txBox="1"/>
            <p:nvPr/>
          </p:nvSpPr>
          <p:spPr>
            <a:xfrm>
              <a:off x="10159" y="5558"/>
              <a:ext cx="1490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 i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宋体" charset="0"/>
                  <a:ea typeface="宋体" charset="0"/>
                </a:rPr>
                <a:t>特征融合</a:t>
              </a:r>
              <a:endParaRPr lang="zh-CN" altLang="en-US" sz="10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宋体" charset="0"/>
                <a:ea typeface="宋体" charset="0"/>
              </a:endParaRPr>
            </a:p>
          </p:txBody>
        </p:sp>
        <p:grpSp>
          <p:nvGrpSpPr>
            <p:cNvPr id="78" name="组合 77"/>
            <p:cNvGrpSpPr/>
            <p:nvPr/>
          </p:nvGrpSpPr>
          <p:grpSpPr>
            <a:xfrm rot="0">
              <a:off x="10823" y="4593"/>
              <a:ext cx="1531" cy="529"/>
              <a:chOff x="9441" y="4283"/>
              <a:chExt cx="1531" cy="529"/>
            </a:xfrm>
          </p:grpSpPr>
          <p:sp>
            <p:nvSpPr>
              <p:cNvPr id="79" name="燕尾形箭头 78"/>
              <p:cNvSpPr/>
              <p:nvPr/>
            </p:nvSpPr>
            <p:spPr>
              <a:xfrm>
                <a:off x="9911" y="4592"/>
                <a:ext cx="590" cy="220"/>
              </a:xfrm>
              <a:prstGeom prst="notchedRightArrow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9441" y="4283"/>
                <a:ext cx="1531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 b="1">
                    <a:latin typeface="宋体" charset="0"/>
                    <a:ea typeface="宋体" charset="0"/>
                  </a:rPr>
                  <a:t>解</a:t>
                </a:r>
                <a:r>
                  <a:rPr lang="en-US" altLang="zh-CN" sz="1000" b="1">
                    <a:latin typeface="宋体" charset="0"/>
                    <a:ea typeface="宋体" charset="0"/>
                  </a:rPr>
                  <a:t> </a:t>
                </a:r>
                <a:r>
                  <a:rPr lang="zh-CN" altLang="en-US" sz="1000" b="1">
                    <a:latin typeface="宋体" charset="0"/>
                    <a:ea typeface="宋体" charset="0"/>
                  </a:rPr>
                  <a:t>码</a:t>
                </a:r>
                <a:endParaRPr lang="zh-CN" altLang="en-US" sz="1000" b="1">
                  <a:latin typeface="宋体" charset="0"/>
                  <a:ea typeface="宋体" charset="0"/>
                </a:endParaRPr>
              </a:p>
            </p:txBody>
          </p:sp>
        </p:grpSp>
        <p:pic>
          <p:nvPicPr>
            <p:cNvPr id="81" name="图片 80" descr="向量(1)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10503" y="4532"/>
              <a:ext cx="700" cy="700"/>
            </a:xfrm>
            <a:prstGeom prst="rect">
              <a:avLst/>
            </a:prstGeom>
          </p:spPr>
        </p:pic>
        <p:sp>
          <p:nvSpPr>
            <p:cNvPr id="82" name="文本框 81"/>
            <p:cNvSpPr txBox="1"/>
            <p:nvPr/>
          </p:nvSpPr>
          <p:spPr>
            <a:xfrm>
              <a:off x="10007" y="5204"/>
              <a:ext cx="1736" cy="386"/>
            </a:xfrm>
            <a:prstGeom prst="rect">
              <a:avLst/>
            </a:prstGeom>
            <a:noFill/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p>
              <a:pPr algn="ctr"/>
              <a:r>
                <a:rPr lang="zh-CN" altLang="en-US" sz="1000">
                  <a:solidFill>
                    <a:srgbClr val="D4237A"/>
                  </a:solidFill>
                  <a:latin typeface="宋体" charset="0"/>
                  <a:ea typeface="宋体" charset="0"/>
                </a:rPr>
                <a:t>隐藏层向量</a:t>
              </a:r>
              <a:endParaRPr lang="zh-CN" altLang="en-US" sz="1000">
                <a:solidFill>
                  <a:srgbClr val="D4237A"/>
                </a:solidFill>
                <a:latin typeface="宋体" charset="0"/>
                <a:ea typeface="宋体" charset="0"/>
              </a:endParaRPr>
            </a:p>
          </p:txBody>
        </p:sp>
        <p:grpSp>
          <p:nvGrpSpPr>
            <p:cNvPr id="90" name="组合 89"/>
            <p:cNvGrpSpPr/>
            <p:nvPr/>
          </p:nvGrpSpPr>
          <p:grpSpPr>
            <a:xfrm>
              <a:off x="11409" y="4709"/>
              <a:ext cx="1736" cy="881"/>
              <a:chOff x="11544" y="5051"/>
              <a:chExt cx="1736" cy="881"/>
            </a:xfrm>
          </p:grpSpPr>
          <p:pic>
            <p:nvPicPr>
              <p:cNvPr id="83" name="图片 82" descr="误差"/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p:blipFill>
            <p:spPr>
              <a:xfrm>
                <a:off x="12166" y="5051"/>
                <a:ext cx="520" cy="520"/>
              </a:xfrm>
              <a:prstGeom prst="rect">
                <a:avLst/>
              </a:prstGeom>
            </p:spPr>
          </p:pic>
          <p:sp>
            <p:nvSpPr>
              <p:cNvPr id="84" name="文本框 83"/>
              <p:cNvSpPr txBox="1"/>
              <p:nvPr/>
            </p:nvSpPr>
            <p:spPr>
              <a:xfrm>
                <a:off x="11544" y="5546"/>
                <a:ext cx="1736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D4237A"/>
                    </a:solidFill>
                    <a:latin typeface="宋体" charset="0"/>
                    <a:ea typeface="宋体" charset="0"/>
                  </a:rPr>
                  <a:t>误差</a:t>
                </a:r>
                <a:endParaRPr lang="zh-CN" altLang="en-US" sz="1000">
                  <a:solidFill>
                    <a:srgbClr val="D4237A"/>
                  </a:solidFill>
                  <a:latin typeface="宋体" charset="0"/>
                  <a:ea typeface="宋体" charset="0"/>
                </a:endParaRPr>
              </a:p>
            </p:txBody>
          </p:sp>
        </p:grpSp>
        <p:pic>
          <p:nvPicPr>
            <p:cNvPr id="85" name="图片 84" descr="向量"/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1649" y="3331"/>
              <a:ext cx="699" cy="707"/>
            </a:xfrm>
            <a:prstGeom prst="rect">
              <a:avLst/>
            </a:prstGeom>
          </p:spPr>
        </p:pic>
        <p:grpSp>
          <p:nvGrpSpPr>
            <p:cNvPr id="91" name="组合 90"/>
            <p:cNvGrpSpPr/>
            <p:nvPr/>
          </p:nvGrpSpPr>
          <p:grpSpPr>
            <a:xfrm>
              <a:off x="11409" y="3674"/>
              <a:ext cx="1736" cy="757"/>
              <a:chOff x="11558" y="4208"/>
              <a:chExt cx="1736" cy="757"/>
            </a:xfrm>
          </p:grpSpPr>
          <p:pic>
            <p:nvPicPr>
              <p:cNvPr id="86" name="图片 85" descr="阈值"/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/>
              </a:stretch>
            </p:blipFill>
            <p:spPr>
              <a:xfrm>
                <a:off x="12234" y="4208"/>
                <a:ext cx="385" cy="385"/>
              </a:xfrm>
              <a:prstGeom prst="rect">
                <a:avLst/>
              </a:prstGeom>
            </p:spPr>
          </p:pic>
          <p:sp>
            <p:nvSpPr>
              <p:cNvPr id="87" name="文本框 86"/>
              <p:cNvSpPr txBox="1"/>
              <p:nvPr/>
            </p:nvSpPr>
            <p:spPr>
              <a:xfrm>
                <a:off x="11558" y="4579"/>
                <a:ext cx="1736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rgbClr val="D4237A"/>
                    </a:solidFill>
                    <a:latin typeface="宋体" charset="0"/>
                    <a:ea typeface="宋体" charset="0"/>
                  </a:rPr>
                  <a:t>动态阈值</a:t>
                </a:r>
                <a:endParaRPr lang="zh-CN" altLang="en-US" sz="1000">
                  <a:solidFill>
                    <a:srgbClr val="D4237A"/>
                  </a:solidFill>
                  <a:latin typeface="宋体" charset="0"/>
                  <a:ea typeface="宋体" charset="0"/>
                </a:endParaRPr>
              </a:p>
            </p:txBody>
          </p:sp>
        </p:grpSp>
        <p:sp>
          <p:nvSpPr>
            <p:cNvPr id="89" name="燕尾形箭头 88"/>
            <p:cNvSpPr/>
            <p:nvPr/>
          </p:nvSpPr>
          <p:spPr>
            <a:xfrm>
              <a:off x="12704" y="4910"/>
              <a:ext cx="590" cy="220"/>
            </a:xfrm>
            <a:prstGeom prst="notched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13307" y="4666"/>
              <a:ext cx="926" cy="910"/>
              <a:chOff x="13307" y="4859"/>
              <a:chExt cx="926" cy="910"/>
            </a:xfrm>
          </p:grpSpPr>
          <p:pic>
            <p:nvPicPr>
              <p:cNvPr id="93" name="图片 92" descr="异常(1)"/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13426" y="4859"/>
                <a:ext cx="687" cy="687"/>
              </a:xfrm>
              <a:prstGeom prst="rect">
                <a:avLst/>
              </a:prstGeom>
            </p:spPr>
          </p:pic>
          <p:sp>
            <p:nvSpPr>
              <p:cNvPr id="95" name="文本框 94"/>
              <p:cNvSpPr txBox="1"/>
              <p:nvPr/>
            </p:nvSpPr>
            <p:spPr>
              <a:xfrm>
                <a:off x="13307" y="5383"/>
                <a:ext cx="926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000">
                    <a:solidFill>
                      <a:schemeClr val="accent4">
                        <a:lumMod val="50000"/>
                      </a:schemeClr>
                    </a:solidFill>
                    <a:latin typeface="宋体" charset="0"/>
                    <a:ea typeface="宋体" charset="0"/>
                  </a:rPr>
                  <a:t>异常</a:t>
                </a:r>
                <a:endParaRPr lang="zh-CN" altLang="en-US" sz="1000">
                  <a:solidFill>
                    <a:schemeClr val="accent4">
                      <a:lumMod val="50000"/>
                    </a:schemeClr>
                  </a:solidFill>
                  <a:latin typeface="宋体" charset="0"/>
                  <a:ea typeface="宋体" charset="0"/>
                </a:endParaRPr>
              </a:p>
            </p:txBody>
          </p:sp>
        </p:grpSp>
        <p:grpSp>
          <p:nvGrpSpPr>
            <p:cNvPr id="96" name="组合 95"/>
            <p:cNvGrpSpPr/>
            <p:nvPr/>
          </p:nvGrpSpPr>
          <p:grpSpPr>
            <a:xfrm rot="0">
              <a:off x="13113" y="3737"/>
              <a:ext cx="1431" cy="405"/>
              <a:chOff x="13113" y="3725"/>
              <a:chExt cx="1431" cy="405"/>
            </a:xfrm>
          </p:grpSpPr>
          <p:pic>
            <p:nvPicPr>
              <p:cNvPr id="97" name="图片 96" descr="召回"/>
              <p:cNvPicPr>
                <a:picLocks noChangeAspect="1"/>
              </p:cNvPicPr>
              <p:nvPr/>
            </p:nvPicPr>
            <p:blipFill>
              <a:blip r:embed="rId25"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p:blipFill>
            <p:spPr>
              <a:xfrm>
                <a:off x="13113" y="3746"/>
                <a:ext cx="385" cy="385"/>
              </a:xfrm>
              <a:prstGeom prst="rect">
                <a:avLst/>
              </a:prstGeom>
            </p:spPr>
          </p:pic>
          <p:sp>
            <p:nvSpPr>
              <p:cNvPr id="98" name="文本框 97"/>
              <p:cNvSpPr txBox="1"/>
              <p:nvPr/>
            </p:nvSpPr>
            <p:spPr>
              <a:xfrm>
                <a:off x="13280" y="3725"/>
                <a:ext cx="1265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000">
                    <a:solidFill>
                      <a:schemeClr val="accent4">
                        <a:lumMod val="50000"/>
                      </a:schemeClr>
                    </a:solidFill>
                    <a:latin typeface="Times New Roman" panose="02020503050405090304" charset="0"/>
                    <a:ea typeface="宋体" charset="0"/>
                    <a:cs typeface="Times New Roman" panose="02020503050405090304" charset="0"/>
                  </a:rPr>
                  <a:t>rec</a:t>
                </a:r>
                <a:r>
                  <a:rPr lang="en-US" altLang="zh-CN" sz="1000">
                    <a:solidFill>
                      <a:schemeClr val="accent4">
                        <a:lumMod val="50000"/>
                      </a:schemeClr>
                    </a:solidFill>
                    <a:latin typeface="Times New Roman" panose="02020503050405090304" charset="0"/>
                    <a:ea typeface="宋体" charset="0"/>
                    <a:cs typeface="Times New Roman" panose="02020503050405090304" charset="0"/>
                  </a:rPr>
                  <a:t>all</a:t>
                </a:r>
                <a:endParaRPr lang="en-US" altLang="zh-CN" sz="1000">
                  <a:solidFill>
                    <a:schemeClr val="accent4">
                      <a:lumMod val="50000"/>
                    </a:schemeClr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endParaRPr>
              </a:p>
            </p:txBody>
          </p:sp>
        </p:grpSp>
        <p:grpSp>
          <p:nvGrpSpPr>
            <p:cNvPr id="99" name="组合 98"/>
            <p:cNvGrpSpPr/>
            <p:nvPr/>
          </p:nvGrpSpPr>
          <p:grpSpPr>
            <a:xfrm rot="0">
              <a:off x="13071" y="4259"/>
              <a:ext cx="1515" cy="464"/>
              <a:chOff x="13071" y="4289"/>
              <a:chExt cx="1515" cy="464"/>
            </a:xfrm>
          </p:grpSpPr>
          <p:pic>
            <p:nvPicPr>
              <p:cNvPr id="100" name="图片 99" descr="F(1)"/>
              <p:cNvPicPr>
                <a:picLocks noChangeAspect="1"/>
              </p:cNvPicPr>
              <p:nvPr/>
            </p:nvPicPr>
            <p:blipFill>
              <a:blip r:embed="rId27"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13071" y="4289"/>
                <a:ext cx="464" cy="464"/>
              </a:xfrm>
              <a:prstGeom prst="rect">
                <a:avLst/>
              </a:prstGeom>
            </p:spPr>
          </p:pic>
          <p:sp>
            <p:nvSpPr>
              <p:cNvPr id="101" name="文本框 100"/>
              <p:cNvSpPr txBox="1"/>
              <p:nvPr/>
            </p:nvSpPr>
            <p:spPr>
              <a:xfrm>
                <a:off x="13322" y="4311"/>
                <a:ext cx="1265" cy="386"/>
              </a:xfrm>
              <a:prstGeom prst="rect">
                <a:avLst/>
              </a:prstGeom>
              <a:noFill/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1000">
                    <a:solidFill>
                      <a:schemeClr val="accent4">
                        <a:lumMod val="50000"/>
                      </a:schemeClr>
                    </a:solidFill>
                    <a:latin typeface="Times New Roman" panose="02020503050405090304" charset="0"/>
                    <a:ea typeface="宋体" charset="0"/>
                    <a:cs typeface="Times New Roman" panose="02020503050405090304" charset="0"/>
                  </a:rPr>
                  <a:t>F1-score</a:t>
                </a:r>
                <a:endParaRPr lang="en-US" altLang="zh-CN" sz="1000">
                  <a:solidFill>
                    <a:schemeClr val="accent4">
                      <a:lumMod val="50000"/>
                    </a:schemeClr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endParaRPr>
              </a:p>
            </p:txBody>
          </p:sp>
        </p:grpSp>
        <p:sp>
          <p:nvSpPr>
            <p:cNvPr id="102" name="燕尾形箭头 101"/>
            <p:cNvSpPr/>
            <p:nvPr/>
          </p:nvSpPr>
          <p:spPr>
            <a:xfrm rot="5400000">
              <a:off x="12158" y="4440"/>
              <a:ext cx="253" cy="220"/>
            </a:xfrm>
            <a:prstGeom prst="notched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03" name="文本框 102"/>
          <p:cNvSpPr txBox="1"/>
          <p:nvPr/>
        </p:nvSpPr>
        <p:spPr>
          <a:xfrm>
            <a:off x="551180" y="5191760"/>
            <a:ext cx="11012170" cy="8280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algn="l">
              <a:buFont typeface="Arial" panose="020B0604020202090204" pitchFamily="34" charset="0"/>
              <a:buNone/>
            </a:pP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1. 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训练根因分析模型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：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多任务学习预训练</a:t>
            </a:r>
            <a:r>
              <a:rPr lang="en-US" altLang="zh-CN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(</a:t>
            </a:r>
            <a:r>
              <a:rPr lang="zh-CN" altLang="en-US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根因分析数据集</a:t>
            </a:r>
            <a:r>
              <a:rPr lang="en-US" altLang="zh-CN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)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；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迁移学习</a:t>
            </a:r>
            <a:r>
              <a:rPr lang="en-US" altLang="zh-CN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(</a:t>
            </a:r>
            <a:r>
              <a:rPr lang="zh-CN" altLang="en-US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异常检测数据集</a:t>
            </a:r>
            <a:r>
              <a:rPr lang="en-US" altLang="zh-CN" sz="12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)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；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运行模型</a:t>
            </a:r>
            <a:endParaRPr lang="zh-CN" altLang="en-US">
              <a:solidFill>
                <a:schemeClr val="tx1"/>
              </a:solidFill>
              <a:latin typeface="宋体" charset="0"/>
              <a:ea typeface="宋体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endParaRPr lang="en-US" altLang="zh-CN" sz="500">
              <a:solidFill>
                <a:schemeClr val="tx1"/>
              </a:solidFill>
              <a:latin typeface="宋体" charset="0"/>
              <a:ea typeface="宋体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2. 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增强异常检测模型：输入层特征标定；隐藏层特征融合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；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输出层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后验修正</a:t>
            </a:r>
            <a:endParaRPr lang="zh-CN" altLang="en-US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8503920" y="2853690"/>
            <a:ext cx="3276600" cy="2138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 algn="l">
              <a:buFont typeface="Arial" panose="020B060402020209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预训练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-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微调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？</a:t>
            </a:r>
            <a:endParaRPr lang="en-US" altLang="zh-CN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异常检测数据集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没有根因标签</a:t>
            </a:r>
            <a:endParaRPr lang="zh-CN" altLang="en-US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endParaRPr lang="zh-CN" altLang="en-US" sz="500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  <a:p>
            <a:pPr marL="285750" indent="-285750" algn="l">
              <a:buFont typeface="Arial" panose="020B0604020202090204" pitchFamily="34" charset="0"/>
              <a:buChar char="•"/>
            </a:pP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多任务学习</a:t>
            </a:r>
            <a:r>
              <a: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？</a:t>
            </a:r>
            <a:endParaRPr lang="en-US" altLang="zh-CN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  <a:p>
            <a:pPr indent="0" algn="l">
              <a:buFont typeface="Arial" panose="020B0604020202090204" pitchFamily="34" charset="0"/>
              <a:buNone/>
            </a:pP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提高模型的</a:t>
            </a:r>
            <a:r>
              <a: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rPr>
              <a:t>泛化能力</a:t>
            </a:r>
            <a:endParaRPr lang="zh-CN" altLang="en-US">
              <a:solidFill>
                <a:schemeClr val="tx1"/>
              </a:solidFill>
              <a:latin typeface="Times New Roman" panose="02020503050405090304" charset="0"/>
              <a:ea typeface="宋体" charset="0"/>
              <a:cs typeface="Times New Roman" panose="02020503050405090304" charset="0"/>
            </a:endParaRPr>
          </a:p>
        </p:txBody>
      </p:sp>
      <p:grpSp>
        <p:nvGrpSpPr>
          <p:cNvPr id="17" name="组合 16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18" name="矩形 17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1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</a:t>
              </a:r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25" name="图片 24" descr="截屏2026-09-08 12.53.23"/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105" name="组合 104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106" name="矩形 105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7" name="矩形 106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4/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30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3600000" cy="520700"/>
            <a:chOff x="868" y="1308"/>
            <a:chExt cx="3969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3259" cy="0"/>
              <a:chOff x="868" y="2128"/>
              <a:chExt cx="3259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60" y="2128"/>
                <a:ext cx="2867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3968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技术栈与技术路线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pic>
        <p:nvPicPr>
          <p:cNvPr id="251" name="图片 250" descr="截屏2026-06-01 11.33.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6715" y="1021715"/>
            <a:ext cx="6327140" cy="5043170"/>
          </a:xfrm>
          <a:prstGeom prst="rect">
            <a:avLst/>
          </a:prstGeom>
        </p:spPr>
      </p:pic>
      <p:grpSp>
        <p:nvGrpSpPr>
          <p:cNvPr id="357" name="组合 356"/>
          <p:cNvGrpSpPr/>
          <p:nvPr/>
        </p:nvGrpSpPr>
        <p:grpSpPr>
          <a:xfrm>
            <a:off x="551815" y="1501775"/>
            <a:ext cx="4819015" cy="4053840"/>
            <a:chOff x="494" y="2567"/>
            <a:chExt cx="10082" cy="6314"/>
          </a:xfrm>
        </p:grpSpPr>
        <p:sp>
          <p:nvSpPr>
            <p:cNvPr id="102" name="矩形 101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356" name="文本框 355"/>
            <p:cNvSpPr txBox="1"/>
            <p:nvPr/>
          </p:nvSpPr>
          <p:spPr>
            <a:xfrm>
              <a:off x="546" y="2655"/>
              <a:ext cx="9994" cy="6139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p>
              <a:pPr marL="285750" lvl="0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得到根因分析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得分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285750" lvl="0" indent="-285750" algn="l">
                <a:buFont typeface="Arial" panose="020B0604020202090204" pitchFamily="34" charset="0"/>
                <a:buChar char="•"/>
              </a:pPr>
              <a:endParaRPr lang="zh-CN" altLang="en-US" sz="500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多任务学习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Shared-Bottom 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框架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迁移学习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参数微调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适配器微调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latin typeface="黑体" charset="0"/>
                  <a:ea typeface="黑体" charset="0"/>
                  <a:cs typeface="Times New Roman" panose="02020503050405090304" charset="0"/>
                  <a:sym typeface="+mn-ea"/>
                </a:rPr>
                <a:t>源域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：</a:t>
              </a:r>
              <a:r>
                <a:rPr lang="zh-CN" altLang="en-US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大规模多场景数据集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 RCAEval2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latin typeface="黑体" charset="0"/>
                  <a:ea typeface="黑体" charset="0"/>
                  <a:cs typeface="Times New Roman" panose="02020503050405090304" charset="0"/>
                  <a:sym typeface="+mn-ea"/>
                </a:rPr>
                <a:t>目标域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：SWaT、SMD、MSL、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SMAP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285750" lvl="0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利用根因分析得分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>
                <a:buFont typeface="Arial" panose="020B0604020202090204" pitchFamily="34" charset="0"/>
                <a:buChar char="•"/>
              </a:pPr>
              <a:endParaRPr lang="zh-CN" altLang="en-US" sz="500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输入层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通道注意力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机制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隐藏层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门控机制与特征融合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输出层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后验修正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effectLst/>
                  <a:latin typeface="Times New Roman" panose="02020503050405090304" charset="0"/>
                  <a:ea typeface="黑体" charset="0"/>
                  <a:cs typeface="Times New Roman" panose="02020503050405090304" charset="0"/>
                </a:rPr>
                <a:t>数据集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：SWaT、SMD、MSL、SMAP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18" name="矩形 17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2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</a:t>
              </a:r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25" name="图片 24" descr="截屏2026-09-08 12.53.2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105" name="组合 104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106" name="矩形 105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7" name="矩形 106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5/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zh-CN">
                <a:solidFill>
                  <a:srgbClr val="4B0088"/>
                </a:solidFill>
                <a:latin typeface="黑体" charset="0"/>
                <a:ea typeface="黑体" charset="0"/>
              </a:rPr>
              <a:t>&gt; </a:t>
            </a:r>
            <a:r>
              <a:rPr lang="zh-CN" altLang="en-US">
                <a:solidFill>
                  <a:srgbClr val="4B0088"/>
                </a:solidFill>
                <a:latin typeface="黑体" charset="0"/>
                <a:ea typeface="黑体" charset="0"/>
              </a:rPr>
              <a:t>预期计划</a:t>
            </a:r>
            <a:endParaRPr lang="zh-CN" altLang="en-US">
              <a:solidFill>
                <a:srgbClr val="4B0088"/>
              </a:solidFill>
              <a:latin typeface="黑体" charset="0"/>
              <a:ea typeface="黑体" charset="0"/>
            </a:endParaRPr>
          </a:p>
        </p:txBody>
      </p:sp>
      <p:sp>
        <p:nvSpPr>
          <p:cNvPr id="2" name="文本占位符 1"/>
          <p:cNvSpPr/>
          <p:nvPr>
            <p:ph type="body" idx="1"/>
            <p:custDataLst>
              <p:tags r:id="rId2"/>
            </p:custDataLst>
          </p:nvPr>
        </p:nvSpPr>
        <p:spPr/>
        <p:txBody>
          <a:bodyPr/>
          <a:p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预期成果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可行性分析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任务计划</a:t>
            </a:r>
            <a:endParaRPr lang="zh-CN" altLang="en-US">
              <a:solidFill>
                <a:srgbClr val="7030A0"/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6840816" cy="520700"/>
            <a:chOff x="868" y="1308"/>
            <a:chExt cx="7542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4041" cy="0"/>
              <a:chOff x="868" y="2128"/>
              <a:chExt cx="4041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59" y="2128"/>
                <a:ext cx="3650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754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预期成果与可行性分析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pic>
        <p:nvPicPr>
          <p:cNvPr id="17" name="图片 16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465" y="1524000"/>
            <a:ext cx="5836920" cy="3258185"/>
          </a:xfrm>
          <a:prstGeom prst="rect">
            <a:avLst/>
          </a:prstGeom>
        </p:spPr>
      </p:pic>
      <p:grpSp>
        <p:nvGrpSpPr>
          <p:cNvPr id="357" name="组合 356"/>
          <p:cNvGrpSpPr/>
          <p:nvPr/>
        </p:nvGrpSpPr>
        <p:grpSpPr>
          <a:xfrm>
            <a:off x="6116955" y="1575435"/>
            <a:ext cx="5468620" cy="4066540"/>
            <a:chOff x="494" y="2567"/>
            <a:chExt cx="10082" cy="6314"/>
          </a:xfrm>
        </p:grpSpPr>
        <p:sp>
          <p:nvSpPr>
            <p:cNvPr id="102" name="矩形 101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356" name="文本框 355"/>
            <p:cNvSpPr txBox="1"/>
            <p:nvPr/>
          </p:nvSpPr>
          <p:spPr>
            <a:xfrm>
              <a:off x="546" y="2655"/>
              <a:ext cx="9994" cy="613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marL="285750" lvl="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多任务学习预训练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得到训练好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的共享骨干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网络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框架选择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Shared-Bottom、AERCA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解耦任务私有网络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共享骨干网络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确定梯度更新方案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latin typeface="黑体" charset="0"/>
                  <a:ea typeface="黑体" charset="0"/>
                  <a:cs typeface="Times New Roman" panose="02020503050405090304" charset="0"/>
                  <a:sym typeface="+mn-ea"/>
                </a:rPr>
                <a:t>训练数据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：</a:t>
              </a:r>
              <a:r>
                <a:rPr lang="zh-CN" altLang="en-US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大规模多场景数据集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 RCAEval2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285750" lvl="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迁移学习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得到完整的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模型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参数微调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确定需要冻结的参数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适配器微调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确定适配器位置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确定适配器结构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瓶颈结构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effectLst/>
                  <a:latin typeface="Times New Roman" panose="02020503050405090304" charset="0"/>
                  <a:ea typeface="黑体" charset="0"/>
                  <a:cs typeface="Times New Roman" panose="02020503050405090304" charset="0"/>
                </a:rPr>
                <a:t>训练数据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：SWaT、SMD、MSL、SMAP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28575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19" name="矩形 18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预期计划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1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26" name="图片 25" descr="截屏2026-09-08 12.53.2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105" name="组合 104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106" name="矩形 105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7" name="矩形 106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6/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6840816" cy="520700"/>
            <a:chOff x="868" y="1308"/>
            <a:chExt cx="7542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1900" cy="0"/>
              <a:chOff x="868" y="2128"/>
              <a:chExt cx="1900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59" y="2128"/>
                <a:ext cx="1509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7541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任务计划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</a:endParaRPr>
            </a:p>
          </p:txBody>
        </p:sp>
      </p:grpSp>
      <p:pic>
        <p:nvPicPr>
          <p:cNvPr id="17" name="图片 16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1465" y="1524000"/>
            <a:ext cx="5836920" cy="3258185"/>
          </a:xfrm>
          <a:prstGeom prst="rect">
            <a:avLst/>
          </a:prstGeom>
        </p:spPr>
      </p:pic>
      <p:grpSp>
        <p:nvGrpSpPr>
          <p:cNvPr id="357" name="组合 356"/>
          <p:cNvGrpSpPr/>
          <p:nvPr/>
        </p:nvGrpSpPr>
        <p:grpSpPr>
          <a:xfrm>
            <a:off x="6116955" y="1575435"/>
            <a:ext cx="5468620" cy="4066540"/>
            <a:chOff x="494" y="2567"/>
            <a:chExt cx="10082" cy="6314"/>
          </a:xfrm>
        </p:grpSpPr>
        <p:sp>
          <p:nvSpPr>
            <p:cNvPr id="102" name="矩形 101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356" name="文本框 355"/>
            <p:cNvSpPr txBox="1"/>
            <p:nvPr/>
          </p:nvSpPr>
          <p:spPr>
            <a:xfrm>
              <a:off x="546" y="2655"/>
              <a:ext cx="9994" cy="613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marL="285750" lvl="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多任务学习预训练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得到训练好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的共享骨干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</a:rPr>
                <a:t>网络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框架选择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</a:rPr>
                <a:t>：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Shared-Bottom、AERCA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解耦任务私有网络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共享骨干网络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确定梯度更新方案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latin typeface="黑体" charset="0"/>
                  <a:ea typeface="黑体" charset="0"/>
                  <a:cs typeface="Times New Roman" panose="02020503050405090304" charset="0"/>
                  <a:sym typeface="+mn-ea"/>
                </a:rPr>
                <a:t>训练数据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：</a:t>
              </a:r>
              <a:r>
                <a:rPr lang="zh-CN" altLang="en-US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大规模多场景数据集</a:t>
              </a:r>
              <a:r>
                <a:rPr lang="en-US" altLang="zh-CN">
                  <a:latin typeface="Times New Roman" panose="02020503050405090304" charset="0"/>
                  <a:ea typeface="宋体" charset="0"/>
                  <a:cs typeface="Times New Roman" panose="02020503050405090304" charset="0"/>
                  <a:sym typeface="+mn-ea"/>
                </a:rPr>
                <a:t> RCAEval2</a:t>
              </a: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endParaRPr lang="en-US" altLang="zh-CN">
                <a:latin typeface="Times New Roman" panose="02020503050405090304" charset="0"/>
                <a:ea typeface="宋体" charset="0"/>
                <a:cs typeface="Times New Roman" panose="02020503050405090304" charset="0"/>
                <a:sym typeface="+mn-ea"/>
              </a:endParaRPr>
            </a:p>
            <a:p>
              <a:pPr marL="285750" lvl="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迁移学习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得到完整的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模型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参数微调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确定需要冻结的参数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适配器微调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模型设计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：</a:t>
              </a:r>
              <a:endParaRPr lang="en-US" altLang="zh-CN">
                <a:solidFill>
                  <a:schemeClr val="tx1"/>
                </a:solidFill>
                <a:latin typeface="黑体" charset="0"/>
                <a:ea typeface="黑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确定适配器位置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1200150" lvl="2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确定适配器结构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 - </a:t>
              </a:r>
              <a:r>
                <a:rPr lang="zh-CN" altLang="en-US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瓶颈结构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742950" lvl="1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effectLst/>
                  <a:latin typeface="Times New Roman" panose="02020503050405090304" charset="0"/>
                  <a:ea typeface="黑体" charset="0"/>
                  <a:cs typeface="Times New Roman" panose="02020503050405090304" charset="0"/>
                </a:rPr>
                <a:t>训练数据</a:t>
              </a:r>
              <a:r>
                <a:rPr lang="en-US" altLang="zh-CN">
                  <a:solidFill>
                    <a:schemeClr val="tx1"/>
                  </a:solidFill>
                  <a:latin typeface="Times New Roman" panose="02020503050405090304" charset="0"/>
                  <a:ea typeface="宋体" charset="0"/>
                  <a:cs typeface="Times New Roman" panose="02020503050405090304" charset="0"/>
                </a:rPr>
                <a:t>：SWaT、SMD、MSL、SMAP</a:t>
              </a: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  <a:p>
              <a:pPr marL="285750" indent="-285750" algn="l">
                <a:lnSpc>
                  <a:spcPct val="100000"/>
                </a:lnSpc>
                <a:buFont typeface="Arial" panose="020B0604020202090204" pitchFamily="34" charset="0"/>
                <a:buChar char="•"/>
              </a:pPr>
              <a:endParaRPr lang="zh-CN" altLang="en-US">
                <a:solidFill>
                  <a:schemeClr val="tx1"/>
                </a:solidFill>
                <a:latin typeface="Times New Roman" panose="02020503050405090304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19" name="矩形 18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预期计划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2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26" name="图片 25" descr="截屏2026-09-08 12.53.2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105" name="组合 104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106" name="矩形 105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7" name="矩形 106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7/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08" name="矩形 107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109" name="矩形 108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r>
              <a:rPr lang="en-US" altLang="zh-CN">
                <a:solidFill>
                  <a:srgbClr val="4B0088"/>
                </a:solidFill>
                <a:latin typeface="黑体" charset="0"/>
                <a:ea typeface="黑体" charset="0"/>
              </a:rPr>
              <a:t>&gt; </a:t>
            </a:r>
            <a:r>
              <a:rPr lang="zh-CN" altLang="en-US">
                <a:solidFill>
                  <a:srgbClr val="4B0088"/>
                </a:solidFill>
                <a:latin typeface="黑体" charset="0"/>
                <a:ea typeface="黑体" charset="0"/>
              </a:rPr>
              <a:t>总结</a:t>
            </a:r>
            <a:endParaRPr lang="zh-CN" altLang="en-US">
              <a:solidFill>
                <a:srgbClr val="4B0088"/>
              </a:solidFill>
              <a:latin typeface="黑体" charset="0"/>
              <a:ea typeface="黑体" charset="0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总结</a:t>
            </a:r>
            <a:r>
              <a:rPr lang="en-US" altLang="zh-CN">
                <a:solidFill>
                  <a:srgbClr val="7030A0"/>
                </a:solidFill>
                <a:latin typeface="黑体" charset="0"/>
                <a:ea typeface="黑体" charset="0"/>
              </a:rPr>
              <a:t>、</a:t>
            </a:r>
            <a:r>
              <a:rPr lang="zh-CN" altLang="en-US">
                <a:solidFill>
                  <a:srgbClr val="7030A0"/>
                </a:solidFill>
                <a:latin typeface="黑体" charset="0"/>
                <a:ea typeface="黑体" charset="0"/>
              </a:rPr>
              <a:t>参考文献</a:t>
            </a:r>
            <a:endParaRPr lang="zh-CN" altLang="en-US">
              <a:solidFill>
                <a:srgbClr val="7030A0"/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10554195" cy="520700"/>
            <a:chOff x="868" y="1308"/>
            <a:chExt cx="11636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1296" cy="0"/>
              <a:chOff x="868" y="2128"/>
              <a:chExt cx="1296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60" y="2128"/>
                <a:ext cx="904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11635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  <a:sym typeface="+mn-ea"/>
                </a:rPr>
                <a:t>总结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  <a:sym typeface="+mn-ea"/>
              </a:endParaRPr>
            </a:p>
          </p:txBody>
        </p:sp>
      </p:grpSp>
      <p:grpSp>
        <p:nvGrpSpPr>
          <p:cNvPr id="357" name="组合 356"/>
          <p:cNvGrpSpPr/>
          <p:nvPr/>
        </p:nvGrpSpPr>
        <p:grpSpPr>
          <a:xfrm>
            <a:off x="575310" y="1524000"/>
            <a:ext cx="5400040" cy="1503045"/>
            <a:chOff x="494" y="2567"/>
            <a:chExt cx="10082" cy="6314"/>
          </a:xfrm>
        </p:grpSpPr>
        <p:sp>
          <p:nvSpPr>
            <p:cNvPr id="17" name="矩形 16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356" name="文本框 355"/>
            <p:cNvSpPr txBox="1"/>
            <p:nvPr/>
          </p:nvSpPr>
          <p:spPr>
            <a:xfrm>
              <a:off x="547" y="2655"/>
              <a:ext cx="10029" cy="6226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研究动机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endParaRPr lang="zh-CN" altLang="en-US" sz="500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多元时序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异常检测保障工业互联网安全健康发展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希望赋予基于深度学习的检测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方法更强的个性化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根因分析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 </a:t>
              </a:r>
              <a:r>
                <a:rPr lang="en-US" altLang="zh-CN">
                  <a:solidFill>
                    <a:schemeClr val="tx1"/>
                  </a:solidFill>
                  <a:latin typeface="黑体" charset="0"/>
                  <a:ea typeface="黑体" charset="0"/>
                  <a:cs typeface="Times New Roman" panose="02020503050405090304" charset="0"/>
                </a:rPr>
                <a:t>-&gt;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 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个性化检测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（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直觉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初步实验验证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）</a:t>
              </a:r>
              <a:endParaRPr lang="en-US" altLang="zh-CN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6163945" y="1524000"/>
            <a:ext cx="5400040" cy="2491740"/>
            <a:chOff x="494" y="2567"/>
            <a:chExt cx="10082" cy="6314"/>
          </a:xfrm>
        </p:grpSpPr>
        <p:sp>
          <p:nvSpPr>
            <p:cNvPr id="19" name="矩形 18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547" y="2655"/>
              <a:ext cx="10029" cy="6226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模型设计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lvl="0" indent="0" algn="l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endParaRPr lang="zh-CN" altLang="en-US" sz="500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根因先验知识提取：</a:t>
              </a:r>
              <a:b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</a:b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解耦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预训练方案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迁移学习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方案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根因分析引导的时序异常检测增强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21" name="组合 20"/>
          <p:cNvGrpSpPr/>
          <p:nvPr/>
        </p:nvGrpSpPr>
        <p:grpSpPr>
          <a:xfrm>
            <a:off x="575310" y="3221355"/>
            <a:ext cx="5400040" cy="2773680"/>
            <a:chOff x="494" y="2567"/>
            <a:chExt cx="10082" cy="6314"/>
          </a:xfrm>
        </p:grpSpPr>
        <p:sp>
          <p:nvSpPr>
            <p:cNvPr id="26" name="矩形 25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47" y="2655"/>
              <a:ext cx="10029" cy="6226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研究</a:t>
              </a: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方案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endParaRPr lang="zh-CN" altLang="en-US" sz="500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得到根因得分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多任务学习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 + 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迁移学习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利用根因得分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：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多层级的根因分析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先验注入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</p:txBody>
        </p:sp>
      </p:grpSp>
      <p:grpSp>
        <p:nvGrpSpPr>
          <p:cNvPr id="103" name="组合 102"/>
          <p:cNvGrpSpPr/>
          <p:nvPr/>
        </p:nvGrpSpPr>
        <p:grpSpPr>
          <a:xfrm>
            <a:off x="6163310" y="4204335"/>
            <a:ext cx="5400000" cy="1800000"/>
            <a:chOff x="494" y="2567"/>
            <a:chExt cx="10082" cy="6314"/>
          </a:xfrm>
        </p:grpSpPr>
        <p:sp>
          <p:nvSpPr>
            <p:cNvPr id="104" name="矩形 103"/>
            <p:cNvSpPr/>
            <p:nvPr/>
          </p:nvSpPr>
          <p:spPr>
            <a:xfrm>
              <a:off x="494" y="2567"/>
              <a:ext cx="10082" cy="6314"/>
            </a:xfrm>
            <a:prstGeom prst="rect">
              <a:avLst/>
            </a:prstGeom>
            <a:noFill/>
            <a:ln w="12700" cap="flat" cmpd="sng" algn="ctr">
              <a:solidFill>
                <a:schemeClr val="accent4">
                  <a:lumMod val="50000"/>
                </a:schemeClr>
              </a:solidFill>
              <a:prstDash val="dash"/>
              <a:miter lim="800000"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chemeClr val="accent4">
                      <a:lumMod val="50000"/>
                      <a:alpha val="10000"/>
                    </a:schemeClr>
                  </a:solidFill>
                </a14:hiddenFill>
              </a:ext>
            </a:extLst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>
                <a:noFill/>
              </a:endParaRPr>
            </a:p>
          </p:txBody>
        </p:sp>
        <p:sp>
          <p:nvSpPr>
            <p:cNvPr id="105" name="文本框 104"/>
            <p:cNvSpPr txBox="1"/>
            <p:nvPr/>
          </p:nvSpPr>
          <p:spPr>
            <a:xfrm>
              <a:off x="547" y="2655"/>
              <a:ext cx="10029" cy="6226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lvl="0" indent="0" algn="ctr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r>
                <a:rPr lang="zh-CN" altLang="en-US">
                  <a:solidFill>
                    <a:schemeClr val="tx1"/>
                  </a:solidFill>
                  <a:latin typeface="黑体" charset="0"/>
                  <a:ea typeface="黑体" charset="0"/>
                </a:rPr>
                <a:t>实验研究</a:t>
              </a:r>
              <a:endParaRPr lang="zh-CN" altLang="en-US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lvl="0" indent="0" algn="l" fontAlgn="auto">
                <a:lnSpc>
                  <a:spcPct val="110000"/>
                </a:lnSpc>
                <a:buFont typeface="Arial" panose="020B0604020202090204" pitchFamily="34" charset="0"/>
                <a:buNone/>
              </a:pPr>
              <a:endParaRPr lang="zh-CN" altLang="en-US" sz="500">
                <a:solidFill>
                  <a:schemeClr val="tx1"/>
                </a:solidFill>
                <a:latin typeface="黑体" charset="0"/>
                <a:ea typeface="黑体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根因先验知识提取实验</a:t>
              </a:r>
              <a:b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</a:b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对比实验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；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验证</a:t>
              </a:r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根因得分高质量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根因先验引导的异常检测增强实验</a:t>
              </a:r>
              <a:b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</a:b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对比实验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消融实验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、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案例分析</a:t>
              </a:r>
              <a:r>
                <a:rPr lang="en-US" altLang="zh-CN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；</a:t>
              </a:r>
              <a:r>
                <a:rPr lang="zh-CN" altLang="en-US">
                  <a:solidFill>
                    <a:schemeClr val="tx1"/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验证</a:t>
              </a:r>
              <a:r>
                <a:rPr lang="zh-CN" altLang="en-US">
                  <a:solidFill>
                    <a:schemeClr val="accent6">
                      <a:lumMod val="50000"/>
                    </a:schemeClr>
                  </a:solidFill>
                  <a:latin typeface="宋体" charset="0"/>
                  <a:ea typeface="宋体" charset="0"/>
                  <a:cs typeface="Times New Roman" panose="02020503050405090304" charset="0"/>
                </a:rPr>
                <a:t>增强作用</a:t>
              </a: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  <a:p>
              <a:pPr marL="285750" lvl="0" indent="-285750" algn="l" fontAlgn="auto">
                <a:lnSpc>
                  <a:spcPct val="110000"/>
                </a:lnSpc>
                <a:buFont typeface="Arial" panose="020B0604020202090204" pitchFamily="34" charset="0"/>
                <a:buChar char="•"/>
              </a:pPr>
              <a:endParaRPr lang="zh-CN" altLang="en-US">
                <a:solidFill>
                  <a:schemeClr val="tx1"/>
                </a:solidFill>
                <a:latin typeface="宋体" charset="0"/>
                <a:ea typeface="宋体" charset="0"/>
                <a:cs typeface="Times New Roman" panose="02020503050405090304" charset="0"/>
              </a:endParaRPr>
            </a:p>
          </p:txBody>
        </p:sp>
      </p:grpSp>
      <p:pic>
        <p:nvPicPr>
          <p:cNvPr id="106" name="图片 105" descr="图片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00" y="4353560"/>
            <a:ext cx="5106670" cy="1503680"/>
          </a:xfrm>
          <a:prstGeom prst="rect">
            <a:avLst/>
          </a:prstGeom>
        </p:spPr>
      </p:pic>
      <p:pic>
        <p:nvPicPr>
          <p:cNvPr id="107" name="图片 106" descr="图片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715" y="2930525"/>
            <a:ext cx="575310" cy="958850"/>
          </a:xfrm>
          <a:prstGeom prst="rect">
            <a:avLst/>
          </a:prstGeom>
        </p:spPr>
      </p:pic>
      <p:pic>
        <p:nvPicPr>
          <p:cNvPr id="108" name="图片 107" descr="图片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7900" y="2955925"/>
            <a:ext cx="709930" cy="927735"/>
          </a:xfrm>
          <a:prstGeom prst="rect">
            <a:avLst/>
          </a:prstGeom>
        </p:spPr>
      </p:pic>
      <p:pic>
        <p:nvPicPr>
          <p:cNvPr id="109" name="图片 108" descr="图片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1975" y="2943860"/>
            <a:ext cx="687070" cy="958850"/>
          </a:xfrm>
          <a:prstGeom prst="rect">
            <a:avLst/>
          </a:prstGeom>
        </p:spPr>
      </p:pic>
      <p:pic>
        <p:nvPicPr>
          <p:cNvPr id="110" name="图片 109" descr="图片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1270" y="3064510"/>
            <a:ext cx="908050" cy="701675"/>
          </a:xfrm>
          <a:prstGeom prst="rect">
            <a:avLst/>
          </a:prstGeom>
        </p:spPr>
      </p:pic>
      <p:pic>
        <p:nvPicPr>
          <p:cNvPr id="117" name="图片 116" descr="图片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7755" y="2985770"/>
            <a:ext cx="768985" cy="851535"/>
          </a:xfrm>
          <a:prstGeom prst="rect">
            <a:avLst/>
          </a:prstGeom>
        </p:spPr>
      </p:pic>
      <p:pic>
        <p:nvPicPr>
          <p:cNvPr id="118" name="图片 117" descr="图片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8660" y="2967355"/>
            <a:ext cx="675640" cy="779780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27" name="矩形 26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预期计划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  <a:sym typeface="+mn-ea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1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31" name="图片 30" descr="截屏2026-09-08 12.53.2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33" name="矩形 32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8/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9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551180" y="830580"/>
            <a:ext cx="10554195" cy="520700"/>
            <a:chOff x="868" y="1308"/>
            <a:chExt cx="11636" cy="820"/>
          </a:xfrm>
        </p:grpSpPr>
        <p:grpSp>
          <p:nvGrpSpPr>
            <p:cNvPr id="16" name="组合 15"/>
            <p:cNvGrpSpPr/>
            <p:nvPr/>
          </p:nvGrpSpPr>
          <p:grpSpPr>
            <a:xfrm>
              <a:off x="868" y="2128"/>
              <a:ext cx="3369" cy="0"/>
              <a:chOff x="868" y="2128"/>
              <a:chExt cx="3369" cy="0"/>
            </a:xfrm>
          </p:grpSpPr>
          <p:cxnSp>
            <p:nvCxnSpPr>
              <p:cNvPr id="22" name="直接连接符 21"/>
              <p:cNvCxnSpPr/>
              <p:nvPr/>
            </p:nvCxnSpPr>
            <p:spPr>
              <a:xfrm>
                <a:off x="868" y="2128"/>
                <a:ext cx="397" cy="0"/>
              </a:xfrm>
              <a:prstGeom prst="line">
                <a:avLst/>
              </a:prstGeom>
              <a:ln w="25400" cap="flat" cmpd="sng">
                <a:solidFill>
                  <a:srgbClr val="4B0088"/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" name="直接连接符 22"/>
              <p:cNvCxnSpPr/>
              <p:nvPr/>
            </p:nvCxnSpPr>
            <p:spPr>
              <a:xfrm>
                <a:off x="1260" y="2128"/>
                <a:ext cx="2977" cy="0"/>
              </a:xfrm>
              <a:prstGeom prst="line">
                <a:avLst/>
              </a:prstGeom>
              <a:ln w="25400" cap="flat" cmpd="sng">
                <a:solidFill>
                  <a:schemeClr val="bg1">
                    <a:lumMod val="95000"/>
                  </a:schemeClr>
                </a:solidFill>
                <a:prstDash val="solid"/>
                <a:miter lim="800000"/>
                <a:headEnd type="none"/>
                <a:tailEnd type="non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4" name="文本框 23"/>
            <p:cNvSpPr txBox="1"/>
            <p:nvPr/>
          </p:nvSpPr>
          <p:spPr>
            <a:xfrm>
              <a:off x="869" y="1308"/>
              <a:ext cx="11635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</a:rPr>
                <a:t>&gt; </a:t>
              </a:r>
              <a:r>
                <a:rPr lang="en-US" altLang="zh-CN" sz="2400">
                  <a:solidFill>
                    <a:srgbClr val="4B0088"/>
                  </a:solidFill>
                  <a:latin typeface="黑体" charset="0"/>
                  <a:ea typeface="黑体" charset="0"/>
                  <a:sym typeface="+mn-ea"/>
                </a:rPr>
                <a:t>PPT</a:t>
              </a:r>
              <a:r>
                <a:rPr lang="zh-CN" altLang="en-US" sz="2400">
                  <a:solidFill>
                    <a:srgbClr val="4B0088"/>
                  </a:solidFill>
                  <a:latin typeface="黑体" charset="0"/>
                  <a:ea typeface="黑体" charset="0"/>
                  <a:sym typeface="+mn-ea"/>
                </a:rPr>
                <a:t>中的参考文献</a:t>
              </a:r>
              <a:endParaRPr lang="zh-CN" altLang="en-US" sz="2400">
                <a:solidFill>
                  <a:srgbClr val="4B0088"/>
                </a:solidFill>
                <a:latin typeface="黑体" charset="0"/>
                <a:ea typeface="黑体" charset="0"/>
                <a:sym typeface="+mn-ea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363220" y="1565910"/>
            <a:ext cx="11464925" cy="4439920"/>
            <a:chOff x="580" y="2424"/>
            <a:chExt cx="18055" cy="6992"/>
          </a:xfrm>
        </p:grpSpPr>
        <p:sp>
          <p:nvSpPr>
            <p:cNvPr id="39" name="文本框 38"/>
            <p:cNvSpPr txBox="1"/>
            <p:nvPr/>
          </p:nvSpPr>
          <p:spPr>
            <a:xfrm>
              <a:off x="580" y="2424"/>
              <a:ext cx="8770" cy="699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marL="342900" indent="-342900" algn="l">
                <a:lnSpc>
                  <a:spcPct val="100000"/>
                </a:lnSpc>
                <a:buAutoNum type="arabicPeriod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Lou C, Chen C, Huang P, et al. {RESIN}: A holistic service for dealing with memory leaks in production cloud infrastructure[C]//16th USENIX Symposium on Operating Systems Design and Implementation (OSDI 22). 2022: 109-125.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Gu Y, Xiong Y, Mace J, et al. Argos: Agentic time-series anomaly detection with autonomous rule generation via large language models[J]. arXiv preprint arXiv:2501.14170, 2025.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Alnegheimish S, Nguyen L, Berti-Equille L, et al. Large language models can be zero-shot anomaly detectors for time series?[J]. arXiv preprint arXiv:2405.14755, 2024.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lnSpc>
                  <a:spcPct val="100000"/>
                </a:lnSpc>
                <a:buAutoNum type="arabicPeriod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Liu J, Zhang C, Qian J, et al. Large language models can deliver accurate and interpretable time series anomaly detection[C]//Proceedings of the 31st ACM SIGKDD Conference on Knowledge Discovery and Data Mining V. 2. 2025: 4623-4634.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9865" y="2424"/>
              <a:ext cx="8770" cy="6992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p>
              <a:pPr marL="342900" indent="-342900" algn="l">
                <a:buFont typeface="+mj-lt"/>
                <a:buAutoNum type="arabicPeriod" startAt="5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Ren H, Xu B, Wang Y, et al. Time-series anomaly detection service at microsoft[C]//Proceedings of the 25th ACM SIGKDD international conference on knowledge discovery &amp; data mining. 2019: 3009-3017.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Chen Z, Chen D, Zhang X, et al. Learning graph structures with transformer for multivariate time-series anomaly detection in IoT[J]. IEEE Internet of Things Journal, 2021, 9(12): 9179-9189.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Zamanzadeh Darban Z, Webb G I, Pan S, et al. Deep learning for time series anomaly detection: A survey[J]. ACM Computing Surveys, 2024, 57(1): 1-42.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endParaRPr lang="en-US" altLang="zh-CN" sz="5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  <a:p>
              <a:pPr marL="342900" indent="-342900" algn="l">
                <a:buFont typeface="+mj-lt"/>
                <a:buAutoNum type="arabicPeriod" startAt="5"/>
              </a:pPr>
              <a:r>
                <a:rPr lang="en-US" altLang="zh-CN" sz="16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Times New Roman" panose="02020503050405090304" charset="0"/>
                  <a:cs typeface="Times New Roman" panose="02020503050405090304" charset="0"/>
                </a:rPr>
                <a:t>Han X, Absar S, Zhang L, et al. Root cause analysis of anomalies in multivariate time series through granger causal discovery[C]//The Thirteenth International Conference on Learning Representations. 2025.</a:t>
              </a:r>
              <a:endParaRPr lang="en-US" altLang="zh-CN" sz="16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503050405090304" charset="0"/>
                <a:cs typeface="Times New Roman" panose="02020503050405090304" charset="0"/>
              </a:endParaRPr>
            </a:p>
          </p:txBody>
        </p:sp>
      </p:grpSp>
      <p:grpSp>
        <p:nvGrpSpPr>
          <p:cNvPr id="25" name="组合 24"/>
          <p:cNvGrpSpPr/>
          <p:nvPr/>
        </p:nvGrpSpPr>
        <p:grpSpPr>
          <a:xfrm>
            <a:off x="635" y="0"/>
            <a:ext cx="12129135" cy="608965"/>
            <a:chOff x="1" y="0"/>
            <a:chExt cx="19101" cy="959"/>
          </a:xfrm>
        </p:grpSpPr>
        <p:sp>
          <p:nvSpPr>
            <p:cNvPr id="27" name="矩形 26"/>
            <p:cNvSpPr/>
            <p:nvPr/>
          </p:nvSpPr>
          <p:spPr>
            <a:xfrm>
              <a:off x="1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选题依据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970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</a:rPr>
                <a:t>开发方案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7939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>
                  <a:solidFill>
                    <a:schemeClr val="bg1">
                      <a:lumMod val="75000"/>
                    </a:schemeClr>
                  </a:solidFill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预期计划</a:t>
              </a:r>
              <a:endParaRPr lang="zh-CN" altLang="en-US" sz="2400">
                <a:solidFill>
                  <a:schemeClr val="bg1">
                    <a:lumMod val="75000"/>
                  </a:schemeClr>
                </a:solidFill>
                <a:latin typeface="华文仿宋" panose="02010600040101010101" charset="-122"/>
                <a:ea typeface="华文仿宋" panose="02010600040101010101" charset="-122"/>
                <a:sym typeface="+mn-ea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11908" y="0"/>
              <a:ext cx="3969" cy="941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400" b="1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参考文献</a:t>
              </a:r>
              <a:r>
                <a:rPr lang="en-US" altLang="zh-CN" sz="2400" b="1" baseline="-25000">
                  <a:solidFill>
                    <a:schemeClr val="bg1"/>
                  </a:solidFill>
                  <a:latin typeface="华文仿宋" panose="02010600040101010101" charset="-122"/>
                  <a:ea typeface="华文仿宋" panose="02010600040101010101" charset="-122"/>
                </a:rPr>
                <a:t>2</a:t>
              </a:r>
              <a:endParaRPr lang="en-US" altLang="zh-CN" sz="2400" b="1" baseline="-25000">
                <a:solidFill>
                  <a:schemeClr val="bg1"/>
                </a:solidFill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pic>
          <p:nvPicPr>
            <p:cNvPr id="31" name="图片 30" descr="截屏2026-09-08 12.53.2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10" y="73"/>
              <a:ext cx="2892" cy="886"/>
            </a:xfrm>
            <a:prstGeom prst="rect">
              <a:avLst/>
            </a:prstGeom>
          </p:spPr>
        </p:pic>
      </p:grpSp>
      <p:grpSp>
        <p:nvGrpSpPr>
          <p:cNvPr id="32" name="组合 31"/>
          <p:cNvGrpSpPr/>
          <p:nvPr/>
        </p:nvGrpSpPr>
        <p:grpSpPr>
          <a:xfrm>
            <a:off x="0" y="6263640"/>
            <a:ext cx="12192000" cy="594360"/>
            <a:chOff x="0" y="9864"/>
            <a:chExt cx="19200" cy="936"/>
          </a:xfrm>
        </p:grpSpPr>
        <p:sp>
          <p:nvSpPr>
            <p:cNvPr id="33" name="矩形 32"/>
            <p:cNvSpPr/>
            <p:nvPr/>
          </p:nvSpPr>
          <p:spPr>
            <a:xfrm>
              <a:off x="0" y="10332"/>
              <a:ext cx="18210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(7) DeepCAVE-X: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基于强化学习的自适应 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  <a:sym typeface="+mn-ea"/>
                </a:rPr>
                <a:t>HPO Setup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211" y="10332"/>
              <a:ext cx="989" cy="468"/>
            </a:xfrm>
            <a:prstGeom prst="rect">
              <a:avLst/>
            </a:prstGeom>
            <a:solidFill>
              <a:srgbClr val="4B008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9/</a:t>
              </a:r>
              <a:endParaRPr lang="en-US" altLang="zh-CN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0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just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王羿珧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2026211232</a:t>
              </a:r>
              <a:endParaRPr lang="en-US" altLang="zh-CN" sz="1600">
                <a:latin typeface="Times New Roman" panose="02020503050405090304" charset="0"/>
                <a:ea typeface="华文仿宋" panose="02010600040101010101" charset="-122"/>
                <a:cs typeface="Times New Roman" panose="02020503050405090304" charset="0"/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6236" y="9864"/>
              <a:ext cx="6729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经硕</a:t>
              </a:r>
              <a:r>
                <a:rPr lang="en-US" altLang="zh-CN" sz="1600">
                  <a:latin typeface="Times New Roman" panose="02020503050405090304" charset="0"/>
                  <a:ea typeface="华文仿宋" panose="02010600040101010101" charset="-122"/>
                  <a:cs typeface="Times New Roman" panose="02020503050405090304" charset="0"/>
                </a:rPr>
                <a:t> 261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 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管理科学与工程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2964" y="9864"/>
              <a:ext cx="6236" cy="46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r"/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指导教师</a:t>
              </a:r>
              <a:r>
                <a:rPr lang="en-US" altLang="zh-CN" sz="1600">
                  <a:latin typeface="华文仿宋" panose="02010600040101010101" charset="-122"/>
                  <a:ea typeface="华文仿宋" panose="02010600040101010101" charset="-122"/>
                </a:rPr>
                <a:t>：</a:t>
              </a:r>
              <a:r>
                <a:rPr lang="zh-CN" altLang="en-US" sz="1600">
                  <a:latin typeface="华文仿宋" panose="02010600040101010101" charset="-122"/>
                  <a:ea typeface="华文仿宋" panose="02010600040101010101" charset="-122"/>
                </a:rPr>
                <a:t>胡鹤</a:t>
              </a:r>
              <a:endParaRPr lang="zh-CN" altLang="en-US" sz="1600">
                <a:latin typeface="华文仿宋" panose="02010600040101010101" charset="-122"/>
                <a:ea typeface="华文仿宋" panose="02010600040101010101" charset="-122"/>
              </a:endParaRPr>
            </a:p>
          </p:txBody>
        </p:sp>
      </p:grpSp>
    </p:spTree>
    <p:custDataLst>
      <p:tags r:id="rId2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-100965" y="1638300"/>
            <a:ext cx="12443460" cy="3582035"/>
          </a:xfrm>
          <a:prstGeom prst="rect">
            <a:avLst/>
          </a:prstGeom>
          <a:solidFill>
            <a:srgbClr val="7030A0"/>
          </a:solidFill>
          <a:ln w="12700" cap="flat" cmpd="sng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直角三角形 7"/>
          <p:cNvSpPr/>
          <p:nvPr/>
        </p:nvSpPr>
        <p:spPr>
          <a:xfrm>
            <a:off x="4069715" y="1301750"/>
            <a:ext cx="218440" cy="33655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剪去同侧角的矩形 9"/>
          <p:cNvSpPr/>
          <p:nvPr/>
        </p:nvSpPr>
        <p:spPr>
          <a:xfrm rot="10800000">
            <a:off x="790575" y="1300480"/>
            <a:ext cx="3279140" cy="3319780"/>
          </a:xfrm>
          <a:prstGeom prst="snip2SameRect">
            <a:avLst>
              <a:gd name="adj1" fmla="val 27749"/>
              <a:gd name="adj2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751830" y="3608070"/>
            <a:ext cx="5247640" cy="52197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algn="ctr"/>
            <a:r>
              <a:rPr lang="zh-CN" altLang="en-US" sz="2800">
                <a:solidFill>
                  <a:schemeClr val="bg1"/>
                </a:solidFill>
                <a:latin typeface="黑体" charset="0"/>
                <a:ea typeface="黑体" charset="0"/>
              </a:rPr>
              <a:t>王羿珧</a:t>
            </a:r>
            <a:r>
              <a:rPr lang="en-US" altLang="zh-CN" sz="2800">
                <a:solidFill>
                  <a:schemeClr val="bg1"/>
                </a:solidFill>
                <a:latin typeface="黑体" charset="0"/>
                <a:ea typeface="黑体" charset="0"/>
              </a:rPr>
              <a:t> </a:t>
            </a:r>
            <a:r>
              <a:rPr lang="en-US" altLang="zh-CN" sz="2800">
                <a:solidFill>
                  <a:schemeClr val="bg1"/>
                </a:solidFill>
                <a:latin typeface="Times New Roman" panose="02020503050405090304" charset="0"/>
                <a:ea typeface="黑体" charset="0"/>
                <a:cs typeface="Times New Roman" panose="02020503050405090304" charset="0"/>
              </a:rPr>
              <a:t>2026211232</a:t>
            </a:r>
            <a:endParaRPr lang="zh-CN" altLang="en-US" sz="2400">
              <a:solidFill>
                <a:schemeClr val="bg1"/>
              </a:solidFill>
              <a:latin typeface="黑体" charset="0"/>
              <a:ea typeface="黑体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288155" y="2576513"/>
            <a:ext cx="7646035" cy="76835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p>
            <a:pPr lvl="1" algn="ctr"/>
            <a:r>
              <a:rPr lang="zh-CN" altLang="en-US" sz="4400" b="1">
                <a:solidFill>
                  <a:schemeClr val="bg1"/>
                </a:solidFill>
                <a:latin typeface="仿宋_GB2312" panose="02010609030101010101" charset="-122"/>
                <a:ea typeface="仿宋_GB2312" panose="02010609030101010101" charset="-122"/>
                <a:sym typeface="+mn-ea"/>
              </a:rPr>
              <a:t>请老师批评</a:t>
            </a:r>
            <a:r>
              <a:rPr lang="zh-CN" altLang="en-US" sz="4400" b="1">
                <a:solidFill>
                  <a:schemeClr val="bg1"/>
                </a:solidFill>
                <a:latin typeface="仿宋_GB2312" panose="02010609030101010101" charset="-122"/>
                <a:ea typeface="仿宋_GB2312" panose="02010609030101010101" charset="-122"/>
                <a:sym typeface="+mn-ea"/>
              </a:rPr>
              <a:t>指正</a:t>
            </a:r>
            <a:endParaRPr lang="zh-CN" altLang="en-US" sz="4400" b="1">
              <a:solidFill>
                <a:schemeClr val="bg1"/>
              </a:solidFill>
              <a:latin typeface="仿宋_GB2312" panose="02010609030101010101" charset="-122"/>
              <a:ea typeface="仿宋_GB2312" panose="02010609030101010101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05095" y="6269990"/>
            <a:ext cx="1831975" cy="337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solidFill>
                  <a:srgbClr val="7030A0"/>
                </a:solidFill>
                <a:latin typeface="Silom" panose="00000400000000000000" charset="0"/>
                <a:cs typeface="Silom" panose="00000400000000000000" charset="0"/>
              </a:rPr>
              <a:t>2026. 09. 13</a:t>
            </a:r>
            <a:endParaRPr lang="en-US" altLang="zh-CN">
              <a:solidFill>
                <a:srgbClr val="7030A0"/>
              </a:solidFill>
              <a:latin typeface="Silom" panose="00000400000000000000" charset="0"/>
              <a:cs typeface="Silom" panose="00000400000000000000" charset="0"/>
            </a:endParaRPr>
          </a:p>
        </p:txBody>
      </p:sp>
      <p:pic>
        <p:nvPicPr>
          <p:cNvPr id="9" name="图片 8" descr="截屏2026-09-08 12.53.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0460" y="137160"/>
            <a:ext cx="2004695" cy="614045"/>
          </a:xfrm>
          <a:prstGeom prst="rect">
            <a:avLst/>
          </a:prstGeom>
        </p:spPr>
      </p:pic>
      <p:pic>
        <p:nvPicPr>
          <p:cNvPr id="11" name="图片 10" descr="截屏2026-09-08 12.55.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137920"/>
            <a:ext cx="2479040" cy="2944495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"/>
  <p:tag name="KSO_WM_DIAGRAM_VIRTUALLY_FRAME" val="{&quot;height&quot;:512.503937007874,&quot;left&quot;:0,&quot;top&quot;:0,&quot;width&quot;:960}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4341</Words>
  <Application>WPS 文字</Application>
  <PresentationFormat>宽屏</PresentationFormat>
  <Paragraphs>470</Paragraphs>
  <Slides>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41" baseType="lpstr">
      <vt:lpstr>Arial</vt:lpstr>
      <vt:lpstr>宋体</vt:lpstr>
      <vt:lpstr>Wingdings</vt:lpstr>
      <vt:lpstr>Wingdings</vt:lpstr>
      <vt:lpstr>黑体</vt:lpstr>
      <vt:lpstr>汉仪中黑KW</vt:lpstr>
      <vt:lpstr>Times New Roman</vt:lpstr>
      <vt:lpstr>仿宋_GB2312</vt:lpstr>
      <vt:lpstr>Silom</vt:lpstr>
      <vt:lpstr>华文仿宋</vt:lpstr>
      <vt:lpstr>Source Han Sans SC Bold</vt:lpstr>
      <vt:lpstr>Times New Roman Bold</vt:lpstr>
      <vt:lpstr>宋体</vt:lpstr>
      <vt:lpstr>Times New Roman Bold Italic</vt:lpstr>
      <vt:lpstr>苹方-简</vt:lpstr>
      <vt:lpstr>微软雅黑</vt:lpstr>
      <vt:lpstr>方正雅意黑 GB18030L2</vt:lpstr>
      <vt:lpstr>Arial Unicode MS</vt:lpstr>
      <vt:lpstr>Times New Roman Regular</vt:lpstr>
      <vt:lpstr>宋体</vt:lpstr>
      <vt:lpstr>Times New Roman</vt:lpstr>
      <vt:lpstr>Times New Roman Bold</vt:lpstr>
      <vt:lpstr>汉仪书宋二KW</vt:lpstr>
      <vt:lpstr>Source Han Sans SC Bold</vt:lpstr>
      <vt:lpstr>Apple Color Emoji</vt:lpstr>
      <vt:lpstr>WPS</vt:lpstr>
      <vt:lpstr>PowerPoint 演示文稿</vt:lpstr>
      <vt:lpstr>&gt; 研究动机</vt:lpstr>
      <vt:lpstr>PowerPoint 演示文稿</vt:lpstr>
      <vt:lpstr>PowerPoint 演示文稿</vt:lpstr>
      <vt:lpstr>PowerPoint 演示文稿</vt:lpstr>
      <vt:lpstr>&gt; 研究方案</vt:lpstr>
      <vt:lpstr>PowerPoint 演示文稿</vt:lpstr>
      <vt:lpstr>PowerPoint 演示文稿</vt:lpstr>
      <vt:lpstr>&gt; 模型设计</vt:lpstr>
      <vt:lpstr>PowerPoint 演示文稿</vt:lpstr>
      <vt:lpstr>PowerPoint 演示文稿</vt:lpstr>
      <vt:lpstr>&gt; 实验研究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王羿珧(2026211232)</cp:lastModifiedBy>
  <cp:revision>1649</cp:revision>
  <dcterms:created xsi:type="dcterms:W3CDTF">2026-09-11T07:38:16Z</dcterms:created>
  <dcterms:modified xsi:type="dcterms:W3CDTF">2026-09-11T07:38:16Z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A8AA0057B8F4E21F71939F6A0F567AB7_43</vt:lpwstr>
  </property>
</Properties>
</file>