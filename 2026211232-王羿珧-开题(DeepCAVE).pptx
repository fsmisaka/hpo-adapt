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8" r:id="rId3"/>
    <p:sldId id="281" r:id="rId5"/>
    <p:sldId id="257" r:id="rId6"/>
    <p:sldId id="259" r:id="rId7"/>
    <p:sldId id="260" r:id="rId8"/>
    <p:sldId id="283" r:id="rId9"/>
    <p:sldId id="261" r:id="rId10"/>
    <p:sldId id="262" r:id="rId11"/>
    <p:sldId id="289" r:id="rId12"/>
    <p:sldId id="284" r:id="rId13"/>
    <p:sldId id="265" r:id="rId14"/>
    <p:sldId id="288" r:id="rId15"/>
    <p:sldId id="285" r:id="rId16"/>
    <p:sldId id="279" r:id="rId17"/>
    <p:sldId id="280" r:id="rId18"/>
    <p:sldId id="28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0088"/>
    <a:srgbClr val="E6E6FA"/>
    <a:srgbClr val="B743E3"/>
    <a:srgbClr val="FFFFFF"/>
    <a:srgbClr val="1E386B"/>
    <a:srgbClr val="005BAC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1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6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0.xml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2.xml"/><Relationship Id="rId4" Type="http://schemas.openxmlformats.org/officeDocument/2006/relationships/image" Target="../media/image14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5.xml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0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00965" y="1638300"/>
            <a:ext cx="12443460" cy="3582035"/>
          </a:xfrm>
          <a:prstGeom prst="rect">
            <a:avLst/>
          </a:prstGeom>
          <a:solidFill>
            <a:srgbClr val="7030A0"/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直角三角形 7"/>
          <p:cNvSpPr/>
          <p:nvPr/>
        </p:nvSpPr>
        <p:spPr>
          <a:xfrm>
            <a:off x="4069715" y="1301750"/>
            <a:ext cx="218440" cy="336550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剪去同侧角的矩形 9"/>
          <p:cNvSpPr/>
          <p:nvPr/>
        </p:nvSpPr>
        <p:spPr>
          <a:xfrm rot="10800000">
            <a:off x="790575" y="1300480"/>
            <a:ext cx="3279140" cy="3319780"/>
          </a:xfrm>
          <a:prstGeom prst="snip2SameRect">
            <a:avLst>
              <a:gd name="adj1" fmla="val 27749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751830" y="4319270"/>
            <a:ext cx="5247640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黑体" charset="0"/>
                <a:ea typeface="黑体" charset="0"/>
              </a:rPr>
              <a:t>王羿珧</a:t>
            </a:r>
            <a:r>
              <a:rPr lang="en-US" altLang="zh-CN" sz="2800">
                <a:solidFill>
                  <a:schemeClr val="bg1"/>
                </a:solidFill>
                <a:latin typeface="黑体" charset="0"/>
                <a:ea typeface="黑体" charset="0"/>
              </a:rPr>
              <a:t> </a:t>
            </a:r>
            <a:r>
              <a:rPr lang="en-US" altLang="zh-CN" sz="2800">
                <a:solidFill>
                  <a:schemeClr val="bg1"/>
                </a:solidFill>
                <a:latin typeface="Times New Roman" panose="02020503050405090304" charset="0"/>
                <a:ea typeface="黑体" charset="0"/>
                <a:cs typeface="Times New Roman" panose="02020503050405090304" charset="0"/>
              </a:rPr>
              <a:t>2026211232</a:t>
            </a:r>
            <a:endParaRPr lang="zh-CN" altLang="en-US" sz="240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288155" y="2238058"/>
            <a:ext cx="7646035" cy="14452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1" algn="ctr"/>
            <a:r>
              <a:rPr lang="en-US" altLang="zh-CN" sz="4400" b="1">
                <a:solidFill>
                  <a:schemeClr val="bg1"/>
                </a:solidFill>
                <a:latin typeface="Times New Roman" panose="02020503050405090304" charset="0"/>
                <a:ea typeface="仿宋_GB2312" panose="02010609030101010101" charset="-122"/>
                <a:cs typeface="Times New Roman" panose="02020503050405090304" charset="0"/>
                <a:sym typeface="+mn-ea"/>
              </a:rPr>
              <a:t>(7) DeepCAVE-X: </a:t>
            </a:r>
            <a:r>
              <a:rPr lang="zh-CN" altLang="en-US" sz="4400" b="1">
                <a:solidFill>
                  <a:schemeClr val="bg1"/>
                </a:solidFill>
                <a:latin typeface="Times New Roman" panose="02020503050405090304" charset="0"/>
                <a:ea typeface="仿宋_GB2312" panose="02010609030101010101" charset="-122"/>
                <a:cs typeface="Times New Roman" panose="02020503050405090304" charset="0"/>
                <a:sym typeface="+mn-ea"/>
              </a:rPr>
              <a:t>基于强化学习的自适应 </a:t>
            </a:r>
            <a:r>
              <a:rPr lang="en-US" altLang="zh-CN" sz="4400" b="1">
                <a:solidFill>
                  <a:schemeClr val="bg1"/>
                </a:solidFill>
                <a:latin typeface="Times New Roman" panose="02020503050405090304" charset="0"/>
                <a:ea typeface="仿宋_GB2312" panose="02010609030101010101" charset="-122"/>
                <a:cs typeface="Times New Roman" panose="02020503050405090304" charset="0"/>
                <a:sym typeface="+mn-ea"/>
              </a:rPr>
              <a:t>HPO </a:t>
            </a:r>
            <a:r>
              <a:rPr lang="zh-CN" altLang="en-US" sz="4400" b="1">
                <a:solidFill>
                  <a:schemeClr val="bg1"/>
                </a:solidFill>
                <a:latin typeface="Times New Roman" panose="02020503050405090304" charset="0"/>
                <a:ea typeface="仿宋_GB2312" panose="02010609030101010101" charset="-122"/>
                <a:cs typeface="Times New Roman" panose="02020503050405090304" charset="0"/>
                <a:sym typeface="+mn-ea"/>
              </a:rPr>
              <a:t>配置</a:t>
            </a:r>
            <a:endParaRPr lang="zh-CN" altLang="en-US" sz="4400" b="1">
              <a:solidFill>
                <a:schemeClr val="bg1"/>
              </a:solidFill>
              <a:latin typeface="Times New Roman" panose="02020503050405090304" charset="0"/>
              <a:ea typeface="仿宋_GB2312" panose="02010609030101010101" charset="-122"/>
              <a:cs typeface="Times New Roman" panose="0202050305040509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05095" y="6269990"/>
            <a:ext cx="183197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7030A0"/>
                </a:solidFill>
                <a:latin typeface="Silom" panose="00000400000000000000" charset="0"/>
                <a:cs typeface="Silom" panose="00000400000000000000" charset="0"/>
              </a:rPr>
              <a:t>2026. 09. 13</a:t>
            </a:r>
            <a:endParaRPr lang="en-US" altLang="zh-CN">
              <a:solidFill>
                <a:srgbClr val="7030A0"/>
              </a:solidFill>
              <a:latin typeface="Silom" panose="00000400000000000000" charset="0"/>
              <a:cs typeface="Silom" panose="00000400000000000000" charset="0"/>
            </a:endParaRPr>
          </a:p>
        </p:txBody>
      </p:sp>
      <p:pic>
        <p:nvPicPr>
          <p:cNvPr id="11" name="图片 10" descr="截屏2026-09-08 12.55.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625" y="1137920"/>
            <a:ext cx="2479040" cy="29444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>
                <a:solidFill>
                  <a:srgbClr val="4B0088"/>
                </a:solidFill>
                <a:latin typeface="黑体" charset="0"/>
                <a:ea typeface="黑体" charset="0"/>
              </a:rPr>
              <a:t>&gt; </a:t>
            </a:r>
            <a:r>
              <a:rPr lang="zh-CN" altLang="en-US">
                <a:solidFill>
                  <a:srgbClr val="4B0088"/>
                </a:solidFill>
                <a:latin typeface="黑体" charset="0"/>
                <a:ea typeface="黑体" charset="0"/>
              </a:rPr>
              <a:t>选题依据</a:t>
            </a:r>
            <a:endParaRPr lang="zh-CN" altLang="en-US">
              <a:solidFill>
                <a:srgbClr val="4B0088"/>
              </a:solidFill>
              <a:latin typeface="黑体" charset="0"/>
              <a:ea typeface="黑体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rgbClr val="7030A0"/>
                </a:solidFill>
                <a:latin typeface="黑体" charset="0"/>
                <a:ea typeface="黑体" charset="0"/>
              </a:rPr>
              <a:t>选题背景</a:t>
            </a:r>
            <a:r>
              <a:rPr lang="en-US" altLang="zh-CN">
                <a:solidFill>
                  <a:srgbClr val="7030A0"/>
                </a:solidFill>
                <a:latin typeface="黑体" charset="0"/>
                <a:ea typeface="黑体" charset="0"/>
              </a:rPr>
              <a:t>、</a:t>
            </a:r>
            <a:r>
              <a:rPr lang="zh-CN" altLang="en-US">
                <a:solidFill>
                  <a:srgbClr val="7030A0"/>
                </a:solidFill>
                <a:latin typeface="黑体" charset="0"/>
                <a:ea typeface="黑体" charset="0"/>
              </a:rPr>
              <a:t>研究现状</a:t>
            </a:r>
            <a:r>
              <a:rPr lang="en-US" altLang="zh-CN">
                <a:solidFill>
                  <a:srgbClr val="7030A0"/>
                </a:solidFill>
                <a:latin typeface="黑体" charset="0"/>
                <a:ea typeface="黑体" charset="0"/>
              </a:rPr>
              <a:t>、</a:t>
            </a:r>
            <a:r>
              <a:rPr lang="zh-CN" altLang="en-US">
                <a:solidFill>
                  <a:srgbClr val="7030A0"/>
                </a:solidFill>
                <a:latin typeface="黑体" charset="0"/>
                <a:ea typeface="黑体" charset="0"/>
              </a:rPr>
              <a:t>开发想法</a:t>
            </a:r>
            <a:endParaRPr lang="zh-CN" altLang="en-US">
              <a:solidFill>
                <a:srgbClr val="7030A0"/>
              </a:solidFill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081895" y="0"/>
            <a:ext cx="2110105" cy="597535"/>
          </a:xfrm>
          <a:prstGeom prst="rect">
            <a:avLst/>
          </a:prstGeom>
          <a:solidFill>
            <a:srgbClr val="4B0088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solidFill>
                <a:schemeClr val="bg1">
                  <a:lumMod val="75000"/>
                </a:schemeClr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0" y="6263640"/>
            <a:ext cx="12192000" cy="594360"/>
            <a:chOff x="0" y="9864"/>
            <a:chExt cx="19200" cy="936"/>
          </a:xfrm>
        </p:grpSpPr>
        <p:sp>
          <p:nvSpPr>
            <p:cNvPr id="7" name="矩形 6"/>
            <p:cNvSpPr/>
            <p:nvPr/>
          </p:nvSpPr>
          <p:spPr>
            <a:xfrm>
              <a:off x="0" y="10332"/>
              <a:ext cx="18210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(7) DeepCAVE-X: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基于强化学习的自适应 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HPO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配置</a:t>
              </a:r>
              <a:endParaRPr lang="en-US" altLang="zh-CN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8211" y="10332"/>
              <a:ext cx="989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1/10</a:t>
              </a:r>
              <a:endParaRPr lang="en-US" altLang="zh-CN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王羿珧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2026211232</a:t>
              </a:r>
              <a:endParaRPr lang="en-US" altLang="zh-CN" sz="1600">
                <a:latin typeface="Times New Roman" panose="02020503050405090304" charset="0"/>
                <a:ea typeface="华文仿宋" panose="02010600040101010101" charset="-122"/>
                <a:cs typeface="Times New Roman" panose="02020503050405090304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236" y="9864"/>
              <a:ext cx="6729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经硕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 261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管理科学与工程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2964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指导教师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：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胡鹤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51180" y="830580"/>
            <a:ext cx="3600000" cy="520700"/>
            <a:chOff x="868" y="1308"/>
            <a:chExt cx="3969" cy="820"/>
          </a:xfrm>
        </p:grpSpPr>
        <p:grpSp>
          <p:nvGrpSpPr>
            <p:cNvPr id="19" name="组合 18"/>
            <p:cNvGrpSpPr/>
            <p:nvPr/>
          </p:nvGrpSpPr>
          <p:grpSpPr>
            <a:xfrm>
              <a:off x="868" y="2128"/>
              <a:ext cx="2126" cy="0"/>
              <a:chOff x="868" y="2128"/>
              <a:chExt cx="2126" cy="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868" y="2128"/>
                <a:ext cx="397" cy="0"/>
              </a:xfrm>
              <a:prstGeom prst="line">
                <a:avLst/>
              </a:prstGeom>
              <a:ln w="25400" cap="flat" cmpd="sng">
                <a:solidFill>
                  <a:srgbClr val="4B0088"/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1263" y="2128"/>
                <a:ext cx="1731" cy="0"/>
              </a:xfrm>
              <a:prstGeom prst="line">
                <a:avLst/>
              </a:prstGeom>
              <a:ln w="25400" cap="flat" cmpd="sng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/>
            <p:cNvSpPr txBox="1"/>
            <p:nvPr/>
          </p:nvSpPr>
          <p:spPr>
            <a:xfrm>
              <a:off x="869" y="1308"/>
              <a:ext cx="396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&gt; </a:t>
              </a:r>
              <a:r>
                <a:rPr lang="zh-CN" altLang="en-US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选题背景</a:t>
              </a:r>
              <a:endParaRPr lang="zh-CN" altLang="en-US" sz="2400">
                <a:solidFill>
                  <a:srgbClr val="4B0088"/>
                </a:solidFill>
                <a:latin typeface="黑体" charset="0"/>
                <a:ea typeface="黑体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35" y="0"/>
            <a:ext cx="12129135" cy="608965"/>
            <a:chOff x="1" y="0"/>
            <a:chExt cx="19101" cy="959"/>
          </a:xfrm>
        </p:grpSpPr>
        <p:sp>
          <p:nvSpPr>
            <p:cNvPr id="2" name="矩形 1"/>
            <p:cNvSpPr/>
            <p:nvPr/>
          </p:nvSpPr>
          <p:spPr>
            <a:xfrm>
              <a:off x="1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latin typeface="华文仿宋" panose="02010600040101010101" charset="-122"/>
                  <a:ea typeface="华文仿宋" panose="02010600040101010101" charset="-122"/>
                </a:rPr>
                <a:t>选题依据</a:t>
              </a:r>
              <a:r>
                <a:rPr lang="en-US" altLang="zh-CN" sz="2400" b="1" baseline="-25000"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endParaRPr lang="en-US" altLang="zh-CN" sz="2400" b="1" baseline="-250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3970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开发方案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7939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预期</a:t>
              </a:r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计划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1908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参考文献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pic>
          <p:nvPicPr>
            <p:cNvPr id="26" name="图片 25" descr="截屏2026-09-08 12.53.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10" y="73"/>
              <a:ext cx="2892" cy="886"/>
            </a:xfrm>
            <a:prstGeom prst="rect">
              <a:avLst/>
            </a:prstGeom>
          </p:spPr>
        </p:pic>
      </p:grpSp>
      <p:grpSp>
        <p:nvGrpSpPr>
          <p:cNvPr id="50" name="组合 49"/>
          <p:cNvGrpSpPr/>
          <p:nvPr/>
        </p:nvGrpSpPr>
        <p:grpSpPr>
          <a:xfrm>
            <a:off x="556260" y="1576381"/>
            <a:ext cx="4484370" cy="4125444"/>
            <a:chOff x="11147" y="3053"/>
            <a:chExt cx="7062" cy="6449"/>
          </a:xfrm>
        </p:grpSpPr>
        <p:sp>
          <p:nvSpPr>
            <p:cNvPr id="45" name="文本框 44"/>
            <p:cNvSpPr txBox="1"/>
            <p:nvPr/>
          </p:nvSpPr>
          <p:spPr>
            <a:xfrm>
              <a:off x="11147" y="3053"/>
              <a:ext cx="7062" cy="52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indent="-285750" algn="l">
                <a:buFont typeface="Arial" panose="020B0604020202090204" pitchFamily="34" charset="0"/>
                <a:buChar char="•"/>
              </a:pPr>
              <a:r>
                <a:rPr lang="en-US" altLang="zh-CN" b="1">
                  <a:solidFill>
                    <a:srgbClr val="7030A0"/>
                  </a:solidFill>
                  <a:latin typeface="黑体" charset="0"/>
                  <a:ea typeface="黑体" charset="0"/>
                </a:rPr>
                <a:t>AutoML</a:t>
              </a:r>
              <a:r>
                <a:rPr lang="en-US" altLang="zh-CN">
                  <a:solidFill>
                    <a:schemeClr val="tx1"/>
                  </a:solidFill>
                  <a:latin typeface="黑体" charset="0"/>
                  <a:ea typeface="黑体" charset="0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latin typeface="宋体" charset="0"/>
                  <a:ea typeface="宋体" charset="0"/>
                </a:rPr>
                <a:t>旨在自动化机器学习流程</a:t>
              </a:r>
              <a:r>
                <a:rPr lang="en-US" altLang="zh-CN">
                  <a:solidFill>
                    <a:schemeClr val="tx1"/>
                  </a:solidFill>
                  <a:latin typeface="宋体" charset="0"/>
                  <a:ea typeface="宋体" charset="0"/>
                </a:rPr>
                <a:t>，</a:t>
              </a:r>
              <a:endParaRPr lang="zh-CN" altLang="en-US">
                <a:solidFill>
                  <a:schemeClr val="tx1"/>
                </a:solidFill>
                <a:latin typeface="黑体" charset="0"/>
                <a:ea typeface="黑体" charset="0"/>
              </a:endParaRPr>
            </a:p>
            <a:p>
              <a:pPr indent="0" algn="l">
                <a:buFont typeface="Arial" panose="020B0604020202090204" pitchFamily="34" charset="0"/>
                <a:buNone/>
              </a:pPr>
              <a:r>
                <a:rPr lang="zh-CN" altLang="en-US">
                  <a:solidFill>
                    <a:schemeClr val="tx1"/>
                  </a:solidFill>
                  <a:latin typeface="宋体" charset="0"/>
                  <a:ea typeface="宋体" charset="0"/>
                  <a:cs typeface="黑体" charset="0"/>
                </a:rPr>
                <a:t>其中</a:t>
              </a:r>
              <a:r>
                <a:rPr lang="en-US" altLang="zh-CN">
                  <a:solidFill>
                    <a:schemeClr val="tx1"/>
                  </a:solidFill>
                  <a:latin typeface="黑体" charset="0"/>
                  <a:ea typeface="黑体" charset="0"/>
                  <a:cs typeface="黑体" charset="0"/>
                </a:rPr>
                <a:t> </a:t>
              </a:r>
              <a:r>
                <a:rPr lang="en-US" altLang="zh-CN" b="1">
                  <a:solidFill>
                    <a:srgbClr val="7030A0"/>
                  </a:solidFill>
                  <a:latin typeface="黑体" charset="0"/>
                  <a:ea typeface="黑体" charset="0"/>
                  <a:cs typeface="黑体" charset="0"/>
                </a:rPr>
                <a:t>Hyperparameter Optimization（HPO）</a:t>
              </a:r>
              <a:r>
                <a:rPr lang="zh-CN" altLang="en-US">
                  <a:solidFill>
                    <a:schemeClr val="tx1"/>
                  </a:solidFill>
                  <a:latin typeface="宋体" charset="0"/>
                  <a:ea typeface="宋体" charset="0"/>
                  <a:cs typeface="黑体" charset="0"/>
                </a:rPr>
                <a:t>负责</a:t>
              </a:r>
              <a:r>
                <a:rPr lang="en-US" altLang="zh-CN">
                  <a:solidFill>
                    <a:schemeClr val="tx1"/>
                  </a:solidFill>
                  <a:latin typeface="宋体" charset="0"/>
                  <a:ea typeface="宋体" charset="0"/>
                  <a:cs typeface="黑体" charset="0"/>
                </a:rPr>
                <a:t> </a:t>
              </a:r>
              <a:r>
                <a:rPr lang="zh-CN" altLang="en-US" b="1" i="1" u="sng">
                  <a:solidFill>
                    <a:schemeClr val="tx1"/>
                  </a:solidFill>
                  <a:latin typeface="宋体" charset="0"/>
                  <a:ea typeface="宋体" charset="0"/>
                  <a:cs typeface="黑体" charset="0"/>
                </a:rPr>
                <a:t>自动搜索</a:t>
              </a:r>
              <a:r>
                <a:rPr lang="en-US" altLang="zh-CN" i="1">
                  <a:solidFill>
                    <a:schemeClr val="tx1"/>
                  </a:solidFill>
                  <a:latin typeface="宋体" charset="0"/>
                  <a:ea typeface="宋体" charset="0"/>
                  <a:cs typeface="黑体" charset="0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latin typeface="宋体" charset="0"/>
                  <a:ea typeface="宋体" charset="0"/>
                  <a:cs typeface="黑体" charset="0"/>
                </a:rPr>
                <a:t>模型超参数</a:t>
              </a:r>
              <a:r>
                <a:rPr lang="en-US" altLang="zh-CN">
                  <a:solidFill>
                    <a:schemeClr val="tx1"/>
                  </a:solidFill>
                  <a:latin typeface="宋体" charset="0"/>
                  <a:ea typeface="宋体" charset="0"/>
                  <a:cs typeface="黑体" charset="0"/>
                </a:rPr>
                <a:t> </a:t>
              </a:r>
              <a:r>
                <a:rPr lang="en-US" altLang="zh-CN" baseline="30000">
                  <a:solidFill>
                    <a:schemeClr val="tx1"/>
                  </a:solidFill>
                  <a:latin typeface="Times New Roman" panose="02020503050405090304" charset="0"/>
                  <a:ea typeface="黑体" charset="0"/>
                  <a:cs typeface="Times New Roman" panose="02020503050405090304" charset="0"/>
                </a:rPr>
                <a:t>[1]</a:t>
              </a:r>
              <a:endParaRPr lang="zh-CN" altLang="en-US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endParaRPr>
            </a:p>
            <a:p>
              <a:pPr indent="0" algn="l">
                <a:buFont typeface="Arial" panose="020B0604020202090204" pitchFamily="34" charset="0"/>
                <a:buNone/>
              </a:pPr>
              <a:endParaRPr lang="zh-CN" altLang="en-US">
                <a:solidFill>
                  <a:schemeClr val="tx1"/>
                </a:solidFill>
                <a:latin typeface="宋体" charset="0"/>
                <a:ea typeface="宋体" charset="0"/>
              </a:endParaRPr>
            </a:p>
            <a:p>
              <a:pPr marL="285750" indent="-285750" algn="l"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  <a:cs typeface="黑体" charset="0"/>
                </a:rPr>
                <a:t>自动搜索</a:t>
              </a:r>
              <a:r>
                <a:rPr lang="en-US" altLang="zh-CN">
                  <a:solidFill>
                    <a:schemeClr val="tx1"/>
                  </a:solidFill>
                  <a:latin typeface="黑体" charset="0"/>
                  <a:ea typeface="黑体" charset="0"/>
                  <a:cs typeface="黑体" charset="0"/>
                </a:rPr>
                <a:t>？</a:t>
              </a: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  <a:cs typeface="黑体" charset="0"/>
                </a:rPr>
                <a:t>一个复杂的实验过程</a:t>
              </a:r>
              <a:endParaRPr lang="zh-CN" altLang="en-US" sz="900">
                <a:solidFill>
                  <a:schemeClr val="tx1"/>
                </a:solidFill>
                <a:latin typeface="宋体" charset="0"/>
                <a:ea typeface="宋体" charset="0"/>
              </a:endParaRPr>
            </a:p>
            <a:p>
              <a:pPr indent="0" algn="l">
                <a:buFont typeface="Arial" panose="020B0604020202090204" pitchFamily="34" charset="0"/>
                <a:buNone/>
              </a:pP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HPO：</a:t>
              </a:r>
              <a:r>
                <a:rPr lang="zh-CN" altLang="en-US">
                  <a:solidFill>
                    <a:srgbClr val="7030A0"/>
                  </a:solidFill>
                  <a:latin typeface="黑体" charset="0"/>
                  <a:ea typeface="黑体" charset="0"/>
                  <a:cs typeface="黑体" charset="0"/>
                </a:rPr>
                <a:t>配置</a:t>
              </a:r>
              <a:r>
                <a:rPr lang="en-US" altLang="zh-CN">
                  <a:solidFill>
                    <a:srgbClr val="7030A0"/>
                  </a:solidFill>
                  <a:latin typeface="黑体" charset="0"/>
                  <a:ea typeface="黑体" charset="0"/>
                  <a:cs typeface="黑体" charset="0"/>
                </a:rPr>
                <a:t> (</a:t>
              </a:r>
              <a:r>
                <a:rPr lang="zh-CN" altLang="en-US">
                  <a:solidFill>
                    <a:srgbClr val="7030A0"/>
                  </a:solidFill>
                  <a:latin typeface="黑体" charset="0"/>
                  <a:ea typeface="黑体" charset="0"/>
                  <a:cs typeface="黑体" charset="0"/>
                </a:rPr>
                <a:t>范围</a:t>
              </a:r>
              <a:r>
                <a:rPr lang="en-US" altLang="zh-CN">
                  <a:solidFill>
                    <a:srgbClr val="7030A0"/>
                  </a:solidFill>
                  <a:latin typeface="黑体" charset="0"/>
                  <a:ea typeface="黑体" charset="0"/>
                  <a:cs typeface="黑体" charset="0"/>
                </a:rPr>
                <a:t>、</a:t>
              </a:r>
              <a:r>
                <a:rPr lang="zh-CN" altLang="en-US">
                  <a:solidFill>
                    <a:srgbClr val="7030A0"/>
                  </a:solidFill>
                  <a:latin typeface="黑体" charset="0"/>
                  <a:ea typeface="黑体" charset="0"/>
                  <a:cs typeface="黑体" charset="0"/>
                </a:rPr>
                <a:t>方法</a:t>
              </a:r>
              <a:r>
                <a:rPr lang="en-US" altLang="zh-CN">
                  <a:solidFill>
                    <a:srgbClr val="7030A0"/>
                  </a:solidFill>
                  <a:latin typeface="黑体" charset="0"/>
                  <a:ea typeface="黑体" charset="0"/>
                  <a:cs typeface="黑体" charset="0"/>
                </a:rPr>
                <a:t>、...) -&gt; </a:t>
              </a:r>
              <a:r>
                <a:rPr lang="zh-CN" altLang="en-US">
                  <a:solidFill>
                    <a:srgbClr val="7030A0"/>
                  </a:solidFill>
                  <a:latin typeface="黑体" charset="0"/>
                  <a:ea typeface="黑体" charset="0"/>
                  <a:cs typeface="黑体" charset="0"/>
                </a:rPr>
                <a:t>搜索超参数</a:t>
              </a:r>
              <a:r>
                <a:rPr lang="en-US" altLang="zh-CN">
                  <a:solidFill>
                    <a:srgbClr val="7030A0"/>
                  </a:solidFill>
                  <a:latin typeface="黑体" charset="0"/>
                  <a:ea typeface="黑体" charset="0"/>
                  <a:cs typeface="黑体" charset="0"/>
                </a:rPr>
                <a:t> -&gt; </a:t>
              </a:r>
              <a:r>
                <a:rPr lang="zh-CN" altLang="en-US">
                  <a:solidFill>
                    <a:srgbClr val="7030A0"/>
                  </a:solidFill>
                  <a:latin typeface="黑体" charset="0"/>
                  <a:ea typeface="黑体" charset="0"/>
                  <a:cs typeface="黑体" charset="0"/>
                </a:rPr>
                <a:t>反馈</a:t>
              </a:r>
              <a:r>
                <a:rPr lang="en-US" altLang="zh-CN">
                  <a:solidFill>
                    <a:srgbClr val="7030A0"/>
                  </a:solidFill>
                  <a:latin typeface="黑体" charset="0"/>
                  <a:ea typeface="黑体" charset="0"/>
                  <a:cs typeface="黑体" charset="0"/>
                </a:rPr>
                <a:t> -&gt; </a:t>
              </a:r>
              <a:r>
                <a:rPr lang="zh-CN" altLang="en-US">
                  <a:solidFill>
                    <a:srgbClr val="7030A0"/>
                  </a:solidFill>
                  <a:latin typeface="黑体" charset="0"/>
                  <a:ea typeface="黑体" charset="0"/>
                  <a:cs typeface="黑体" charset="0"/>
                </a:rPr>
                <a:t>再配置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。</a:t>
              </a:r>
              <a:r>
                <a:rPr lang="en-US" altLang="zh-CN" baseline="30000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[2]</a:t>
              </a:r>
              <a:endPara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indent="0" algn="l">
                <a:buFont typeface="Arial" panose="020B0604020202090204" pitchFamily="34" charset="0"/>
                <a:buNone/>
              </a:pPr>
              <a:endPara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285750" indent="-285750" algn="l"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所谓的</a:t>
              </a:r>
              <a:r>
                <a:rPr lang="en-US" altLang="zh-CN">
                  <a:solidFill>
                    <a:schemeClr val="tx1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超参自动搜索</a:t>
              </a:r>
              <a:r>
                <a:rPr lang="en-US" altLang="zh-CN">
                  <a:solidFill>
                    <a:schemeClr val="tx1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有前提</a:t>
              </a:r>
              <a:r>
                <a:rPr lang="en-US" altLang="zh-CN">
                  <a:solidFill>
                    <a:schemeClr val="tx1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：</a:t>
              </a:r>
              <a:r>
                <a:rPr lang="zh-CN" altLang="en-US">
                  <a:solidFill>
                    <a:srgbClr val="7030A0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配置</a:t>
              </a:r>
              <a:br>
                <a:rPr lang="zh-CN" altLang="en-US">
                  <a:solidFill>
                    <a:srgbClr val="7030A0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</a:br>
              <a:r>
                <a:rPr lang="zh-CN" altLang="en-US">
                  <a:solidFill>
                    <a:srgbClr val="7030A0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配置</a:t>
              </a:r>
              <a:r>
                <a:rPr lang="en-US" altLang="zh-CN">
                  <a:solidFill>
                    <a:srgbClr val="7030A0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决定了 </a:t>
              </a: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HPO 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的搜索</a:t>
              </a:r>
              <a:b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</a:b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Search Space 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过小</a:t>
              </a: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：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遗漏最优区域</a:t>
              </a:r>
              <a:b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</a:b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Search Space 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过大</a:t>
              </a: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：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搜索效率下降</a:t>
              </a:r>
              <a:endPara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1402" y="8901"/>
              <a:ext cx="6552" cy="6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p>
              <a:pPr algn="ctr"/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  <a:sym typeface="+mn-ea"/>
                </a:rPr>
                <a:t>自动化超参</a:t>
              </a: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  <a:sym typeface="+mn-ea"/>
                </a:rPr>
                <a:t>搜索依赖</a:t>
              </a:r>
              <a:r>
                <a:rPr lang="zh-CN" altLang="en-US">
                  <a:solidFill>
                    <a:srgbClr val="7030A0"/>
                  </a:solidFill>
                  <a:latin typeface="黑体" charset="0"/>
                  <a:ea typeface="黑体" charset="0"/>
                  <a:sym typeface="+mn-ea"/>
                </a:rPr>
                <a:t>配置</a:t>
              </a:r>
              <a:r>
                <a:rPr lang="en-US" altLang="zh-CN">
                  <a:solidFill>
                    <a:srgbClr val="7030A0"/>
                  </a:solidFill>
                  <a:latin typeface="黑体" charset="0"/>
                  <a:ea typeface="黑体" charset="0"/>
                  <a:sym typeface="+mn-ea"/>
                </a:rPr>
                <a:t>，</a:t>
              </a:r>
              <a:r>
                <a:rPr lang="zh-CN" altLang="en-US">
                  <a:solidFill>
                    <a:srgbClr val="7030A0"/>
                  </a:solidFill>
                  <a:latin typeface="黑体" charset="0"/>
                  <a:ea typeface="黑体" charset="0"/>
                  <a:sym typeface="+mn-ea"/>
                </a:rPr>
                <a:t>配置</a:t>
              </a: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  <a:sym typeface="+mn-ea"/>
                </a:rPr>
                <a:t>很重要</a:t>
              </a:r>
              <a:endParaRPr lang="zh-CN" altLang="en-US">
                <a:solidFill>
                  <a:schemeClr val="tx1"/>
                </a:solidFill>
                <a:latin typeface="黑体" charset="0"/>
                <a:ea typeface="黑体" charset="0"/>
                <a:sym typeface="+mn-ea"/>
              </a:endParaRPr>
            </a:p>
          </p:txBody>
        </p:sp>
      </p:grpSp>
      <p:pic>
        <p:nvPicPr>
          <p:cNvPr id="5" name="图片 4" descr="截屏2026-09-12 09.22.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130" y="1809750"/>
            <a:ext cx="5558155" cy="2879090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5997575" y="4688840"/>
            <a:ext cx="50406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图</a:t>
            </a:r>
            <a:r>
              <a:rPr lang="en-US" altLang="zh-CN" sz="1600" b="1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1  </a:t>
            </a:r>
            <a:r>
              <a:rPr lang="zh-CN" altLang="en-US" sz="1600" b="1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两种基本的</a:t>
            </a:r>
            <a:r>
              <a:rPr lang="en-US" altLang="zh-CN" sz="1600" b="1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 HPO </a:t>
            </a:r>
            <a:r>
              <a:rPr lang="zh-CN" altLang="en-US" sz="1600" b="1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算法</a:t>
            </a:r>
            <a:r>
              <a:rPr lang="en-US" altLang="zh-CN" sz="1600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 </a:t>
            </a:r>
            <a:r>
              <a:rPr lang="en-US" altLang="zh-CN" sz="1600" baseline="30000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[1]</a:t>
            </a:r>
            <a:endParaRPr lang="en-US" altLang="zh-CN" sz="1600" baseline="30000">
              <a:solidFill>
                <a:schemeClr val="tx1"/>
              </a:solidFill>
              <a:effectLst/>
              <a:latin typeface="Times New Roman" panose="02020503050405090304" charset="0"/>
              <a:ea typeface="宋体" charset="0"/>
              <a:cs typeface="Times New Roman" panose="0202050305040509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551180" y="830580"/>
            <a:ext cx="5085714" cy="520700"/>
            <a:chOff x="868" y="1308"/>
            <a:chExt cx="5607" cy="820"/>
          </a:xfrm>
        </p:grpSpPr>
        <p:grpSp>
          <p:nvGrpSpPr>
            <p:cNvPr id="19" name="组合 18"/>
            <p:cNvGrpSpPr/>
            <p:nvPr/>
          </p:nvGrpSpPr>
          <p:grpSpPr>
            <a:xfrm>
              <a:off x="868" y="2128"/>
              <a:ext cx="5607" cy="0"/>
              <a:chOff x="868" y="2128"/>
              <a:chExt cx="5607" cy="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868" y="2128"/>
                <a:ext cx="397" cy="0"/>
              </a:xfrm>
              <a:prstGeom prst="line">
                <a:avLst/>
              </a:prstGeom>
              <a:ln w="25400" cap="flat" cmpd="sng">
                <a:solidFill>
                  <a:srgbClr val="4B0088"/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1261" y="2128"/>
                <a:ext cx="5214" cy="0"/>
              </a:xfrm>
              <a:prstGeom prst="line">
                <a:avLst/>
              </a:prstGeom>
              <a:ln w="25400" cap="flat" cmpd="sng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/>
            <p:cNvSpPr txBox="1"/>
            <p:nvPr/>
          </p:nvSpPr>
          <p:spPr>
            <a:xfrm>
              <a:off x="869" y="1308"/>
              <a:ext cx="396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&gt; </a:t>
              </a:r>
              <a:r>
                <a:rPr lang="zh-CN" altLang="en-US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研究现状</a:t>
              </a:r>
              <a:endParaRPr lang="zh-CN" altLang="en-US" sz="2400">
                <a:solidFill>
                  <a:srgbClr val="4B0088"/>
                </a:solidFill>
                <a:latin typeface="黑体" charset="0"/>
                <a:ea typeface="黑体" charset="0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273300" y="907415"/>
            <a:ext cx="3363595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  <a:sym typeface="+mn-ea"/>
              </a:rPr>
              <a:t>现有研究</a:t>
            </a:r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  <a:sym typeface="+mn-ea"/>
              </a:rPr>
              <a:t>和框架怎样</a:t>
            </a:r>
            <a:r>
              <a:rPr lang="zh-CN" altLang="en-US">
                <a:solidFill>
                  <a:srgbClr val="7030A0"/>
                </a:solidFill>
                <a:latin typeface="黑体" charset="0"/>
                <a:ea typeface="黑体" charset="0"/>
                <a:sym typeface="+mn-ea"/>
              </a:rPr>
              <a:t>配置</a:t>
            </a:r>
            <a:r>
              <a:rPr lang="en-US" altLang="zh-CN">
                <a:solidFill>
                  <a:schemeClr val="tx1"/>
                </a:solidFill>
                <a:latin typeface="黑体" charset="0"/>
                <a:ea typeface="黑体" charset="0"/>
                <a:sym typeface="+mn-ea"/>
              </a:rPr>
              <a:t>？</a:t>
            </a:r>
            <a:endParaRPr lang="en-US" altLang="zh-CN">
              <a:solidFill>
                <a:schemeClr val="tx1"/>
              </a:solidFill>
              <a:latin typeface="黑体" charset="0"/>
              <a:ea typeface="黑体" charset="0"/>
              <a:sym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0" y="6263640"/>
            <a:ext cx="12192000" cy="594360"/>
            <a:chOff x="0" y="9864"/>
            <a:chExt cx="19200" cy="936"/>
          </a:xfrm>
        </p:grpSpPr>
        <p:sp>
          <p:nvSpPr>
            <p:cNvPr id="31" name="矩形 30"/>
            <p:cNvSpPr/>
            <p:nvPr/>
          </p:nvSpPr>
          <p:spPr>
            <a:xfrm>
              <a:off x="0" y="10332"/>
              <a:ext cx="18210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(7) DeepCAVE-X: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基于强化学习的自适应 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HPO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配置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8211" y="10332"/>
              <a:ext cx="989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2/10</a:t>
              </a:r>
              <a:endParaRPr lang="en-US" altLang="zh-CN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0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王羿珧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2026211232</a:t>
              </a:r>
              <a:endParaRPr lang="en-US" altLang="zh-CN" sz="1600">
                <a:latin typeface="Times New Roman" panose="02020503050405090304" charset="0"/>
                <a:ea typeface="华文仿宋" panose="02010600040101010101" charset="-122"/>
                <a:cs typeface="Times New Roman" panose="02020503050405090304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6236" y="9864"/>
              <a:ext cx="6729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经硕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 261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管理科学与工程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2964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指导教师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：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胡鹤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35" y="0"/>
            <a:ext cx="12129135" cy="608965"/>
            <a:chOff x="1" y="0"/>
            <a:chExt cx="19101" cy="959"/>
          </a:xfrm>
        </p:grpSpPr>
        <p:sp>
          <p:nvSpPr>
            <p:cNvPr id="37" name="矩形 36"/>
            <p:cNvSpPr/>
            <p:nvPr/>
          </p:nvSpPr>
          <p:spPr>
            <a:xfrm>
              <a:off x="1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latin typeface="华文仿宋" panose="02010600040101010101" charset="-122"/>
                  <a:ea typeface="华文仿宋" panose="02010600040101010101" charset="-122"/>
                </a:rPr>
                <a:t>选题依据</a:t>
              </a:r>
              <a:r>
                <a:rPr lang="en-US" altLang="zh-CN" sz="2400" b="1" baseline="-25000">
                  <a:latin typeface="华文仿宋" panose="02010600040101010101" charset="-122"/>
                  <a:ea typeface="华文仿宋" panose="02010600040101010101" charset="-122"/>
                </a:rPr>
                <a:t>2</a:t>
              </a:r>
              <a:endParaRPr lang="en-US" altLang="zh-CN" sz="2400" b="1" baseline="-250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3970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开发方案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7939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预期</a:t>
              </a:r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计划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1908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参考文献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pic>
          <p:nvPicPr>
            <p:cNvPr id="42" name="图片 41" descr="截屏2026-09-08 12.53.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10" y="73"/>
              <a:ext cx="2892" cy="886"/>
            </a:xfrm>
            <a:prstGeom prst="rect">
              <a:avLst/>
            </a:prstGeom>
          </p:spPr>
        </p:pic>
      </p:grpSp>
      <p:grpSp>
        <p:nvGrpSpPr>
          <p:cNvPr id="24" name="组合 23"/>
          <p:cNvGrpSpPr/>
          <p:nvPr/>
        </p:nvGrpSpPr>
        <p:grpSpPr>
          <a:xfrm>
            <a:off x="493395" y="1654175"/>
            <a:ext cx="5400040" cy="4209415"/>
            <a:chOff x="777" y="2605"/>
            <a:chExt cx="8504" cy="6629"/>
          </a:xfrm>
        </p:grpSpPr>
        <p:sp>
          <p:nvSpPr>
            <p:cNvPr id="102" name="矩形 101"/>
            <p:cNvSpPr/>
            <p:nvPr/>
          </p:nvSpPr>
          <p:spPr>
            <a:xfrm>
              <a:off x="779" y="2605"/>
              <a:ext cx="8502" cy="6002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79" y="2628"/>
              <a:ext cx="8500" cy="628"/>
            </a:xfrm>
            <a:prstGeom prst="rect">
              <a:avLst/>
            </a:prstGeom>
            <a:solidFill>
              <a:srgbClr val="E6E6FA"/>
            </a:solidFill>
          </p:spPr>
          <p:txBody>
            <a:bodyPr wrap="square" rtlCol="0">
              <a:spAutoFit/>
            </a:bodyPr>
            <a:p>
              <a:pPr algn="ctr"/>
              <a:r>
                <a:rPr lang="zh-CN" altLang="en-US" sz="2000">
                  <a:solidFill>
                    <a:srgbClr val="7030A0">
                      <a:alpha val="80000"/>
                    </a:srgbClr>
                  </a:solidFill>
                  <a:effectLst/>
                  <a:latin typeface="黑体" charset="0"/>
                  <a:ea typeface="黑体" charset="0"/>
                  <a:cs typeface="黑体" charset="0"/>
                </a:rPr>
                <a:t>人</a:t>
              </a:r>
              <a:r>
                <a:rPr lang="zh-CN" altLang="en-US" sz="2000">
                  <a:solidFill>
                    <a:schemeClr val="tx1">
                      <a:alpha val="80000"/>
                    </a:schemeClr>
                  </a:solidFill>
                  <a:effectLst/>
                  <a:latin typeface="黑体" charset="0"/>
                  <a:ea typeface="黑体" charset="0"/>
                  <a:cs typeface="黑体" charset="0"/>
                </a:rPr>
                <a:t>主导的 </a:t>
              </a:r>
              <a:r>
                <a:rPr lang="en-US" altLang="zh-CN" sz="2000">
                  <a:solidFill>
                    <a:schemeClr val="tx1">
                      <a:alpha val="80000"/>
                    </a:schemeClr>
                  </a:solidFill>
                  <a:effectLst/>
                  <a:latin typeface="黑体" charset="0"/>
                  <a:ea typeface="黑体" charset="0"/>
                  <a:cs typeface="黑体" charset="0"/>
                </a:rPr>
                <a:t>HPO </a:t>
              </a:r>
              <a:r>
                <a:rPr lang="zh-CN" altLang="en-US" sz="2000">
                  <a:solidFill>
                    <a:schemeClr val="tx1">
                      <a:alpha val="80000"/>
                    </a:schemeClr>
                  </a:solidFill>
                  <a:effectLst/>
                  <a:latin typeface="黑体" charset="0"/>
                  <a:ea typeface="黑体" charset="0"/>
                  <a:cs typeface="黑体" charset="0"/>
                </a:rPr>
                <a:t>配置</a:t>
              </a:r>
              <a:endParaRPr lang="zh-CN" altLang="en-US" sz="2000">
                <a:solidFill>
                  <a:schemeClr val="tx1">
                    <a:alpha val="80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777" y="8610"/>
              <a:ext cx="8502" cy="624"/>
            </a:xfrm>
            <a:prstGeom prst="rect">
              <a:avLst/>
            </a:prstGeom>
            <a:solidFill>
              <a:srgbClr val="E6E6FA"/>
            </a:solidFill>
            <a:ln w="12700" cap="flat" cmpd="sng" algn="ctr">
              <a:solidFill>
                <a:schemeClr val="accent4">
                  <a:lumMod val="5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024" y="8592"/>
              <a:ext cx="804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2000">
                  <a:solidFill>
                    <a:srgbClr val="4B0088">
                      <a:alpha val="80000"/>
                    </a:srgbClr>
                  </a:solidFill>
                  <a:effectLst/>
                  <a:latin typeface="黑体" charset="0"/>
                  <a:ea typeface="黑体" charset="0"/>
                  <a:cs typeface="Times New Roman Bold" panose="02020503050405090304" charset="0"/>
                </a:rPr>
                <a:t>&gt; </a:t>
              </a:r>
              <a:r>
                <a:rPr lang="zh-CN" altLang="en-US" sz="2000">
                  <a:solidFill>
                    <a:srgbClr val="4B0088">
                      <a:alpha val="80000"/>
                    </a:srgbClr>
                  </a:solidFill>
                  <a:effectLst/>
                  <a:latin typeface="黑体" charset="0"/>
                  <a:ea typeface="黑体" charset="0"/>
                  <a:cs typeface="Times New Roman Bold" panose="02020503050405090304" charset="0"/>
                </a:rPr>
                <a:t>依赖人工</a:t>
              </a:r>
              <a:endParaRPr lang="zh-CN" altLang="en-US" sz="2000">
                <a:solidFill>
                  <a:srgbClr val="4B0088">
                    <a:alpha val="80000"/>
                  </a:srgbClr>
                </a:solidFill>
                <a:effectLst/>
                <a:latin typeface="黑体" charset="0"/>
                <a:ea typeface="黑体" charset="0"/>
                <a:cs typeface="Times New Roman Bold" panose="02020503050405090304" charset="0"/>
              </a:endParaRPr>
            </a:p>
          </p:txBody>
        </p:sp>
        <p:cxnSp>
          <p:nvCxnSpPr>
            <p:cNvPr id="2" name="直接连接符 1"/>
            <p:cNvCxnSpPr/>
            <p:nvPr/>
          </p:nvCxnSpPr>
          <p:spPr>
            <a:xfrm flipH="1">
              <a:off x="781" y="5816"/>
              <a:ext cx="8500" cy="0"/>
            </a:xfrm>
            <a:prstGeom prst="line">
              <a:avLst/>
            </a:prstGeom>
            <a:ln w="1270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" name="文本框 2"/>
            <p:cNvSpPr txBox="1"/>
            <p:nvPr/>
          </p:nvSpPr>
          <p:spPr>
            <a:xfrm>
              <a:off x="779" y="3278"/>
              <a:ext cx="8500" cy="2479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ctr"/>
              <a:r>
                <a:rPr lang="zh-CN" altLang="en-US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人为配置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Courier New" panose="02070409020205090404" charset="0"/>
                  <a:ea typeface="宋体" charset="0"/>
                  <a:cs typeface="Courier New" panose="02070409020205090404" charset="0"/>
                </a:rPr>
                <a:t>-&gt;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</a:t>
              </a:r>
              <a:r>
                <a:rPr lang="zh-CN" altLang="en-US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传统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HPO 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Courier New" panose="02070409020205090404" charset="0"/>
                  <a:ea typeface="宋体" charset="0"/>
                  <a:cs typeface="Courier New" panose="02070409020205090404" charset="0"/>
                </a:rPr>
                <a:t>-&gt;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</a:t>
              </a:r>
              <a:r>
                <a:rPr lang="zh-CN" altLang="en-US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超参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Courier New" panose="02070409020205090404" charset="0"/>
                  <a:ea typeface="宋体" charset="0"/>
                  <a:cs typeface="Courier New" panose="02070409020205090404" charset="0"/>
                </a:rPr>
                <a:t>-&gt;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</a:t>
              </a:r>
              <a:r>
                <a:rPr lang="zh-CN" altLang="en-US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迭代配置</a:t>
              </a:r>
              <a:endParaRPr lang="zh-CN" altLang="en-US" u="sng">
                <a:solidFill>
                  <a:schemeClr val="tx1">
                    <a:alpha val="80000"/>
                  </a:schemeClr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algn="ctr"/>
              <a:endParaRPr lang="zh-CN" altLang="en-US" sz="400">
                <a:solidFill>
                  <a:schemeClr val="tx1">
                    <a:alpha val="80000"/>
                  </a:schemeClr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algn="ctr"/>
              <a:r>
                <a:rPr lang="en-US" altLang="zh-CN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CAVE (2021) </a:t>
              </a:r>
              <a:r>
                <a:rPr lang="en-US" altLang="zh-CN" baseline="30000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[3]</a:t>
              </a:r>
              <a:r>
                <a:rPr lang="en-US" altLang="zh-CN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、DeepCAVE (2025)</a:t>
              </a:r>
              <a:r>
                <a:rPr lang="en-US" altLang="zh-CN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 </a:t>
              </a:r>
              <a:r>
                <a:rPr lang="en-US" altLang="zh-CN" baseline="30000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[4]</a:t>
              </a:r>
              <a:endParaRPr lang="en-US" altLang="zh-CN" baseline="30000">
                <a:solidFill>
                  <a:schemeClr val="tx1">
                    <a:alpha val="80000"/>
                  </a:schemeClr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endParaRPr>
            </a:p>
            <a:p>
              <a:pPr algn="just"/>
              <a:endParaRPr lang="en-US" altLang="zh-CN" sz="400">
                <a:solidFill>
                  <a:schemeClr val="tx1">
                    <a:alpha val="80000"/>
                  </a:schemeClr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342900" indent="-342900" algn="just"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优</a:t>
              </a:r>
              <a:r>
                <a:rPr lang="en-US" altLang="zh-CN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：</a:t>
              </a:r>
              <a:r>
                <a:rPr lang="zh-CN" altLang="en-US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增强透明性</a:t>
              </a:r>
              <a:r>
                <a:rPr lang="en-US" altLang="zh-CN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、</a:t>
              </a:r>
              <a:r>
                <a:rPr lang="zh-CN" altLang="en-US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提高用户对算法的信任</a:t>
              </a:r>
              <a:r>
                <a:rPr lang="en-US" altLang="zh-CN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</a:t>
              </a:r>
              <a:r>
                <a:rPr lang="en-US" altLang="zh-CN" baseline="30000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[5]</a:t>
              </a:r>
              <a:endParaRPr lang="zh-CN" altLang="en-US">
                <a:solidFill>
                  <a:schemeClr val="tx1">
                    <a:alpha val="80000"/>
                  </a:schemeClr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342900" indent="-342900" algn="just"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缺</a:t>
              </a:r>
              <a:r>
                <a:rPr lang="en-US" altLang="zh-CN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：</a:t>
              </a:r>
              <a:r>
                <a:rPr lang="zh-CN" altLang="en-US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高度依赖人工经验</a:t>
              </a:r>
              <a:endParaRPr lang="zh-CN" altLang="en-US">
                <a:solidFill>
                  <a:schemeClr val="tx1">
                    <a:alpha val="80000"/>
                  </a:schemeClr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325870" y="1642745"/>
            <a:ext cx="5400040" cy="4227195"/>
            <a:chOff x="9962" y="2587"/>
            <a:chExt cx="8504" cy="6657"/>
          </a:xfrm>
        </p:grpSpPr>
        <p:sp>
          <p:nvSpPr>
            <p:cNvPr id="8" name="矩形 7"/>
            <p:cNvSpPr/>
            <p:nvPr/>
          </p:nvSpPr>
          <p:spPr>
            <a:xfrm>
              <a:off x="9964" y="2587"/>
              <a:ext cx="8502" cy="6029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965" y="2610"/>
              <a:ext cx="8499" cy="628"/>
            </a:xfrm>
            <a:prstGeom prst="rect">
              <a:avLst/>
            </a:prstGeom>
            <a:solidFill>
              <a:srgbClr val="E6E6FA"/>
            </a:solidFill>
          </p:spPr>
          <p:txBody>
            <a:bodyPr wrap="square" rtlCol="0">
              <a:spAutoFit/>
            </a:bodyPr>
            <a:p>
              <a:pPr algn="ctr"/>
              <a:r>
                <a:rPr lang="en-US" altLang="zh-CN" sz="2000">
                  <a:solidFill>
                    <a:srgbClr val="7030A0">
                      <a:alpha val="80000"/>
                    </a:srgbClr>
                  </a:solidFill>
                  <a:effectLst/>
                  <a:latin typeface="黑体" charset="0"/>
                  <a:ea typeface="黑体" charset="0"/>
                  <a:cs typeface="黑体" charset="0"/>
                  <a:sym typeface="+mn-ea"/>
                </a:rPr>
                <a:t>Agent</a:t>
              </a:r>
              <a:r>
                <a:rPr lang="en-US" altLang="zh-CN" sz="2000">
                  <a:solidFill>
                    <a:schemeClr val="tx1">
                      <a:alpha val="80000"/>
                    </a:schemeClr>
                  </a:solidFill>
                  <a:effectLst/>
                  <a:latin typeface="黑体" charset="0"/>
                  <a:ea typeface="黑体" charset="0"/>
                  <a:cs typeface="黑体" charset="0"/>
                  <a:sym typeface="+mn-ea"/>
                </a:rPr>
                <a:t> </a:t>
              </a:r>
              <a:r>
                <a:rPr lang="zh-CN" altLang="en-US" sz="2000">
                  <a:solidFill>
                    <a:schemeClr val="tx1">
                      <a:alpha val="80000"/>
                    </a:schemeClr>
                  </a:solidFill>
                  <a:effectLst/>
                  <a:latin typeface="黑体" charset="0"/>
                  <a:ea typeface="黑体" charset="0"/>
                  <a:cs typeface="黑体" charset="0"/>
                  <a:sym typeface="+mn-ea"/>
                </a:rPr>
                <a:t>驱动的 </a:t>
              </a:r>
              <a:r>
                <a:rPr lang="en-US" altLang="zh-CN" sz="2000">
                  <a:solidFill>
                    <a:schemeClr val="tx1">
                      <a:alpha val="80000"/>
                    </a:schemeClr>
                  </a:solidFill>
                  <a:effectLst/>
                  <a:latin typeface="黑体" charset="0"/>
                  <a:ea typeface="黑体" charset="0"/>
                  <a:cs typeface="黑体" charset="0"/>
                  <a:sym typeface="+mn-ea"/>
                </a:rPr>
                <a:t>HPO </a:t>
              </a:r>
              <a:r>
                <a:rPr lang="zh-CN" altLang="en-US" sz="2000">
                  <a:solidFill>
                    <a:schemeClr val="tx1">
                      <a:alpha val="80000"/>
                    </a:schemeClr>
                  </a:solidFill>
                  <a:effectLst/>
                  <a:latin typeface="黑体" charset="0"/>
                  <a:ea typeface="黑体" charset="0"/>
                  <a:cs typeface="黑体" charset="0"/>
                  <a:sym typeface="+mn-ea"/>
                </a:rPr>
                <a:t>配置</a:t>
              </a:r>
              <a:endParaRPr lang="zh-CN" altLang="en-US" sz="2000">
                <a:solidFill>
                  <a:schemeClr val="tx1">
                    <a:alpha val="80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  <a:sym typeface="+mn-ea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9962" y="8592"/>
              <a:ext cx="8502" cy="646"/>
            </a:xfrm>
            <a:prstGeom prst="rect">
              <a:avLst/>
            </a:prstGeom>
            <a:solidFill>
              <a:srgbClr val="E6E6FA"/>
            </a:solidFill>
            <a:ln w="12700" cap="flat" cmpd="sng" algn="ctr">
              <a:solidFill>
                <a:schemeClr val="accent4">
                  <a:lumMod val="5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209" y="8616"/>
              <a:ext cx="804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2000">
                  <a:solidFill>
                    <a:srgbClr val="4B0088">
                      <a:alpha val="80000"/>
                    </a:srgbClr>
                  </a:solidFill>
                  <a:effectLst/>
                  <a:latin typeface="黑体" charset="0"/>
                  <a:ea typeface="黑体" charset="0"/>
                  <a:cs typeface="Times New Roman Bold" panose="02020503050405090304" charset="0"/>
                </a:rPr>
                <a:t>&gt; </a:t>
              </a:r>
              <a:r>
                <a:rPr lang="zh-CN" altLang="en-US" sz="2000">
                  <a:solidFill>
                    <a:srgbClr val="4B0088">
                      <a:alpha val="80000"/>
                    </a:srgbClr>
                  </a:solidFill>
                  <a:effectLst/>
                  <a:latin typeface="黑体" charset="0"/>
                  <a:ea typeface="黑体" charset="0"/>
                  <a:cs typeface="Times New Roman Bold" panose="02020503050405090304" charset="0"/>
                </a:rPr>
                <a:t>搜索过程不透明</a:t>
              </a:r>
              <a:r>
                <a:rPr lang="en-US" altLang="zh-CN" sz="2000">
                  <a:solidFill>
                    <a:srgbClr val="4B0088">
                      <a:alpha val="80000"/>
                    </a:srgbClr>
                  </a:solidFill>
                  <a:effectLst/>
                  <a:latin typeface="黑体" charset="0"/>
                  <a:ea typeface="黑体" charset="0"/>
                  <a:cs typeface="Times New Roman Bold" panose="02020503050405090304" charset="0"/>
                </a:rPr>
                <a:t>、</a:t>
              </a:r>
              <a:r>
                <a:rPr lang="zh-CN" altLang="en-US" sz="2000">
                  <a:solidFill>
                    <a:srgbClr val="4B0088">
                      <a:alpha val="80000"/>
                    </a:srgbClr>
                  </a:solidFill>
                  <a:effectLst/>
                  <a:latin typeface="黑体" charset="0"/>
                  <a:ea typeface="黑体" charset="0"/>
                  <a:cs typeface="Times New Roman Bold" panose="02020503050405090304" charset="0"/>
                </a:rPr>
                <a:t>搜索效果不佳</a:t>
              </a:r>
              <a:endParaRPr lang="zh-CN" altLang="en-US" sz="2000">
                <a:solidFill>
                  <a:srgbClr val="4B0088">
                    <a:alpha val="80000"/>
                  </a:srgbClr>
                </a:solidFill>
                <a:effectLst/>
                <a:latin typeface="黑体" charset="0"/>
                <a:ea typeface="黑体" charset="0"/>
                <a:cs typeface="Times New Roman Bold" panose="02020503050405090304" charset="0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H="1">
              <a:off x="9966" y="5824"/>
              <a:ext cx="8500" cy="0"/>
            </a:xfrm>
            <a:prstGeom prst="line">
              <a:avLst/>
            </a:prstGeom>
            <a:ln w="1270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9964" y="3260"/>
              <a:ext cx="8500" cy="250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LLM Agent </a:t>
              </a:r>
              <a:r>
                <a:rPr lang="zh-CN" altLang="en-US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配置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Courier New" panose="02070409020205090404" charset="0"/>
                  <a:ea typeface="宋体" charset="0"/>
                  <a:cs typeface="Courier New" panose="02070409020205090404" charset="0"/>
                </a:rPr>
                <a:t>-&gt;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LLM HPO 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Courier New" panose="02070409020205090404" charset="0"/>
                  <a:ea typeface="宋体" charset="0"/>
                  <a:cs typeface="Courier New" panose="02070409020205090404" charset="0"/>
                </a:rPr>
                <a:t>-&gt;</a:t>
              </a:r>
              <a:r>
                <a:rPr lang="en-US" altLang="zh-CN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</a:t>
              </a:r>
              <a:r>
                <a:rPr lang="zh-CN" altLang="en-US" u="sng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超参</a:t>
              </a:r>
              <a:endParaRPr lang="zh-CN" altLang="en-US" u="sng">
                <a:solidFill>
                  <a:schemeClr val="tx1">
                    <a:alpha val="80000"/>
                  </a:schemeClr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algn="ctr"/>
              <a:endParaRPr lang="zh-CN" altLang="en-US" sz="400">
                <a:solidFill>
                  <a:schemeClr val="tx1">
                    <a:alpha val="80000"/>
                  </a:schemeClr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algn="ctr"/>
              <a:r>
                <a:rPr lang="en-US" altLang="zh-CN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AgentHPO (2025) </a:t>
              </a:r>
              <a:r>
                <a:rPr lang="en-US" altLang="zh-CN" baseline="30000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[6]</a:t>
              </a:r>
              <a:r>
                <a:rPr lang="en-US" altLang="zh-CN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、AutoML-Agent (2025) </a:t>
              </a:r>
              <a:r>
                <a:rPr lang="en-US" altLang="zh-CN" baseline="30000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[7]</a:t>
              </a:r>
              <a:endParaRPr lang="en-US" altLang="zh-CN" baseline="30000">
                <a:solidFill>
                  <a:schemeClr val="tx1">
                    <a:alpha val="80000"/>
                  </a:schemeClr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algn="just"/>
              <a:endParaRPr lang="en-US" altLang="zh-CN" sz="400" baseline="30000">
                <a:solidFill>
                  <a:schemeClr val="tx1">
                    <a:alpha val="80000"/>
                  </a:schemeClr>
                </a:solidFill>
                <a:effectLst/>
                <a:highlight>
                  <a:srgbClr val="FFFF00"/>
                </a:highlight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342900" indent="-342900" algn="just"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优</a:t>
              </a:r>
              <a:r>
                <a:rPr lang="en-US" altLang="zh-CN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：</a:t>
              </a:r>
              <a:r>
                <a:rPr lang="zh-CN" altLang="en-US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降低人工配置成本</a:t>
              </a:r>
              <a:endParaRPr lang="zh-CN" altLang="en-US">
                <a:solidFill>
                  <a:schemeClr val="tx1">
                    <a:alpha val="80000"/>
                  </a:schemeClr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342900" indent="-342900" algn="just"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缺</a:t>
              </a:r>
              <a:r>
                <a:rPr lang="en-US" altLang="zh-CN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：</a:t>
              </a:r>
              <a:r>
                <a:rPr lang="zh-CN" altLang="en-US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并非全自动配置</a:t>
              </a:r>
              <a:r>
                <a:rPr lang="en-US" altLang="zh-CN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; LLM HPO </a:t>
              </a:r>
              <a:r>
                <a:rPr lang="zh-CN" altLang="en-US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不如传统</a:t>
              </a:r>
              <a:r>
                <a:rPr lang="en-US" altLang="zh-CN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 HPO </a:t>
              </a:r>
              <a:r>
                <a:rPr lang="en-US" altLang="zh-CN" baseline="30000">
                  <a:solidFill>
                    <a:schemeClr val="tx1">
                      <a:alpha val="80000"/>
                    </a:schemeClr>
                  </a:solidFill>
                  <a:effectLst/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[8]</a:t>
              </a:r>
              <a:endParaRPr lang="en-US" altLang="zh-CN" baseline="30000">
                <a:solidFill>
                  <a:schemeClr val="tx1">
                    <a:alpha val="80000"/>
                  </a:schemeClr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endParaRPr>
            </a:p>
          </p:txBody>
        </p:sp>
      </p:grpSp>
      <p:pic>
        <p:nvPicPr>
          <p:cNvPr id="43" name="图片 42" descr="提取自Drozdal 等 - 2020 - Trust in AutoML exploring information needs for establishing trust in automated machine learning s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95" y="3865880"/>
            <a:ext cx="1112667" cy="1440000"/>
          </a:xfrm>
          <a:prstGeom prst="rect">
            <a:avLst/>
          </a:prstGeom>
          <a:ln w="3175">
            <a:solidFill>
              <a:srgbClr val="C8C8C8">
                <a:alpha val="50000"/>
              </a:srgbClr>
            </a:solidFill>
          </a:ln>
          <a:effectLst>
            <a:reflection blurRad="6350" stA="52000" endA="300" endPos="35000" dir="5400000" sy="-100000" algn="bl" rotWithShape="0"/>
          </a:effectLst>
        </p:spPr>
      </p:pic>
      <p:pic>
        <p:nvPicPr>
          <p:cNvPr id="44" name="图片 43" descr="提取自Ferreira 等 - 2026 - Can LLMs Beat Classical Hyperparameter Optimization Algorithms A Study on autorese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565" y="3869055"/>
            <a:ext cx="1112667" cy="1440000"/>
          </a:xfrm>
          <a:prstGeom prst="rect">
            <a:avLst/>
          </a:prstGeom>
          <a:ln w="3175">
            <a:solidFill>
              <a:srgbClr val="C8C8C8">
                <a:alpha val="50000"/>
              </a:srgbClr>
            </a:solidFill>
          </a:ln>
          <a:effectLst>
            <a:reflection blurRad="6350" stA="52000" endA="300" endPos="35000" dir="5400000" sy="-100000" algn="bl" rotWithShape="0"/>
          </a:effectLst>
        </p:spPr>
      </p:pic>
      <p:pic>
        <p:nvPicPr>
          <p:cNvPr id="46" name="图片 45" descr="提取自He 等 - 2021 - AutoML A survey of the state-of-the-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230" y="3865880"/>
            <a:ext cx="1079467" cy="1440000"/>
          </a:xfrm>
          <a:prstGeom prst="rect">
            <a:avLst/>
          </a:prstGeom>
          <a:ln w="3175">
            <a:solidFill>
              <a:srgbClr val="C8C8C8">
                <a:alpha val="50000"/>
              </a:srgbClr>
            </a:solidFill>
          </a:ln>
          <a:effectLst>
            <a:reflection blurRad="6350" stA="52000" endA="300" endPos="35000" dir="5400000" sy="-100000" algn="bl" rotWithShape="0"/>
          </a:effectLst>
        </p:spPr>
      </p:pic>
      <p:pic>
        <p:nvPicPr>
          <p:cNvPr id="47" name="图片 46" descr="提取自Liu 等 - AgentHPO Large Language Model Agent for Hyper-Parameter Optimiz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1895" y="3869055"/>
            <a:ext cx="1112667" cy="1440000"/>
          </a:xfrm>
          <a:prstGeom prst="rect">
            <a:avLst/>
          </a:prstGeom>
          <a:ln w="3175">
            <a:solidFill>
              <a:srgbClr val="C8C8C8">
                <a:alpha val="50000"/>
              </a:srgbClr>
            </a:solidFill>
          </a:ln>
          <a:effectLst>
            <a:reflection blurRad="6350" stA="52000" endA="300" endPos="35000" dir="5400000" sy="-100000" algn="bl" rotWithShape="0"/>
          </a:effectLst>
        </p:spPr>
      </p:pic>
      <p:pic>
        <p:nvPicPr>
          <p:cNvPr id="48" name="图片 47" descr="提取自Segel 等 - DeepCAVE A Visualization and Analysis Tool for Automated Machine Learn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6520" y="3865880"/>
            <a:ext cx="1112667" cy="1440000"/>
          </a:xfrm>
          <a:prstGeom prst="rect">
            <a:avLst/>
          </a:prstGeom>
          <a:ln w="3175">
            <a:solidFill>
              <a:srgbClr val="C8C8C8">
                <a:alpha val="50000"/>
              </a:srgbClr>
            </a:solidFill>
          </a:ln>
          <a:effectLst>
            <a:reflection blurRad="6350" stA="52000" endA="300" endPos="35000" dir="5400000" sy="-100000" algn="bl" rotWithShape="0"/>
          </a:effectLst>
        </p:spPr>
      </p:pic>
      <p:pic>
        <p:nvPicPr>
          <p:cNvPr id="49" name="图片 48" descr="提取自Trirat 等 - 2024 - AutoML-Agent A Multi-Agent LLM Framework for Full-Pipeline AutoM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1855" y="3868420"/>
            <a:ext cx="1112667" cy="1440000"/>
          </a:xfrm>
          <a:prstGeom prst="rect">
            <a:avLst/>
          </a:prstGeom>
          <a:ln w="3175">
            <a:solidFill>
              <a:srgbClr val="C8C8C8">
                <a:alpha val="50000"/>
              </a:srgbClr>
            </a:solidFill>
          </a:ln>
          <a:effectLst>
            <a:reflection blurRad="6350" stA="52000" endA="300" endPos="35000" dir="5400000" sy="-100000" algn="bl" rotWithShape="0"/>
          </a:effectLst>
        </p:spPr>
      </p:pic>
      <p:sp>
        <p:nvSpPr>
          <p:cNvPr id="50" name="矩形 49"/>
          <p:cNvSpPr/>
          <p:nvPr/>
        </p:nvSpPr>
        <p:spPr>
          <a:xfrm>
            <a:off x="10081895" y="0"/>
            <a:ext cx="2110105" cy="597535"/>
          </a:xfrm>
          <a:prstGeom prst="rect">
            <a:avLst/>
          </a:prstGeom>
          <a:solidFill>
            <a:srgbClr val="4B0088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solidFill>
                <a:schemeClr val="bg1">
                  <a:lumMod val="75000"/>
                </a:schemeClr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551180" y="830580"/>
            <a:ext cx="3600000" cy="520700"/>
            <a:chOff x="868" y="1308"/>
            <a:chExt cx="3969" cy="820"/>
          </a:xfrm>
        </p:grpSpPr>
        <p:grpSp>
          <p:nvGrpSpPr>
            <p:cNvPr id="19" name="组合 18"/>
            <p:cNvGrpSpPr/>
            <p:nvPr/>
          </p:nvGrpSpPr>
          <p:grpSpPr>
            <a:xfrm>
              <a:off x="868" y="2128"/>
              <a:ext cx="2926" cy="0"/>
              <a:chOff x="868" y="2128"/>
              <a:chExt cx="2926" cy="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868" y="2128"/>
                <a:ext cx="397" cy="0"/>
              </a:xfrm>
              <a:prstGeom prst="line">
                <a:avLst/>
              </a:prstGeom>
              <a:ln w="25400" cap="flat" cmpd="sng">
                <a:solidFill>
                  <a:srgbClr val="4B0088"/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1265" y="2128"/>
                <a:ext cx="2529" cy="0"/>
              </a:xfrm>
              <a:prstGeom prst="line">
                <a:avLst/>
              </a:prstGeom>
              <a:ln w="25400" cap="flat" cmpd="sng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/>
            <p:cNvSpPr txBox="1"/>
            <p:nvPr/>
          </p:nvSpPr>
          <p:spPr>
            <a:xfrm>
              <a:off x="869" y="1308"/>
              <a:ext cx="396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&gt; </a:t>
              </a:r>
              <a:r>
                <a:rPr lang="zh-CN" altLang="en-US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开发动机与想法</a:t>
              </a:r>
              <a:endParaRPr lang="zh-CN" altLang="en-US" sz="2400">
                <a:solidFill>
                  <a:srgbClr val="4B0088"/>
                </a:solidFill>
                <a:latin typeface="黑体" charset="0"/>
                <a:ea typeface="黑体" charset="0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51815" y="1524000"/>
            <a:ext cx="10445750" cy="721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  <a:sym typeface="+mn-ea"/>
              </a:rPr>
              <a:t>结合两种配置方式的优势</a:t>
            </a:r>
            <a:r>
              <a:rPr lang="en-US" altLang="zh-CN">
                <a:solidFill>
                  <a:schemeClr val="tx1"/>
                </a:solidFill>
                <a:latin typeface="黑体" charset="0"/>
                <a:ea typeface="黑体" charset="0"/>
                <a:sym typeface="+mn-ea"/>
              </a:rPr>
              <a:t>：</a:t>
            </a:r>
            <a:r>
              <a:rPr lang="en-US" altLang="zh-CN" b="1">
                <a:solidFill>
                  <a:srgbClr val="4B0088"/>
                </a:solidFill>
                <a:latin typeface="Times New Roman" panose="02020503050405090304" charset="0"/>
                <a:ea typeface="黑体" charset="0"/>
                <a:cs typeface="Times New Roman" panose="02020503050405090304" charset="0"/>
                <a:sym typeface="+mn-ea"/>
              </a:rPr>
              <a:t>Agentic Setup + Classical HPO</a:t>
            </a:r>
            <a:endParaRPr lang="en-US" altLang="zh-CN" b="1">
              <a:solidFill>
                <a:srgbClr val="4B0088"/>
              </a:solidFill>
              <a:latin typeface="Times New Roman" panose="02020503050405090304" charset="0"/>
              <a:ea typeface="黑体" charset="0"/>
              <a:cs typeface="Times New Roman" panose="02020503050405090304" charset="0"/>
              <a:sym typeface="+mn-ea"/>
            </a:endParaRPr>
          </a:p>
          <a:p>
            <a:pPr algn="just"/>
            <a:endParaRPr lang="zh-CN" altLang="en-US" sz="500">
              <a:solidFill>
                <a:schemeClr val="tx1"/>
              </a:solidFill>
              <a:latin typeface="宋体" charset="0"/>
              <a:ea typeface="宋体" charset="0"/>
              <a:cs typeface="Times New Roman" panose="02020503050405090304" charset="0"/>
              <a:sym typeface="+mn-ea"/>
            </a:endParaRPr>
          </a:p>
          <a:p>
            <a:pPr algn="just"/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自动化配置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Courier New" panose="02070409020205090404" charset="0"/>
                <a:ea typeface="宋体" charset="0"/>
                <a:cs typeface="Courier New" panose="02070409020205090404" charset="0"/>
                <a:sym typeface="+mn-ea"/>
              </a:rPr>
              <a:t>-&gt;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传统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 HPO </a:t>
            </a:r>
            <a:r>
              <a:rPr lang="en-US" altLang="zh-CN">
                <a:solidFill>
                  <a:schemeClr val="tx1"/>
                </a:solidFill>
                <a:latin typeface="Courier New" panose="02070409020205090404" charset="0"/>
                <a:ea typeface="宋体" charset="0"/>
                <a:cs typeface="Courier New" panose="02070409020205090404" charset="0"/>
                <a:sym typeface="+mn-ea"/>
              </a:rPr>
              <a:t>-&gt;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超参轨迹分析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Courier New" panose="02070409020205090404" charset="0"/>
                <a:ea typeface="宋体" charset="0"/>
                <a:cs typeface="Courier New" panose="02070409020205090404" charset="0"/>
                <a:sym typeface="+mn-ea"/>
              </a:rPr>
              <a:t>-&gt;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 Agent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迭代配置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Courier New" panose="02070409020205090404" charset="0"/>
                <a:ea typeface="宋体" charset="0"/>
                <a:cs typeface="Courier New" panose="02070409020205090404" charset="0"/>
                <a:sym typeface="+mn-ea"/>
              </a:rPr>
              <a:t>-&gt;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 ...</a:t>
            </a:r>
            <a:endParaRPr lang="en-US" altLang="zh-CN">
              <a:solidFill>
                <a:schemeClr val="tx1"/>
              </a:solidFill>
              <a:latin typeface="Times New Roman" panose="02020503050405090304" charset="0"/>
              <a:ea typeface="宋体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47065" y="5452110"/>
            <a:ext cx="50406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图</a:t>
            </a:r>
            <a:r>
              <a:rPr lang="en-US" altLang="zh-CN" sz="1600" b="1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2  LLM-based HPO vs </a:t>
            </a:r>
            <a:r>
              <a:rPr lang="zh-CN" altLang="en-US" sz="1600" b="1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传统 </a:t>
            </a:r>
            <a:r>
              <a:rPr lang="en-US" altLang="zh-CN" sz="1600" b="1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HPO</a:t>
            </a:r>
            <a:r>
              <a:rPr lang="en-US" altLang="zh-CN" sz="1600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 </a:t>
            </a:r>
            <a:r>
              <a:rPr lang="en-US" altLang="zh-CN" sz="1600" baseline="30000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[8]</a:t>
            </a:r>
            <a:endParaRPr lang="en-US" altLang="zh-CN" sz="1600" baseline="30000">
              <a:solidFill>
                <a:schemeClr val="tx1"/>
              </a:solidFill>
              <a:effectLst/>
              <a:latin typeface="Times New Roman" panose="02020503050405090304" charset="0"/>
              <a:ea typeface="宋体" charset="0"/>
              <a:cs typeface="Times New Roman" panose="02020503050405090304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0" y="6263640"/>
            <a:ext cx="12192000" cy="594360"/>
            <a:chOff x="0" y="9864"/>
            <a:chExt cx="19200" cy="936"/>
          </a:xfrm>
        </p:grpSpPr>
        <p:sp>
          <p:nvSpPr>
            <p:cNvPr id="31" name="矩形 30"/>
            <p:cNvSpPr/>
            <p:nvPr/>
          </p:nvSpPr>
          <p:spPr>
            <a:xfrm>
              <a:off x="0" y="10332"/>
              <a:ext cx="18210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(7) DeepCAVE-X: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基于强化学习的自适应 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HPO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配置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8211" y="10332"/>
              <a:ext cx="989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3/10</a:t>
              </a:r>
              <a:endParaRPr lang="en-US" altLang="zh-CN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0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王羿珧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2026211232</a:t>
              </a:r>
              <a:endParaRPr lang="en-US" altLang="zh-CN" sz="1600">
                <a:latin typeface="Times New Roman" panose="02020503050405090304" charset="0"/>
                <a:ea typeface="华文仿宋" panose="02010600040101010101" charset="-122"/>
                <a:cs typeface="Times New Roman" panose="02020503050405090304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6236" y="9864"/>
              <a:ext cx="6729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经硕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 261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管理科学与工程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2964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指导教师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：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胡鹤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35" y="0"/>
            <a:ext cx="12129135" cy="608965"/>
            <a:chOff x="1" y="0"/>
            <a:chExt cx="19101" cy="959"/>
          </a:xfrm>
        </p:grpSpPr>
        <p:sp>
          <p:nvSpPr>
            <p:cNvPr id="37" name="矩形 36"/>
            <p:cNvSpPr/>
            <p:nvPr/>
          </p:nvSpPr>
          <p:spPr>
            <a:xfrm>
              <a:off x="1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latin typeface="华文仿宋" panose="02010600040101010101" charset="-122"/>
                  <a:ea typeface="华文仿宋" panose="02010600040101010101" charset="-122"/>
                </a:rPr>
                <a:t>选题依据</a:t>
              </a:r>
              <a:r>
                <a:rPr lang="en-US" altLang="zh-CN" sz="2400" b="1" baseline="-25000">
                  <a:latin typeface="华文仿宋" panose="02010600040101010101" charset="-122"/>
                  <a:ea typeface="华文仿宋" panose="02010600040101010101" charset="-122"/>
                </a:rPr>
                <a:t>3</a:t>
              </a:r>
              <a:endParaRPr lang="en-US" altLang="zh-CN" sz="2400" b="1" baseline="-250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3970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开发方案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7939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预期</a:t>
              </a:r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计划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1908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参考文献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pic>
          <p:nvPicPr>
            <p:cNvPr id="42" name="图片 41" descr="截屏2026-09-08 12.53.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10" y="73"/>
              <a:ext cx="2892" cy="886"/>
            </a:xfrm>
            <a:prstGeom prst="rect">
              <a:avLst/>
            </a:prstGeom>
          </p:spPr>
        </p:pic>
      </p:grpSp>
      <p:pic>
        <p:nvPicPr>
          <p:cNvPr id="2" name="图片 1" descr="第3页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417445"/>
            <a:ext cx="5040000" cy="2990769"/>
          </a:xfrm>
          <a:prstGeom prst="rect">
            <a:avLst/>
          </a:prstGeom>
        </p:spPr>
      </p:pic>
      <p:pic>
        <p:nvPicPr>
          <p:cNvPr id="3" name="图片 2" descr="第6页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470" y="2417445"/>
            <a:ext cx="5040000" cy="299076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427470" y="5452110"/>
            <a:ext cx="50406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图</a:t>
            </a:r>
            <a:r>
              <a:rPr lang="en-US" altLang="zh-CN" sz="1600" b="1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3  Scaled-LLM </a:t>
            </a:r>
            <a:r>
              <a:rPr lang="zh-CN" altLang="en-US" sz="1600" b="1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依然无法击败传统</a:t>
            </a:r>
            <a:r>
              <a:rPr lang="en-US" altLang="zh-CN" sz="1600" b="1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 HPO</a:t>
            </a:r>
            <a:r>
              <a:rPr lang="en-US" altLang="zh-CN" sz="1600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 </a:t>
            </a:r>
            <a:r>
              <a:rPr lang="en-US" altLang="zh-CN" sz="1600" baseline="30000">
                <a:solidFill>
                  <a:schemeClr val="tx1"/>
                </a:solidFill>
                <a:effectLst/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[8]</a:t>
            </a:r>
            <a:endParaRPr lang="en-US" altLang="zh-CN" sz="1600" baseline="30000">
              <a:solidFill>
                <a:schemeClr val="tx1"/>
              </a:solidFill>
              <a:effectLst/>
              <a:latin typeface="Times New Roman" panose="02020503050405090304" charset="0"/>
              <a:ea typeface="宋体" charset="0"/>
              <a:cs typeface="Times New Roman" panose="0202050305040509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081895" y="0"/>
            <a:ext cx="2110105" cy="597535"/>
          </a:xfrm>
          <a:prstGeom prst="rect">
            <a:avLst/>
          </a:prstGeom>
          <a:solidFill>
            <a:srgbClr val="4B0088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solidFill>
                <a:schemeClr val="bg1">
                  <a:lumMod val="75000"/>
                </a:schemeClr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>
                <a:solidFill>
                  <a:srgbClr val="4B0088"/>
                </a:solidFill>
                <a:latin typeface="黑体" charset="0"/>
                <a:ea typeface="黑体" charset="0"/>
              </a:rPr>
              <a:t>&gt; </a:t>
            </a:r>
            <a:r>
              <a:rPr lang="zh-CN" altLang="en-US">
                <a:solidFill>
                  <a:srgbClr val="4B0088"/>
                </a:solidFill>
                <a:latin typeface="黑体" charset="0"/>
                <a:ea typeface="黑体" charset="0"/>
              </a:rPr>
              <a:t>开发方案</a:t>
            </a:r>
            <a:endParaRPr lang="zh-CN" altLang="en-US">
              <a:solidFill>
                <a:srgbClr val="4B0088"/>
              </a:solidFill>
              <a:latin typeface="黑体" charset="0"/>
              <a:ea typeface="黑体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rgbClr val="7030A0"/>
                </a:solidFill>
                <a:latin typeface="黑体" charset="0"/>
                <a:ea typeface="黑体" charset="0"/>
              </a:rPr>
              <a:t>拟解决的问题</a:t>
            </a:r>
            <a:r>
              <a:rPr lang="en-US" altLang="zh-CN">
                <a:solidFill>
                  <a:srgbClr val="7030A0"/>
                </a:solidFill>
                <a:latin typeface="黑体" charset="0"/>
                <a:ea typeface="黑体" charset="0"/>
              </a:rPr>
              <a:t>、</a:t>
            </a:r>
            <a:r>
              <a:rPr lang="zh-CN" altLang="en-US">
                <a:solidFill>
                  <a:srgbClr val="7030A0"/>
                </a:solidFill>
                <a:latin typeface="黑体" charset="0"/>
                <a:ea typeface="黑体" charset="0"/>
              </a:rPr>
              <a:t>开发方案</a:t>
            </a:r>
            <a:r>
              <a:rPr lang="en-US" altLang="zh-CN">
                <a:solidFill>
                  <a:srgbClr val="7030A0"/>
                </a:solidFill>
                <a:latin typeface="黑体" charset="0"/>
                <a:ea typeface="黑体" charset="0"/>
              </a:rPr>
              <a:t>、</a:t>
            </a:r>
            <a:r>
              <a:rPr lang="zh-CN" altLang="en-US">
                <a:solidFill>
                  <a:srgbClr val="7030A0"/>
                </a:solidFill>
                <a:latin typeface="黑体" charset="0"/>
                <a:ea typeface="黑体" charset="0"/>
              </a:rPr>
              <a:t>技术栈与技术路线</a:t>
            </a:r>
            <a:endParaRPr lang="zh-CN" altLang="en-US">
              <a:solidFill>
                <a:srgbClr val="7030A0"/>
              </a:solidFill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551180" y="830580"/>
            <a:ext cx="4041723" cy="520700"/>
            <a:chOff x="868" y="1308"/>
            <a:chExt cx="4456" cy="820"/>
          </a:xfrm>
        </p:grpSpPr>
        <p:grpSp>
          <p:nvGrpSpPr>
            <p:cNvPr id="16" name="组合 15"/>
            <p:cNvGrpSpPr/>
            <p:nvPr/>
          </p:nvGrpSpPr>
          <p:grpSpPr>
            <a:xfrm>
              <a:off x="868" y="2128"/>
              <a:ext cx="4363" cy="0"/>
              <a:chOff x="868" y="2128"/>
              <a:chExt cx="4363" cy="0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868" y="2128"/>
                <a:ext cx="397" cy="0"/>
              </a:xfrm>
              <a:prstGeom prst="line">
                <a:avLst/>
              </a:prstGeom>
              <a:ln w="25400" cap="flat" cmpd="sng">
                <a:solidFill>
                  <a:srgbClr val="4B0088"/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1262" y="2128"/>
                <a:ext cx="3969" cy="0"/>
              </a:xfrm>
              <a:prstGeom prst="line">
                <a:avLst/>
              </a:prstGeom>
              <a:ln w="25400" cap="flat" cmpd="sng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869" y="1308"/>
              <a:ext cx="445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&gt; </a:t>
              </a:r>
              <a:r>
                <a:rPr lang="zh-CN" altLang="en-US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拟解决的问题与开发方案</a:t>
              </a:r>
              <a:endParaRPr lang="zh-CN" altLang="en-US" sz="2400">
                <a:solidFill>
                  <a:srgbClr val="4B0088"/>
                </a:solidFill>
                <a:latin typeface="黑体" charset="0"/>
                <a:ea typeface="黑体" charset="0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551815" y="1434465"/>
            <a:ext cx="8136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  <a:sym typeface="+mn-ea"/>
              </a:rPr>
              <a:t>自动化配置 -&gt; 传统 </a:t>
            </a:r>
            <a:r>
              <a:rPr lang="en-US" altLang="zh-CN">
                <a:solidFill>
                  <a:schemeClr val="tx1"/>
                </a:solidFill>
                <a:latin typeface="黑体" charset="0"/>
                <a:ea typeface="黑体" charset="0"/>
                <a:sym typeface="+mn-ea"/>
              </a:rPr>
              <a:t>HPO -&gt; </a:t>
            </a:r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  <a:sym typeface="+mn-ea"/>
              </a:rPr>
              <a:t>超参轨迹分析 -&gt; </a:t>
            </a:r>
            <a:r>
              <a:rPr lang="en-US" altLang="zh-CN">
                <a:solidFill>
                  <a:schemeClr val="tx1"/>
                </a:solidFill>
                <a:latin typeface="黑体" charset="0"/>
                <a:ea typeface="黑体" charset="0"/>
                <a:sym typeface="+mn-ea"/>
              </a:rPr>
              <a:t>Agent </a:t>
            </a:r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  <a:sym typeface="+mn-ea"/>
              </a:rPr>
              <a:t>迭代配置 -&gt; ...</a:t>
            </a:r>
            <a:endParaRPr lang="zh-CN" altLang="en-US">
              <a:solidFill>
                <a:schemeClr val="tx1"/>
              </a:solidFill>
              <a:latin typeface="黑体" charset="0"/>
              <a:ea typeface="黑体" charset="0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51815" y="1771015"/>
            <a:ext cx="9427845" cy="76327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indent="0" algn="l">
              <a:buFont typeface="Arial" panose="020B0604020202090204" pitchFamily="34" charset="0"/>
              <a:buNone/>
            </a:pP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1. </a:t>
            </a:r>
            <a:r>
              <a:rPr lang="zh-CN" altLang="en-US">
                <a:solidFill>
                  <a:schemeClr val="tx1"/>
                </a:solidFill>
                <a:latin typeface="宋体" charset="0"/>
                <a:ea typeface="宋体" charset="0"/>
              </a:rPr>
              <a:t>如何实现超参搜索前的</a:t>
            </a:r>
            <a:r>
              <a:rPr lang="zh-CN" altLang="en-US">
                <a:solidFill>
                  <a:srgbClr val="4B0088"/>
                </a:solidFill>
                <a:latin typeface="黑体" charset="0"/>
                <a:ea typeface="黑体" charset="0"/>
              </a:rPr>
              <a:t>自动化配置</a:t>
            </a:r>
            <a:r>
              <a:rPr lang="en-US" altLang="zh-CN">
                <a:solidFill>
                  <a:schemeClr val="tx1"/>
                </a:solidFill>
                <a:latin typeface="宋体" charset="0"/>
                <a:ea typeface="宋体" charset="0"/>
              </a:rPr>
              <a:t>？</a:t>
            </a:r>
            <a:endParaRPr lang="zh-CN" altLang="en-US">
              <a:solidFill>
                <a:schemeClr val="tx1"/>
              </a:solidFill>
              <a:latin typeface="宋体" charset="0"/>
              <a:ea typeface="宋体" charset="0"/>
            </a:endParaRPr>
          </a:p>
          <a:p>
            <a:pPr indent="0" algn="l">
              <a:buFont typeface="Arial" panose="020B0604020202090204" pitchFamily="34" charset="0"/>
              <a:buNone/>
            </a:pPr>
            <a:endParaRPr lang="en-US" altLang="zh-CN" sz="500">
              <a:solidFill>
                <a:schemeClr val="tx1"/>
              </a:solidFill>
              <a:latin typeface="宋体" charset="0"/>
              <a:ea typeface="宋体" charset="0"/>
            </a:endParaRPr>
          </a:p>
          <a:p>
            <a:pPr indent="0" algn="l">
              <a:buFont typeface="Arial" panose="020B0604020202090204" pitchFamily="34" charset="0"/>
              <a:buNone/>
            </a:pP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2.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如何根据超参迭代轨迹进行</a:t>
            </a:r>
            <a:r>
              <a:rPr lang="zh-CN" altLang="en-US">
                <a:solidFill>
                  <a:srgbClr val="4B0088"/>
                </a:solidFill>
                <a:latin typeface="黑体" charset="0"/>
                <a:ea typeface="黑体" charset="0"/>
                <a:cs typeface="Times New Roman" panose="02020503050405090304" charset="0"/>
              </a:rPr>
              <a:t>诊断分析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，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使得分析内容能够帮助</a:t>
            </a:r>
            <a:r>
              <a:rPr lang="zh-CN" altLang="en-US">
                <a:solidFill>
                  <a:srgbClr val="4B0088"/>
                </a:solidFill>
                <a:latin typeface="黑体" charset="0"/>
                <a:ea typeface="黑体" charset="0"/>
                <a:cs typeface="Times New Roman" panose="02020503050405090304" charset="0"/>
              </a:rPr>
              <a:t>迭代配置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？</a:t>
            </a:r>
            <a:endParaRPr lang="zh-CN" altLang="en-US">
              <a:solidFill>
                <a:schemeClr val="tx1"/>
              </a:solidFill>
              <a:latin typeface="Times New Roman" panose="02020503050405090304" charset="0"/>
              <a:ea typeface="宋体" charset="0"/>
              <a:cs typeface="Times New Roman" panose="02020503050405090304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551180" y="4733925"/>
            <a:ext cx="11012170" cy="1449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1.</a:t>
            </a:r>
            <a:r>
              <a:rPr lang="zh-CN" altLang="en-US">
                <a:solidFill>
                  <a:srgbClr val="4B0088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【初始设置</a:t>
            </a:r>
            <a:r>
              <a:rPr lang="en-US" altLang="zh-CN">
                <a:solidFill>
                  <a:srgbClr val="4B0088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Agent</a:t>
            </a:r>
            <a:r>
              <a:rPr lang="zh-CN" altLang="en-US">
                <a:solidFill>
                  <a:srgbClr val="4B0088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】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任务、超参元数据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、Agent Memory  </a:t>
            </a:r>
            <a:r>
              <a:rPr lang="zh-CN" altLang="en-US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→</a:t>
            </a:r>
            <a:r>
              <a:rPr lang="en-US" altLang="zh-CN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 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搜索空间、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HPO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优化器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、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预算</a:t>
            </a:r>
            <a:endParaRPr lang="zh-CN" altLang="en-US">
              <a:solidFill>
                <a:schemeClr val="tx1"/>
              </a:solidFill>
              <a:latin typeface="Times New Roman" panose="02020503050405090304" charset="0"/>
              <a:ea typeface="宋体" charset="0"/>
              <a:cs typeface="Times New Roman" panose="02020503050405090304" charset="0"/>
            </a:endParaRPr>
          </a:p>
          <a:p>
            <a:pPr indent="0" algn="l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>
                <a:solidFill>
                  <a:srgbClr val="4B0088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   【</a:t>
            </a:r>
            <a:r>
              <a:rPr lang="zh-CN" altLang="en-US">
                <a:solidFill>
                  <a:srgbClr val="4B0088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修订设置</a:t>
            </a:r>
            <a:r>
              <a:rPr lang="en-US" altLang="zh-CN">
                <a:solidFill>
                  <a:srgbClr val="4B0088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Agent】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诊断证据、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RL Action、Agent Memory  </a:t>
            </a:r>
            <a:r>
              <a:rPr lang="zh-CN" altLang="en-US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→</a:t>
            </a:r>
            <a:r>
              <a:rPr lang="en-US" altLang="zh-CN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 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下一轮配置</a:t>
            </a:r>
            <a:endParaRPr lang="en-US" altLang="zh-CN">
              <a:solidFill>
                <a:schemeClr val="tx1"/>
              </a:solidFill>
              <a:latin typeface="Times New Roman" panose="02020503050405090304" charset="0"/>
              <a:ea typeface="宋体" charset="0"/>
              <a:cs typeface="Times New Roman" panose="02020503050405090304" charset="0"/>
            </a:endParaRPr>
          </a:p>
          <a:p>
            <a:pPr indent="0" algn="l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2.</a:t>
            </a:r>
            <a:r>
              <a:rPr lang="en-US" altLang="zh-CN">
                <a:solidFill>
                  <a:srgbClr val="4B0088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【</a:t>
            </a:r>
            <a:r>
              <a:rPr lang="zh-CN" altLang="en-US">
                <a:solidFill>
                  <a:srgbClr val="4B0088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诊断引擎</a:t>
            </a:r>
            <a:r>
              <a:rPr lang="en-US" altLang="zh-CN">
                <a:solidFill>
                  <a:srgbClr val="4B0088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】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定义好的规则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。Trial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日志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  </a:t>
            </a:r>
            <a:r>
              <a:rPr lang="zh-CN" altLang="en-US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→</a:t>
            </a:r>
            <a:r>
              <a:rPr lang="en-US" altLang="zh-CN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  </a:t>
            </a:r>
            <a:r>
              <a:rPr lang="zh-CN" altLang="en-US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结构化诊断状态</a:t>
            </a:r>
            <a:r>
              <a:rPr lang="en-US" altLang="zh-CN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rPr>
              <a:t> {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超参重要性、边界聚集、优良区域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、...}</a:t>
            </a:r>
            <a:endParaRPr lang="zh-CN" altLang="en-US">
              <a:solidFill>
                <a:schemeClr val="tx1"/>
              </a:solidFill>
              <a:latin typeface="Times New Roman" panose="02020503050405090304" charset="0"/>
              <a:ea typeface="宋体" charset="0"/>
              <a:cs typeface="Times New Roman" panose="02020503050405090304" charset="0"/>
            </a:endParaRPr>
          </a:p>
          <a:p>
            <a:pPr indent="0" algn="l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3.</a:t>
            </a:r>
            <a:r>
              <a:rPr lang="en-US" altLang="zh-CN">
                <a:solidFill>
                  <a:srgbClr val="4B0088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【RL </a:t>
            </a:r>
            <a:r>
              <a:rPr lang="zh-CN" altLang="en-US">
                <a:solidFill>
                  <a:srgbClr val="4B0088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控制</a:t>
            </a:r>
            <a:r>
              <a:rPr lang="en-US" altLang="zh-CN">
                <a:solidFill>
                  <a:srgbClr val="4B0088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】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Q-Learning。State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→</a:t>
            </a:r>
            <a:r>
              <a: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 Action </a:t>
            </a:r>
            <a:r>
              <a: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映射，以目标改进的收益减预算代价作为奖励驱动</a:t>
            </a:r>
            <a:endParaRPr lang="en-US" altLang="zh-CN">
              <a:solidFill>
                <a:schemeClr val="tx1"/>
              </a:solidFill>
              <a:latin typeface="Times New Roman" panose="02020503050405090304" charset="0"/>
              <a:ea typeface="宋体" charset="0"/>
              <a:cs typeface="Times New Roman" panose="02020503050405090304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35" y="0"/>
            <a:ext cx="12129135" cy="608965"/>
            <a:chOff x="1" y="0"/>
            <a:chExt cx="19101" cy="959"/>
          </a:xfrm>
        </p:grpSpPr>
        <p:sp>
          <p:nvSpPr>
            <p:cNvPr id="18" name="矩形 17"/>
            <p:cNvSpPr/>
            <p:nvPr/>
          </p:nvSpPr>
          <p:spPr>
            <a:xfrm>
              <a:off x="1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选题依据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970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开发方案</a:t>
              </a:r>
              <a:r>
                <a:rPr lang="en-US" altLang="zh-CN" sz="2400" b="1" baseline="-25000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endParaRPr lang="en-US" altLang="zh-CN" sz="2400" b="1" baseline="-25000">
                <a:solidFill>
                  <a:schemeClr val="bg1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7939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预期</a:t>
              </a:r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计划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1908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参考文献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pic>
          <p:nvPicPr>
            <p:cNvPr id="25" name="图片 24" descr="截屏2026-09-08 12.53.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10" y="73"/>
              <a:ext cx="2892" cy="886"/>
            </a:xfrm>
            <a:prstGeom prst="rect">
              <a:avLst/>
            </a:prstGeom>
          </p:spPr>
        </p:pic>
      </p:grpSp>
      <p:grpSp>
        <p:nvGrpSpPr>
          <p:cNvPr id="105" name="组合 104"/>
          <p:cNvGrpSpPr/>
          <p:nvPr/>
        </p:nvGrpSpPr>
        <p:grpSpPr>
          <a:xfrm>
            <a:off x="0" y="6263640"/>
            <a:ext cx="12192000" cy="594360"/>
            <a:chOff x="0" y="9864"/>
            <a:chExt cx="19200" cy="936"/>
          </a:xfrm>
        </p:grpSpPr>
        <p:sp>
          <p:nvSpPr>
            <p:cNvPr id="106" name="矩形 105"/>
            <p:cNvSpPr/>
            <p:nvPr/>
          </p:nvSpPr>
          <p:spPr>
            <a:xfrm>
              <a:off x="0" y="10332"/>
              <a:ext cx="18210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(7) DeepCAVE-X: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基于强化学习的自适应 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HPO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配置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8211" y="10332"/>
              <a:ext cx="989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4/10</a:t>
              </a:r>
              <a:endParaRPr lang="en-US" altLang="zh-CN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0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王羿珧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2026211232</a:t>
              </a:r>
              <a:endParaRPr lang="en-US" altLang="zh-CN" sz="1600">
                <a:latin typeface="Times New Roman" panose="02020503050405090304" charset="0"/>
                <a:ea typeface="华文仿宋" panose="02010600040101010101" charset="-122"/>
                <a:cs typeface="Times New Roman" panose="02020503050405090304" charset="0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6236" y="9864"/>
              <a:ext cx="6729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经硕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 261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管理科学与工程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12964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指导教师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：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胡鹤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0081895" y="0"/>
            <a:ext cx="2110105" cy="597535"/>
          </a:xfrm>
          <a:prstGeom prst="rect">
            <a:avLst/>
          </a:prstGeom>
          <a:solidFill>
            <a:srgbClr val="4B0088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solidFill>
                <a:schemeClr val="bg1">
                  <a:lumMod val="75000"/>
                </a:schemeClr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pic>
        <p:nvPicPr>
          <p:cNvPr id="4" name="图片 3" descr="dataflow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580005"/>
            <a:ext cx="12192000" cy="21088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551180" y="830580"/>
            <a:ext cx="3600000" cy="520700"/>
            <a:chOff x="868" y="1308"/>
            <a:chExt cx="3969" cy="820"/>
          </a:xfrm>
        </p:grpSpPr>
        <p:grpSp>
          <p:nvGrpSpPr>
            <p:cNvPr id="16" name="组合 15"/>
            <p:cNvGrpSpPr/>
            <p:nvPr/>
          </p:nvGrpSpPr>
          <p:grpSpPr>
            <a:xfrm>
              <a:off x="868" y="2128"/>
              <a:ext cx="3259" cy="0"/>
              <a:chOff x="868" y="2128"/>
              <a:chExt cx="3259" cy="0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868" y="2128"/>
                <a:ext cx="397" cy="0"/>
              </a:xfrm>
              <a:prstGeom prst="line">
                <a:avLst/>
              </a:prstGeom>
              <a:ln w="25400" cap="flat" cmpd="sng">
                <a:solidFill>
                  <a:srgbClr val="4B0088"/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1260" y="2128"/>
                <a:ext cx="2867" cy="0"/>
              </a:xfrm>
              <a:prstGeom prst="line">
                <a:avLst/>
              </a:prstGeom>
              <a:ln w="25400" cap="flat" cmpd="sng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869" y="1308"/>
              <a:ext cx="396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&gt; </a:t>
              </a:r>
              <a:r>
                <a:rPr lang="zh-CN" altLang="en-US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技术栈与技术路线</a:t>
              </a:r>
              <a:endParaRPr lang="zh-CN" altLang="en-US" sz="2400">
                <a:solidFill>
                  <a:srgbClr val="4B0088"/>
                </a:solidFill>
                <a:latin typeface="黑体" charset="0"/>
                <a:ea typeface="黑体" charset="0"/>
              </a:endParaRPr>
            </a:p>
          </p:txBody>
        </p:sp>
      </p:grpSp>
      <p:grpSp>
        <p:nvGrpSpPr>
          <p:cNvPr id="357" name="组合 356"/>
          <p:cNvGrpSpPr/>
          <p:nvPr/>
        </p:nvGrpSpPr>
        <p:grpSpPr>
          <a:xfrm>
            <a:off x="551815" y="1501775"/>
            <a:ext cx="4819015" cy="4536440"/>
            <a:chOff x="494" y="2567"/>
            <a:chExt cx="10082" cy="6314"/>
          </a:xfrm>
        </p:grpSpPr>
        <p:sp>
          <p:nvSpPr>
            <p:cNvPr id="102" name="矩形 101"/>
            <p:cNvSpPr/>
            <p:nvPr/>
          </p:nvSpPr>
          <p:spPr>
            <a:xfrm>
              <a:off x="494" y="2567"/>
              <a:ext cx="10082" cy="6314"/>
            </a:xfrm>
            <a:prstGeom prst="rect">
              <a:avLst/>
            </a:prstGeom>
            <a:noFill/>
            <a:ln w="12700" cap="flat" cmpd="sng" algn="ctr">
              <a:solidFill>
                <a:schemeClr val="accent4">
                  <a:lumMod val="50000"/>
                </a:schemeClr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50000"/>
                      <a:alpha val="10000"/>
                    </a:schemeClr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56" name="文本框 355"/>
            <p:cNvSpPr txBox="1"/>
            <p:nvPr/>
          </p:nvSpPr>
          <p:spPr>
            <a:xfrm>
              <a:off x="546" y="2594"/>
              <a:ext cx="9994" cy="6276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lvl="0" indent="0" algn="l">
                <a:buFont typeface="Arial" panose="020B0604020202090204" pitchFamily="34" charset="0"/>
                <a:buNone/>
              </a:pPr>
              <a:r>
                <a:rPr lang="en-US" altLang="zh-CN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1. HPO </a:t>
              </a:r>
              <a:r>
                <a:rPr lang="zh-CN" altLang="en-US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配置</a:t>
              </a:r>
              <a:r>
                <a:rPr lang="en-US" altLang="zh-CN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 Agent</a:t>
              </a:r>
              <a:br>
                <a:rPr lang="en-US" altLang="zh-CN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</a:br>
              <a:r>
                <a:rPr lang="en-US" altLang="zh-CN" sz="1600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1.1 </a:t>
              </a:r>
              <a:r>
                <a:rPr lang="zh-CN" altLang="en-US" sz="1600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初始配置生成</a:t>
              </a:r>
              <a:r>
                <a:rPr lang="en-US" altLang="zh-CN" sz="1600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 Agent</a:t>
              </a:r>
              <a:endParaRPr lang="en-US" altLang="zh-CN" sz="1600">
                <a:solidFill>
                  <a:schemeClr val="tx1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en-US" altLang="zh-CN" sz="1600">
                <a:solidFill>
                  <a:schemeClr val="tx1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en-US" altLang="zh-CN" sz="1600">
                <a:solidFill>
                  <a:schemeClr val="tx1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1.2 </a:t>
              </a:r>
              <a:r>
                <a:rPr lang="zh-CN" altLang="en-US" sz="1600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增量配置修订</a:t>
              </a:r>
              <a:r>
                <a:rPr lang="en-US" altLang="zh-CN" sz="1600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 Agent</a:t>
              </a:r>
              <a:endParaRPr lang="en-US" altLang="zh-CN" sz="1600">
                <a:solidFill>
                  <a:schemeClr val="tx1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br>
                <a:rPr lang="zh-CN" altLang="en-US" sz="1600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</a:br>
              <a:endPara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35" y="0"/>
            <a:ext cx="12129135" cy="608965"/>
            <a:chOff x="1" y="0"/>
            <a:chExt cx="19101" cy="959"/>
          </a:xfrm>
        </p:grpSpPr>
        <p:sp>
          <p:nvSpPr>
            <p:cNvPr id="18" name="矩形 17"/>
            <p:cNvSpPr/>
            <p:nvPr/>
          </p:nvSpPr>
          <p:spPr>
            <a:xfrm>
              <a:off x="1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选题依据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970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开发方案</a:t>
              </a:r>
              <a:r>
                <a:rPr lang="en-US" altLang="zh-CN" sz="2400" b="1" baseline="-25000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2</a:t>
              </a:r>
              <a:endParaRPr lang="en-US" altLang="zh-CN" sz="2400" b="1" baseline="-25000">
                <a:solidFill>
                  <a:schemeClr val="bg1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7939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预期</a:t>
              </a:r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计划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1908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参考文献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pic>
          <p:nvPicPr>
            <p:cNvPr id="25" name="图片 24" descr="截屏2026-09-08 12.53.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10" y="73"/>
              <a:ext cx="2892" cy="886"/>
            </a:xfrm>
            <a:prstGeom prst="rect">
              <a:avLst/>
            </a:prstGeom>
          </p:spPr>
        </p:pic>
      </p:grpSp>
      <p:grpSp>
        <p:nvGrpSpPr>
          <p:cNvPr id="105" name="组合 104"/>
          <p:cNvGrpSpPr/>
          <p:nvPr/>
        </p:nvGrpSpPr>
        <p:grpSpPr>
          <a:xfrm>
            <a:off x="0" y="6263640"/>
            <a:ext cx="12192000" cy="594360"/>
            <a:chOff x="0" y="9864"/>
            <a:chExt cx="19200" cy="936"/>
          </a:xfrm>
        </p:grpSpPr>
        <p:sp>
          <p:nvSpPr>
            <p:cNvPr id="106" name="矩形 105"/>
            <p:cNvSpPr/>
            <p:nvPr/>
          </p:nvSpPr>
          <p:spPr>
            <a:xfrm>
              <a:off x="0" y="10332"/>
              <a:ext cx="18210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(7) DeepCAVE-X: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基于强化学习的自适应 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HPO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配置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8211" y="10332"/>
              <a:ext cx="989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5/10</a:t>
              </a:r>
              <a:endParaRPr lang="en-US" altLang="zh-CN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0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王羿珧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2026211232</a:t>
              </a:r>
              <a:endParaRPr lang="en-US" altLang="zh-CN" sz="1600">
                <a:latin typeface="Times New Roman" panose="02020503050405090304" charset="0"/>
                <a:ea typeface="华文仿宋" panose="02010600040101010101" charset="-122"/>
                <a:cs typeface="Times New Roman" panose="02020503050405090304" charset="0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6236" y="9864"/>
              <a:ext cx="6729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经硕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 261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管理科学与工程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12964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指导教师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：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胡鹤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0081895" y="0"/>
            <a:ext cx="2110105" cy="597535"/>
          </a:xfrm>
          <a:prstGeom prst="rect">
            <a:avLst/>
          </a:prstGeom>
          <a:solidFill>
            <a:srgbClr val="4B0088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solidFill>
                <a:schemeClr val="bg1">
                  <a:lumMod val="75000"/>
                </a:schemeClr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pic>
        <p:nvPicPr>
          <p:cNvPr id="3" name="图片 2" descr="截屏2026-09-12 16.46.58"/>
          <p:cNvPicPr>
            <a:picLocks noChangeAspect="1"/>
          </p:cNvPicPr>
          <p:nvPr/>
        </p:nvPicPr>
        <p:blipFill>
          <a:blip r:embed="rId2"/>
          <a:srcRect b="388"/>
          <a:stretch>
            <a:fillRect/>
          </a:stretch>
        </p:blipFill>
        <p:spPr>
          <a:xfrm>
            <a:off x="5435600" y="736600"/>
            <a:ext cx="6720840" cy="5379085"/>
          </a:xfrm>
          <a:prstGeom prst="rect">
            <a:avLst/>
          </a:prstGeom>
        </p:spPr>
      </p:pic>
      <p:pic>
        <p:nvPicPr>
          <p:cNvPr id="4" name="图片 3" descr="截屏2026-09-12 20.50.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75" y="2153920"/>
            <a:ext cx="3790315" cy="1829435"/>
          </a:xfrm>
          <a:prstGeom prst="rect">
            <a:avLst/>
          </a:prstGeom>
        </p:spPr>
      </p:pic>
      <p:pic>
        <p:nvPicPr>
          <p:cNvPr id="5" name="图片 4" descr="截屏2026-09-12 21.06.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025" y="4351655"/>
            <a:ext cx="3750945" cy="16243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551180" y="830580"/>
            <a:ext cx="3600000" cy="520700"/>
            <a:chOff x="868" y="1308"/>
            <a:chExt cx="3969" cy="820"/>
          </a:xfrm>
        </p:grpSpPr>
        <p:grpSp>
          <p:nvGrpSpPr>
            <p:cNvPr id="16" name="组合 15"/>
            <p:cNvGrpSpPr/>
            <p:nvPr/>
          </p:nvGrpSpPr>
          <p:grpSpPr>
            <a:xfrm>
              <a:off x="868" y="2128"/>
              <a:ext cx="3259" cy="0"/>
              <a:chOff x="868" y="2128"/>
              <a:chExt cx="3259" cy="0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868" y="2128"/>
                <a:ext cx="397" cy="0"/>
              </a:xfrm>
              <a:prstGeom prst="line">
                <a:avLst/>
              </a:prstGeom>
              <a:ln w="25400" cap="flat" cmpd="sng">
                <a:solidFill>
                  <a:srgbClr val="4B0088"/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1260" y="2128"/>
                <a:ext cx="2867" cy="0"/>
              </a:xfrm>
              <a:prstGeom prst="line">
                <a:avLst/>
              </a:prstGeom>
              <a:ln w="25400" cap="flat" cmpd="sng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869" y="1308"/>
              <a:ext cx="396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&gt; </a:t>
              </a:r>
              <a:r>
                <a:rPr lang="zh-CN" altLang="en-US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技术栈与技术路线</a:t>
              </a:r>
              <a:endParaRPr lang="zh-CN" altLang="en-US" sz="2400">
                <a:solidFill>
                  <a:srgbClr val="4B0088"/>
                </a:solidFill>
                <a:latin typeface="黑体" charset="0"/>
                <a:ea typeface="黑体" charset="0"/>
              </a:endParaRPr>
            </a:p>
          </p:txBody>
        </p:sp>
      </p:grpSp>
      <p:grpSp>
        <p:nvGrpSpPr>
          <p:cNvPr id="357" name="组合 356"/>
          <p:cNvGrpSpPr/>
          <p:nvPr/>
        </p:nvGrpSpPr>
        <p:grpSpPr>
          <a:xfrm>
            <a:off x="551815" y="1501775"/>
            <a:ext cx="4819015" cy="4536012"/>
            <a:chOff x="494" y="2567"/>
            <a:chExt cx="10082" cy="7065"/>
          </a:xfrm>
        </p:grpSpPr>
        <p:sp>
          <p:nvSpPr>
            <p:cNvPr id="102" name="矩形 101"/>
            <p:cNvSpPr/>
            <p:nvPr/>
          </p:nvSpPr>
          <p:spPr>
            <a:xfrm>
              <a:off x="494" y="2567"/>
              <a:ext cx="10082" cy="7065"/>
            </a:xfrm>
            <a:prstGeom prst="rect">
              <a:avLst/>
            </a:prstGeom>
            <a:noFill/>
            <a:ln w="12700" cap="flat" cmpd="sng" algn="ctr">
              <a:solidFill>
                <a:schemeClr val="accent4">
                  <a:lumMod val="50000"/>
                </a:schemeClr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50000"/>
                      <a:alpha val="10000"/>
                    </a:schemeClr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56" name="文本框 355"/>
            <p:cNvSpPr txBox="1"/>
            <p:nvPr/>
          </p:nvSpPr>
          <p:spPr>
            <a:xfrm>
              <a:off x="546" y="2610"/>
              <a:ext cx="9994" cy="7021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lvl="0" indent="0" algn="l">
                <a:buFont typeface="Arial" panose="020B0604020202090204" pitchFamily="34" charset="0"/>
                <a:buNone/>
              </a:pP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2. 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诊断驱动的</a:t>
              </a: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RL</a:t>
              </a:r>
              <a:b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</a:br>
              <a:r>
                <a:rPr lang="en-US" altLang="zh-CN" sz="1600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2.1 HPO </a:t>
              </a:r>
              <a:r>
                <a:rPr lang="zh-CN" altLang="en-US" sz="1600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轨迹诊断分析</a:t>
              </a: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br>
                <a:rPr lang="zh-CN" altLang="en-US" sz="1600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</a:b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2.2 </a:t>
              </a:r>
              <a:r>
                <a:rPr lang="en-US" altLang="zh-CN" sz="1600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RL </a:t>
              </a:r>
              <a:r>
                <a:rPr lang="zh-CN" altLang="en-US" sz="1600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干预控制器</a:t>
              </a:r>
              <a:br>
                <a:rPr lang="zh-CN" altLang="en-US" sz="1600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</a:b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lvl="0" indent="0" algn="l">
                <a:buFont typeface="Arial" panose="020B0604020202090204" pitchFamily="34" charset="0"/>
                <a:buNone/>
              </a:pPr>
              <a:endPara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35" y="0"/>
            <a:ext cx="12129135" cy="608965"/>
            <a:chOff x="1" y="0"/>
            <a:chExt cx="19101" cy="959"/>
          </a:xfrm>
        </p:grpSpPr>
        <p:sp>
          <p:nvSpPr>
            <p:cNvPr id="18" name="矩形 17"/>
            <p:cNvSpPr/>
            <p:nvPr/>
          </p:nvSpPr>
          <p:spPr>
            <a:xfrm>
              <a:off x="1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选题依据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970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开发方案</a:t>
              </a:r>
              <a:r>
                <a:rPr lang="en-US" altLang="zh-CN" sz="2400" b="1" baseline="-25000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2</a:t>
              </a:r>
              <a:endParaRPr lang="en-US" altLang="zh-CN" sz="2400" b="1" baseline="-25000">
                <a:solidFill>
                  <a:schemeClr val="bg1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7939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预期</a:t>
              </a:r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计划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1908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参考文献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pic>
          <p:nvPicPr>
            <p:cNvPr id="25" name="图片 24" descr="截屏2026-09-08 12.53.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10" y="73"/>
              <a:ext cx="2892" cy="886"/>
            </a:xfrm>
            <a:prstGeom prst="rect">
              <a:avLst/>
            </a:prstGeom>
          </p:spPr>
        </p:pic>
      </p:grpSp>
      <p:grpSp>
        <p:nvGrpSpPr>
          <p:cNvPr id="105" name="组合 104"/>
          <p:cNvGrpSpPr/>
          <p:nvPr/>
        </p:nvGrpSpPr>
        <p:grpSpPr>
          <a:xfrm>
            <a:off x="0" y="6263640"/>
            <a:ext cx="12192000" cy="594360"/>
            <a:chOff x="0" y="9864"/>
            <a:chExt cx="19200" cy="936"/>
          </a:xfrm>
        </p:grpSpPr>
        <p:sp>
          <p:nvSpPr>
            <p:cNvPr id="106" name="矩形 105"/>
            <p:cNvSpPr/>
            <p:nvPr/>
          </p:nvSpPr>
          <p:spPr>
            <a:xfrm>
              <a:off x="0" y="10332"/>
              <a:ext cx="18210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(7) DeepCAVE-X: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基于强化学习的自适应 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HPO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配置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8211" y="10332"/>
              <a:ext cx="989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6/10</a:t>
              </a:r>
              <a:endParaRPr lang="en-US" altLang="zh-CN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0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王羿珧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2026211232</a:t>
              </a:r>
              <a:endParaRPr lang="en-US" altLang="zh-CN" sz="1600">
                <a:latin typeface="Times New Roman" panose="02020503050405090304" charset="0"/>
                <a:ea typeface="华文仿宋" panose="02010600040101010101" charset="-122"/>
                <a:cs typeface="Times New Roman" panose="02020503050405090304" charset="0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6236" y="9864"/>
              <a:ext cx="6729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经硕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 261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管理科学与工程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12964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指导教师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：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胡鹤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0081895" y="0"/>
            <a:ext cx="2110105" cy="597535"/>
          </a:xfrm>
          <a:prstGeom prst="rect">
            <a:avLst/>
          </a:prstGeom>
          <a:solidFill>
            <a:srgbClr val="4B0088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solidFill>
                <a:schemeClr val="bg1">
                  <a:lumMod val="75000"/>
                </a:schemeClr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pic>
        <p:nvPicPr>
          <p:cNvPr id="2" name="图片 1" descr="截屏2026-09-12 21.41.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45" y="2105025"/>
            <a:ext cx="3754755" cy="1376680"/>
          </a:xfrm>
          <a:prstGeom prst="rect">
            <a:avLst/>
          </a:prstGeom>
        </p:spPr>
      </p:pic>
      <p:pic>
        <p:nvPicPr>
          <p:cNvPr id="7" name="图片 6" descr="截屏2026-09-12 22.29.27"/>
          <p:cNvPicPr>
            <a:picLocks noChangeAspect="1"/>
          </p:cNvPicPr>
          <p:nvPr/>
        </p:nvPicPr>
        <p:blipFill>
          <a:blip r:embed="rId3"/>
          <a:srcRect t="4292"/>
          <a:stretch>
            <a:fillRect/>
          </a:stretch>
        </p:blipFill>
        <p:spPr>
          <a:xfrm>
            <a:off x="733425" y="3784600"/>
            <a:ext cx="4549775" cy="2178685"/>
          </a:xfrm>
          <a:prstGeom prst="rect">
            <a:avLst/>
          </a:prstGeom>
        </p:spPr>
      </p:pic>
      <p:pic>
        <p:nvPicPr>
          <p:cNvPr id="8" name="图片 7" descr="截屏2026-09-12 16.46.58"/>
          <p:cNvPicPr>
            <a:picLocks noChangeAspect="1"/>
          </p:cNvPicPr>
          <p:nvPr/>
        </p:nvPicPr>
        <p:blipFill>
          <a:blip r:embed="rId4"/>
          <a:srcRect b="388"/>
          <a:stretch>
            <a:fillRect/>
          </a:stretch>
        </p:blipFill>
        <p:spPr>
          <a:xfrm>
            <a:off x="5435600" y="736600"/>
            <a:ext cx="6720840" cy="53790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>
                <a:solidFill>
                  <a:srgbClr val="4B0088"/>
                </a:solidFill>
                <a:latin typeface="黑体" charset="0"/>
                <a:ea typeface="黑体" charset="0"/>
              </a:rPr>
              <a:t>&gt; </a:t>
            </a:r>
            <a:r>
              <a:rPr lang="zh-CN" altLang="en-US">
                <a:solidFill>
                  <a:srgbClr val="4B0088"/>
                </a:solidFill>
                <a:latin typeface="黑体" charset="0"/>
                <a:ea typeface="黑体" charset="0"/>
              </a:rPr>
              <a:t>预期计划</a:t>
            </a:r>
            <a:endParaRPr lang="zh-CN" altLang="en-US">
              <a:solidFill>
                <a:srgbClr val="4B0088"/>
              </a:solidFill>
              <a:latin typeface="黑体" charset="0"/>
              <a:ea typeface="黑体" charset="0"/>
            </a:endParaRPr>
          </a:p>
        </p:txBody>
      </p:sp>
      <p:sp>
        <p:nvSpPr>
          <p:cNvPr id="2" name="文本占位符 1"/>
          <p:cNvSpPr/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rgbClr val="7030A0"/>
                </a:solidFill>
                <a:latin typeface="黑体" charset="0"/>
                <a:ea typeface="黑体" charset="0"/>
              </a:rPr>
              <a:t>预期成果</a:t>
            </a:r>
            <a:r>
              <a:rPr lang="en-US" altLang="zh-CN">
                <a:solidFill>
                  <a:srgbClr val="7030A0"/>
                </a:solidFill>
                <a:latin typeface="黑体" charset="0"/>
                <a:ea typeface="黑体" charset="0"/>
              </a:rPr>
              <a:t>、</a:t>
            </a:r>
            <a:r>
              <a:rPr lang="zh-CN" altLang="en-US">
                <a:solidFill>
                  <a:srgbClr val="7030A0"/>
                </a:solidFill>
                <a:latin typeface="黑体" charset="0"/>
                <a:ea typeface="黑体" charset="0"/>
              </a:rPr>
              <a:t>可行性分析</a:t>
            </a:r>
            <a:r>
              <a:rPr lang="en-US" altLang="zh-CN">
                <a:solidFill>
                  <a:srgbClr val="7030A0"/>
                </a:solidFill>
                <a:latin typeface="黑体" charset="0"/>
                <a:ea typeface="黑体" charset="0"/>
              </a:rPr>
              <a:t>、</a:t>
            </a:r>
            <a:r>
              <a:rPr lang="zh-CN" altLang="en-US">
                <a:solidFill>
                  <a:srgbClr val="7030A0"/>
                </a:solidFill>
                <a:latin typeface="黑体" charset="0"/>
                <a:ea typeface="黑体" charset="0"/>
              </a:rPr>
              <a:t>任务计划</a:t>
            </a:r>
            <a:endParaRPr lang="zh-CN" altLang="en-US">
              <a:solidFill>
                <a:srgbClr val="7030A0"/>
              </a:solidFill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551180" y="830580"/>
            <a:ext cx="6840816" cy="520700"/>
            <a:chOff x="868" y="1308"/>
            <a:chExt cx="7542" cy="820"/>
          </a:xfrm>
        </p:grpSpPr>
        <p:grpSp>
          <p:nvGrpSpPr>
            <p:cNvPr id="16" name="组合 15"/>
            <p:cNvGrpSpPr/>
            <p:nvPr/>
          </p:nvGrpSpPr>
          <p:grpSpPr>
            <a:xfrm>
              <a:off x="868" y="2128"/>
              <a:ext cx="4041" cy="0"/>
              <a:chOff x="868" y="2128"/>
              <a:chExt cx="4041" cy="0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868" y="2128"/>
                <a:ext cx="397" cy="0"/>
              </a:xfrm>
              <a:prstGeom prst="line">
                <a:avLst/>
              </a:prstGeom>
              <a:ln w="25400" cap="flat" cmpd="sng">
                <a:solidFill>
                  <a:srgbClr val="4B0088"/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1259" y="2128"/>
                <a:ext cx="3650" cy="0"/>
              </a:xfrm>
              <a:prstGeom prst="line">
                <a:avLst/>
              </a:prstGeom>
              <a:ln w="25400" cap="flat" cmpd="sng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869" y="1308"/>
              <a:ext cx="754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&gt; </a:t>
              </a:r>
              <a:r>
                <a:rPr lang="zh-CN" altLang="en-US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预期成果与可行性分析</a:t>
              </a:r>
              <a:endParaRPr lang="zh-CN" altLang="en-US" sz="2400">
                <a:solidFill>
                  <a:srgbClr val="4B0088"/>
                </a:solidFill>
                <a:latin typeface="黑体" charset="0"/>
                <a:ea typeface="黑体" charset="0"/>
              </a:endParaRPr>
            </a:p>
          </p:txBody>
        </p:sp>
      </p:grpSp>
      <p:grpSp>
        <p:nvGrpSpPr>
          <p:cNvPr id="357" name="组合 356"/>
          <p:cNvGrpSpPr/>
          <p:nvPr/>
        </p:nvGrpSpPr>
        <p:grpSpPr>
          <a:xfrm>
            <a:off x="6116955" y="1119505"/>
            <a:ext cx="5468620" cy="4611370"/>
            <a:chOff x="494" y="2567"/>
            <a:chExt cx="10082" cy="6453"/>
          </a:xfrm>
        </p:grpSpPr>
        <p:sp>
          <p:nvSpPr>
            <p:cNvPr id="102" name="矩形 101"/>
            <p:cNvSpPr/>
            <p:nvPr/>
          </p:nvSpPr>
          <p:spPr>
            <a:xfrm>
              <a:off x="494" y="2567"/>
              <a:ext cx="10082" cy="6453"/>
            </a:xfrm>
            <a:prstGeom prst="rect">
              <a:avLst/>
            </a:prstGeom>
            <a:noFill/>
            <a:ln w="12700" cap="flat" cmpd="sng" algn="ctr">
              <a:solidFill>
                <a:schemeClr val="accent4">
                  <a:lumMod val="50000"/>
                </a:schemeClr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50000"/>
                      <a:alpha val="10000"/>
                    </a:schemeClr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56" name="文本框 355"/>
            <p:cNvSpPr txBox="1"/>
            <p:nvPr/>
          </p:nvSpPr>
          <p:spPr>
            <a:xfrm>
              <a:off x="546" y="2655"/>
              <a:ext cx="9994" cy="613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lvl="0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宋体" charset="0"/>
                  <a:ea typeface="宋体" charset="0"/>
                </a:rPr>
                <a:t>初步模块</a:t>
              </a:r>
              <a:r>
                <a:rPr lang="zh-CN" altLang="en-US">
                  <a:solidFill>
                    <a:schemeClr val="tx1"/>
                  </a:solidFill>
                  <a:latin typeface="宋体" charset="0"/>
                  <a:ea typeface="宋体" charset="0"/>
                </a:rPr>
                <a:t>开发</a:t>
              </a:r>
              <a:endParaRPr lang="zh-CN" altLang="en-US">
                <a:solidFill>
                  <a:schemeClr val="tx1"/>
                </a:solidFill>
                <a:latin typeface="宋体" charset="0"/>
                <a:ea typeface="宋体" charset="0"/>
              </a:endParaRPr>
            </a:p>
            <a:p>
              <a:pPr marL="285750" lvl="0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endParaRPr lang="en-US" altLang="zh-CN" sz="5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742950" lvl="1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双后端 </a:t>
              </a:r>
              <a:r>
                <a:rPr lang="en-US" altLang="zh-CN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Setup Agent（heuristic/LLM）、7 </a:t>
              </a:r>
              <a:r>
                <a:rPr lang="zh-CN" altLang="en-US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种干预动作的修订 </a:t>
              </a:r>
              <a:r>
                <a:rPr lang="en-US" altLang="zh-CN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Agent、Optuna HPO </a:t>
              </a:r>
              <a:r>
                <a:rPr lang="zh-CN" altLang="en-US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执行器</a:t>
              </a:r>
              <a:endPara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742950" lvl="1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诊断引擎（</a:t>
              </a: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fANOVA、LPI、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最优值</a:t>
              </a: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、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停滞判定</a:t>
              </a: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、...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）</a:t>
              </a: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、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表格 </a:t>
              </a: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Q-Learning 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控制器</a:t>
              </a:r>
              <a:endPara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742950" lvl="1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en-US" altLang="zh-CN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Schema </a:t>
              </a:r>
              <a:r>
                <a:rPr lang="zh-CN" altLang="en-US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校验</a:t>
              </a:r>
              <a:r>
                <a:rPr lang="en-US" altLang="zh-CN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、</a:t>
              </a:r>
              <a:r>
                <a:rPr lang="zh-CN" altLang="en-US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基于</a:t>
              </a:r>
              <a:r>
                <a:rPr lang="en-US" altLang="zh-CN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 SQLite </a:t>
              </a:r>
              <a:r>
                <a:rPr lang="zh-CN" altLang="en-US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的</a:t>
              </a:r>
              <a:r>
                <a:rPr lang="en-US" altLang="zh-CN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 Agent Memory</a:t>
              </a:r>
              <a:endParaRPr lang="en-US" altLang="zh-CN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endParaRPr>
            </a:p>
            <a:p>
              <a:pPr marL="285750" lvl="0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endParaRPr lang="en-US" altLang="zh-CN" sz="500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endParaRPr>
            </a:p>
            <a:p>
              <a:pPr marL="285750" lvl="0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Sklearn 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手写数字 + 随机森林</a:t>
              </a:r>
              <a:endPara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35" y="0"/>
            <a:ext cx="12129135" cy="608965"/>
            <a:chOff x="1" y="0"/>
            <a:chExt cx="19101" cy="959"/>
          </a:xfrm>
        </p:grpSpPr>
        <p:sp>
          <p:nvSpPr>
            <p:cNvPr id="19" name="矩形 18"/>
            <p:cNvSpPr/>
            <p:nvPr/>
          </p:nvSpPr>
          <p:spPr>
            <a:xfrm>
              <a:off x="1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选题依据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70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开发方案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939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预期计划</a:t>
              </a:r>
              <a:r>
                <a:rPr lang="en-US" altLang="zh-CN" sz="2400" b="1" baseline="-25000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endParaRPr lang="en-US" altLang="zh-CN" sz="2400" b="1" baseline="-25000">
                <a:solidFill>
                  <a:schemeClr val="bg1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1908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参考文献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pic>
          <p:nvPicPr>
            <p:cNvPr id="26" name="图片 25" descr="截屏2026-09-08 12.53.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10" y="73"/>
              <a:ext cx="2892" cy="886"/>
            </a:xfrm>
            <a:prstGeom prst="rect">
              <a:avLst/>
            </a:prstGeom>
          </p:spPr>
        </p:pic>
      </p:grpSp>
      <p:grpSp>
        <p:nvGrpSpPr>
          <p:cNvPr id="105" name="组合 104"/>
          <p:cNvGrpSpPr/>
          <p:nvPr/>
        </p:nvGrpSpPr>
        <p:grpSpPr>
          <a:xfrm>
            <a:off x="0" y="6263640"/>
            <a:ext cx="12192000" cy="594360"/>
            <a:chOff x="0" y="9864"/>
            <a:chExt cx="19200" cy="936"/>
          </a:xfrm>
        </p:grpSpPr>
        <p:sp>
          <p:nvSpPr>
            <p:cNvPr id="106" name="矩形 105"/>
            <p:cNvSpPr/>
            <p:nvPr/>
          </p:nvSpPr>
          <p:spPr>
            <a:xfrm>
              <a:off x="0" y="10332"/>
              <a:ext cx="18210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(7) DeepCAVE-X: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基于强化学习的自适应 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HPO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配置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8211" y="10332"/>
              <a:ext cx="989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7/10</a:t>
              </a:r>
              <a:endParaRPr lang="en-US" altLang="zh-CN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0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王羿珧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2026211232</a:t>
              </a:r>
              <a:endParaRPr lang="en-US" altLang="zh-CN" sz="1600">
                <a:latin typeface="Times New Roman" panose="02020503050405090304" charset="0"/>
                <a:ea typeface="华文仿宋" panose="02010600040101010101" charset="-122"/>
                <a:cs typeface="Times New Roman" panose="02020503050405090304" charset="0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6236" y="9864"/>
              <a:ext cx="6729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经硕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 261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管理科学与工程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12964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指导教师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：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胡鹤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0081895" y="0"/>
            <a:ext cx="2110105" cy="597535"/>
          </a:xfrm>
          <a:prstGeom prst="rect">
            <a:avLst/>
          </a:prstGeom>
          <a:solidFill>
            <a:srgbClr val="4B0088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solidFill>
                <a:schemeClr val="bg1">
                  <a:lumMod val="75000"/>
                </a:schemeClr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36880" y="1574800"/>
            <a:ext cx="5468620" cy="4156063"/>
            <a:chOff x="494" y="2567"/>
            <a:chExt cx="10082" cy="6453"/>
          </a:xfrm>
        </p:grpSpPr>
        <p:sp>
          <p:nvSpPr>
            <p:cNvPr id="3" name="矩形 2"/>
            <p:cNvSpPr/>
            <p:nvPr/>
          </p:nvSpPr>
          <p:spPr>
            <a:xfrm>
              <a:off x="494" y="2567"/>
              <a:ext cx="10082" cy="6453"/>
            </a:xfrm>
            <a:prstGeom prst="rect">
              <a:avLst/>
            </a:prstGeom>
            <a:noFill/>
            <a:ln w="12700" cap="flat" cmpd="sng" algn="ctr">
              <a:solidFill>
                <a:schemeClr val="accent4">
                  <a:lumMod val="50000"/>
                </a:schemeClr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50000"/>
                      <a:alpha val="10000"/>
                    </a:schemeClr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46" y="2655"/>
              <a:ext cx="9994" cy="613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lvl="0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宋体" charset="0"/>
                  <a:ea typeface="宋体" charset="0"/>
                </a:rPr>
                <a:t>开源工具包</a:t>
              </a:r>
              <a:r>
                <a:rPr lang="en-US" altLang="zh-CN">
                  <a:solidFill>
                    <a:schemeClr val="tx1"/>
                  </a:solidFill>
                  <a:latin typeface="宋体" charset="0"/>
                  <a:ea typeface="宋体" charset="0"/>
                </a:rPr>
                <a:t> </a:t>
              </a:r>
              <a:r>
                <a:rPr lang="en-US" altLang="zh-CN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HPO-adapt</a:t>
              </a:r>
              <a:endParaRPr lang="en-US" altLang="zh-CN">
                <a:solidFill>
                  <a:schemeClr val="tx1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  <a:p>
              <a:pPr marL="285750" lvl="0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endParaRPr lang="zh-CN" altLang="en-US" sz="500">
                <a:solidFill>
                  <a:schemeClr val="tx1"/>
                </a:solidFill>
                <a:latin typeface="宋体" charset="0"/>
                <a:ea typeface="宋体" charset="0"/>
              </a:endParaRPr>
            </a:p>
            <a:p>
              <a:pPr marL="742950" lvl="1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</a:rPr>
                <a:t>基于</a:t>
              </a:r>
              <a:r>
                <a:rPr lang="en-US" altLang="zh-CN">
                  <a:solidFill>
                    <a:schemeClr val="tx1"/>
                  </a:solidFill>
                  <a:latin typeface="黑体" charset="0"/>
                  <a:ea typeface="黑体" charset="0"/>
                </a:rPr>
                <a:t> RL </a:t>
              </a: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</a:rPr>
                <a:t>的诊断驱动 </a:t>
              </a:r>
              <a:r>
                <a:rPr lang="en-US" altLang="zh-CN">
                  <a:solidFill>
                    <a:schemeClr val="tx1"/>
                  </a:solidFill>
                  <a:latin typeface="黑体" charset="0"/>
                  <a:ea typeface="黑体" charset="0"/>
                </a:rPr>
                <a:t>HPO </a:t>
              </a: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</a:rPr>
                <a:t>配置</a:t>
              </a: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</a:rPr>
                <a:t>自适应</a:t>
              </a:r>
              <a:endParaRPr lang="zh-CN" altLang="en-US">
                <a:solidFill>
                  <a:schemeClr val="tx1"/>
                </a:solidFill>
                <a:latin typeface="黑体" charset="0"/>
                <a:ea typeface="黑体" charset="0"/>
              </a:endParaRPr>
            </a:p>
            <a:p>
              <a:pPr marL="1200150" lvl="2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宋体" charset="0"/>
                  <a:ea typeface="宋体" charset="0"/>
                </a:rPr>
                <a:t>无需具备超参配置</a:t>
              </a:r>
              <a:r>
                <a:rPr lang="zh-CN" altLang="en-US">
                  <a:solidFill>
                    <a:schemeClr val="tx1"/>
                  </a:solidFill>
                  <a:latin typeface="宋体" charset="0"/>
                  <a:ea typeface="宋体" charset="0"/>
                </a:rPr>
                <a:t>的领域</a:t>
              </a:r>
              <a:r>
                <a:rPr lang="zh-CN" altLang="en-US">
                  <a:solidFill>
                    <a:schemeClr val="tx1"/>
                  </a:solidFill>
                  <a:latin typeface="宋体" charset="0"/>
                  <a:ea typeface="宋体" charset="0"/>
                </a:rPr>
                <a:t>知识</a:t>
              </a:r>
              <a:endParaRPr lang="zh-CN" altLang="en-US">
                <a:solidFill>
                  <a:schemeClr val="tx1"/>
                </a:solidFill>
                <a:latin typeface="宋体" charset="0"/>
                <a:ea typeface="宋体" charset="0"/>
              </a:endParaRPr>
            </a:p>
            <a:p>
              <a:pPr marL="1200150" lvl="2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宋体" charset="0"/>
                  <a:ea typeface="宋体" charset="0"/>
                </a:rPr>
                <a:t>一次命令完成超参数优化</a:t>
              </a:r>
              <a:endParaRPr lang="zh-CN" altLang="en-US">
                <a:solidFill>
                  <a:schemeClr val="tx1"/>
                </a:solidFill>
                <a:latin typeface="宋体" charset="0"/>
                <a:ea typeface="宋体" charset="0"/>
              </a:endParaRPr>
            </a:p>
            <a:p>
              <a:pPr marL="1200150" lvl="2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endParaRPr lang="zh-CN" altLang="en-US" sz="5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742950" lvl="1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独立的轨迹诊断引擎</a:t>
              </a:r>
              <a:r>
                <a:rPr lang="en-US" altLang="zh-CN">
                  <a:solidFill>
                    <a:schemeClr val="tx1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 DeepCAVE-X</a:t>
              </a:r>
              <a:endPara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1200150" lvl="2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提供透明性</a:t>
              </a:r>
              <a:endParaRPr lang="en-US" altLang="zh-CN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endParaRPr>
            </a:p>
            <a:p>
              <a:pPr marL="285750" lvl="0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endParaRPr lang="en-US" altLang="zh-CN" sz="500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endParaRPr>
            </a:p>
            <a:p>
              <a:pPr marL="285750" lvl="0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论文</a:t>
              </a:r>
              <a:endPara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285750" lvl="0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endParaRPr lang="zh-CN" altLang="en-US" sz="5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742950" lvl="1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en-US" altLang="zh-CN">
                  <a:solidFill>
                    <a:schemeClr val="tx1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Observe–Decide–Execute </a:t>
              </a: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三层架构</a:t>
              </a:r>
              <a:endParaRPr lang="en-US" altLang="zh-CN">
                <a:solidFill>
                  <a:schemeClr val="tx1"/>
                </a:solidFill>
                <a:latin typeface="黑体" charset="0"/>
                <a:ea typeface="黑体" charset="0"/>
                <a:cs typeface="Times New Roman" panose="02020503050405090304" charset="0"/>
              </a:endParaRPr>
            </a:p>
            <a:p>
              <a:pPr marL="1200150" lvl="2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规则</a:t>
              </a:r>
              <a:r>
                <a:rPr lang="en-US" altLang="zh-CN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 - RL </a:t>
              </a:r>
              <a:r>
                <a:rPr lang="zh-CN" altLang="en-US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控制</a:t>
              </a:r>
              <a:r>
                <a:rPr lang="en-US" altLang="zh-CN">
                  <a:solidFill>
                    <a:schemeClr val="tx1"/>
                  </a:solidFill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 - Agent</a:t>
              </a:r>
              <a:endParaRPr lang="en-US" altLang="zh-CN">
                <a:solidFill>
                  <a:schemeClr val="tx1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  <a:p>
              <a:pPr marL="1200150" lvl="2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endParaRPr lang="en-US" altLang="zh-CN" sz="500">
                <a:solidFill>
                  <a:schemeClr val="tx1"/>
                </a:solidFill>
                <a:latin typeface="Times New Roman Regular" panose="02020503050405090304" charset="0"/>
                <a:ea typeface="黑体" charset="0"/>
                <a:cs typeface="Times New Roman Regular" panose="02020503050405090304" charset="0"/>
              </a:endParaRPr>
            </a:p>
            <a:p>
              <a:pPr marL="742950" lvl="1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  <a:cs typeface="Times New Roman" panose="02020503050405090304" charset="0"/>
                </a:rPr>
                <a:t>核心贡献</a:t>
              </a:r>
              <a:endParaRPr lang="zh-CN" altLang="en-US">
                <a:solidFill>
                  <a:schemeClr val="tx1"/>
                </a:solidFill>
                <a:latin typeface="黑体" charset="0"/>
                <a:ea typeface="黑体" charset="0"/>
                <a:cs typeface="Times New Roman" panose="02020503050405090304" charset="0"/>
              </a:endParaRPr>
            </a:p>
            <a:p>
              <a:pPr marL="1200150" lvl="2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确定适配器位置</a:t>
              </a:r>
              <a:endPara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1200150" lvl="2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确定适配器结构</a:t>
              </a: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- 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瓶颈结构</a:t>
              </a:r>
              <a:endPara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1200150" lvl="2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性能指标突破</a:t>
              </a: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 - 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与静态配置对比</a:t>
              </a:r>
              <a:endPara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</p:txBody>
        </p:sp>
      </p:grpSp>
      <p:pic>
        <p:nvPicPr>
          <p:cNvPr id="5" name="图片 4" descr="截屏2026-09-13 08.35.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770" y="3353435"/>
            <a:ext cx="5135245" cy="23774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551180" y="830580"/>
            <a:ext cx="6840816" cy="520700"/>
            <a:chOff x="868" y="1308"/>
            <a:chExt cx="7542" cy="820"/>
          </a:xfrm>
        </p:grpSpPr>
        <p:grpSp>
          <p:nvGrpSpPr>
            <p:cNvPr id="16" name="组合 15"/>
            <p:cNvGrpSpPr/>
            <p:nvPr/>
          </p:nvGrpSpPr>
          <p:grpSpPr>
            <a:xfrm>
              <a:off x="868" y="2128"/>
              <a:ext cx="1900" cy="0"/>
              <a:chOff x="868" y="2128"/>
              <a:chExt cx="1900" cy="0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868" y="2128"/>
                <a:ext cx="397" cy="0"/>
              </a:xfrm>
              <a:prstGeom prst="line">
                <a:avLst/>
              </a:prstGeom>
              <a:ln w="25400" cap="flat" cmpd="sng">
                <a:solidFill>
                  <a:srgbClr val="4B0088"/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1259" y="2128"/>
                <a:ext cx="1509" cy="0"/>
              </a:xfrm>
              <a:prstGeom prst="line">
                <a:avLst/>
              </a:prstGeom>
              <a:ln w="25400" cap="flat" cmpd="sng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869" y="1308"/>
              <a:ext cx="754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&gt; </a:t>
              </a:r>
              <a:r>
                <a:rPr lang="zh-CN" altLang="en-US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任务计划</a:t>
              </a:r>
              <a:endParaRPr lang="zh-CN" altLang="en-US" sz="2400">
                <a:solidFill>
                  <a:srgbClr val="4B0088"/>
                </a:solidFill>
                <a:latin typeface="黑体" charset="0"/>
                <a:ea typeface="黑体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35" y="0"/>
            <a:ext cx="12129135" cy="608965"/>
            <a:chOff x="1" y="0"/>
            <a:chExt cx="19101" cy="959"/>
          </a:xfrm>
        </p:grpSpPr>
        <p:sp>
          <p:nvSpPr>
            <p:cNvPr id="19" name="矩形 18"/>
            <p:cNvSpPr/>
            <p:nvPr/>
          </p:nvSpPr>
          <p:spPr>
            <a:xfrm>
              <a:off x="1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选题依据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70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开发方案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939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预期计划</a:t>
              </a:r>
              <a:r>
                <a:rPr lang="en-US" altLang="zh-CN" sz="2400" b="1" baseline="-25000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2</a:t>
              </a:r>
              <a:endParaRPr lang="en-US" altLang="zh-CN" sz="2400" b="1" baseline="-25000">
                <a:solidFill>
                  <a:schemeClr val="bg1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1908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参考文献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pic>
          <p:nvPicPr>
            <p:cNvPr id="26" name="图片 25" descr="截屏2026-09-08 12.53.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10" y="73"/>
              <a:ext cx="2892" cy="886"/>
            </a:xfrm>
            <a:prstGeom prst="rect">
              <a:avLst/>
            </a:prstGeom>
          </p:spPr>
        </p:pic>
      </p:grpSp>
      <p:grpSp>
        <p:nvGrpSpPr>
          <p:cNvPr id="105" name="组合 104"/>
          <p:cNvGrpSpPr/>
          <p:nvPr/>
        </p:nvGrpSpPr>
        <p:grpSpPr>
          <a:xfrm>
            <a:off x="0" y="6263640"/>
            <a:ext cx="12192000" cy="594360"/>
            <a:chOff x="0" y="9864"/>
            <a:chExt cx="19200" cy="936"/>
          </a:xfrm>
        </p:grpSpPr>
        <p:sp>
          <p:nvSpPr>
            <p:cNvPr id="106" name="矩形 105"/>
            <p:cNvSpPr/>
            <p:nvPr/>
          </p:nvSpPr>
          <p:spPr>
            <a:xfrm>
              <a:off x="0" y="10332"/>
              <a:ext cx="18210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(7) DeepCAVE-X: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基于强化学习的自适应 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HPO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配置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8211" y="10332"/>
              <a:ext cx="989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8/10</a:t>
              </a:r>
              <a:endParaRPr lang="en-US" altLang="zh-CN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0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王羿珧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2026211232</a:t>
              </a:r>
              <a:endParaRPr lang="en-US" altLang="zh-CN" sz="1600">
                <a:latin typeface="Times New Roman" panose="02020503050405090304" charset="0"/>
                <a:ea typeface="华文仿宋" panose="02010600040101010101" charset="-122"/>
                <a:cs typeface="Times New Roman" panose="02020503050405090304" charset="0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6236" y="9864"/>
              <a:ext cx="6729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经硕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 261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管理科学与工程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12964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指导教师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：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胡鹤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0081895" y="0"/>
            <a:ext cx="2110105" cy="597535"/>
          </a:xfrm>
          <a:prstGeom prst="rect">
            <a:avLst/>
          </a:prstGeom>
          <a:solidFill>
            <a:srgbClr val="4B0088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solidFill>
                <a:schemeClr val="bg1">
                  <a:lumMod val="75000"/>
                </a:schemeClr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91845" y="1553210"/>
          <a:ext cx="10335895" cy="4064000"/>
        </p:xfrm>
        <a:graphic>
          <a:graphicData uri="http://schemas.openxmlformats.org/drawingml/2006/table">
            <a:tbl>
              <a:tblPr/>
              <a:tblGrid>
                <a:gridCol w="866775"/>
                <a:gridCol w="861060"/>
                <a:gridCol w="860425"/>
                <a:gridCol w="861060"/>
                <a:gridCol w="860425"/>
                <a:gridCol w="861060"/>
                <a:gridCol w="861060"/>
                <a:gridCol w="860425"/>
                <a:gridCol w="861060"/>
                <a:gridCol w="861060"/>
                <a:gridCol w="860425"/>
                <a:gridCol w="861060"/>
              </a:tblGrid>
              <a:tr h="508000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周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</a:b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0906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开题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</a:b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0913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周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</a:b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0913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周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</a:b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0920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4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周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</a:b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0927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周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</a:b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1004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周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</a:b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1011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文献调研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66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66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66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C6EA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报告撰写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D9E1F4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66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C6EA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包开发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66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1E366A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C6EA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HPO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配置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Agent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D9E1F4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B5C6EA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91AADF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66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轨迹驱动的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RL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66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对比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实验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D9E1F4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66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66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66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AADF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消融实验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D9E1F4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66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529F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>
                <a:solidFill>
                  <a:srgbClr val="4B0088"/>
                </a:solidFill>
                <a:latin typeface="黑体" charset="0"/>
                <a:ea typeface="黑体" charset="0"/>
              </a:rPr>
              <a:t>&gt; </a:t>
            </a:r>
            <a:r>
              <a:rPr lang="zh-CN" altLang="en-US">
                <a:solidFill>
                  <a:srgbClr val="4B0088"/>
                </a:solidFill>
                <a:latin typeface="黑体" charset="0"/>
                <a:ea typeface="黑体" charset="0"/>
              </a:rPr>
              <a:t>总结</a:t>
            </a:r>
            <a:endParaRPr lang="zh-CN" altLang="en-US">
              <a:solidFill>
                <a:srgbClr val="4B0088"/>
              </a:solidFill>
              <a:latin typeface="黑体" charset="0"/>
              <a:ea typeface="黑体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7030A0"/>
                </a:solidFill>
                <a:latin typeface="黑体" charset="0"/>
                <a:ea typeface="黑体" charset="0"/>
              </a:rPr>
              <a:t>总结</a:t>
            </a:r>
            <a:r>
              <a:rPr lang="en-US" altLang="zh-CN">
                <a:solidFill>
                  <a:srgbClr val="7030A0"/>
                </a:solidFill>
                <a:latin typeface="黑体" charset="0"/>
                <a:ea typeface="黑体" charset="0"/>
              </a:rPr>
              <a:t>、</a:t>
            </a:r>
            <a:r>
              <a:rPr lang="zh-CN" altLang="en-US">
                <a:solidFill>
                  <a:srgbClr val="7030A0"/>
                </a:solidFill>
                <a:latin typeface="黑体" charset="0"/>
                <a:ea typeface="黑体" charset="0"/>
              </a:rPr>
              <a:t>参考文献</a:t>
            </a:r>
            <a:endParaRPr lang="zh-CN" altLang="en-US">
              <a:solidFill>
                <a:srgbClr val="7030A0"/>
              </a:solidFill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551180" y="830580"/>
            <a:ext cx="10554195" cy="520700"/>
            <a:chOff x="868" y="1308"/>
            <a:chExt cx="11636" cy="820"/>
          </a:xfrm>
        </p:grpSpPr>
        <p:grpSp>
          <p:nvGrpSpPr>
            <p:cNvPr id="16" name="组合 15"/>
            <p:cNvGrpSpPr/>
            <p:nvPr/>
          </p:nvGrpSpPr>
          <p:grpSpPr>
            <a:xfrm>
              <a:off x="868" y="2128"/>
              <a:ext cx="1296" cy="0"/>
              <a:chOff x="868" y="2128"/>
              <a:chExt cx="1296" cy="0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868" y="2128"/>
                <a:ext cx="397" cy="0"/>
              </a:xfrm>
              <a:prstGeom prst="line">
                <a:avLst/>
              </a:prstGeom>
              <a:ln w="25400" cap="flat" cmpd="sng">
                <a:solidFill>
                  <a:srgbClr val="4B0088"/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1260" y="2128"/>
                <a:ext cx="904" cy="0"/>
              </a:xfrm>
              <a:prstGeom prst="line">
                <a:avLst/>
              </a:prstGeom>
              <a:ln w="25400" cap="flat" cmpd="sng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869" y="1308"/>
              <a:ext cx="1163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&gt; </a:t>
              </a:r>
              <a:r>
                <a:rPr lang="zh-CN" altLang="en-US" sz="2400">
                  <a:solidFill>
                    <a:srgbClr val="4B0088"/>
                  </a:solidFill>
                  <a:latin typeface="黑体" charset="0"/>
                  <a:ea typeface="黑体" charset="0"/>
                  <a:sym typeface="+mn-ea"/>
                </a:rPr>
                <a:t>总结</a:t>
              </a:r>
              <a:endParaRPr lang="zh-CN" altLang="en-US" sz="2400">
                <a:solidFill>
                  <a:srgbClr val="4B0088"/>
                </a:solidFill>
                <a:latin typeface="黑体" charset="0"/>
                <a:ea typeface="黑体" charset="0"/>
                <a:sym typeface="+mn-ea"/>
              </a:endParaRPr>
            </a:p>
          </p:txBody>
        </p:sp>
      </p:grpSp>
      <p:grpSp>
        <p:nvGrpSpPr>
          <p:cNvPr id="357" name="组合 356"/>
          <p:cNvGrpSpPr/>
          <p:nvPr/>
        </p:nvGrpSpPr>
        <p:grpSpPr>
          <a:xfrm>
            <a:off x="575310" y="1524000"/>
            <a:ext cx="5400040" cy="1503045"/>
            <a:chOff x="494" y="2567"/>
            <a:chExt cx="10082" cy="6314"/>
          </a:xfrm>
        </p:grpSpPr>
        <p:sp>
          <p:nvSpPr>
            <p:cNvPr id="17" name="矩形 16"/>
            <p:cNvSpPr/>
            <p:nvPr/>
          </p:nvSpPr>
          <p:spPr>
            <a:xfrm>
              <a:off x="494" y="2567"/>
              <a:ext cx="10082" cy="6314"/>
            </a:xfrm>
            <a:prstGeom prst="rect">
              <a:avLst/>
            </a:prstGeom>
            <a:noFill/>
            <a:ln w="12700" cap="flat" cmpd="sng" algn="ctr">
              <a:solidFill>
                <a:schemeClr val="accent4">
                  <a:lumMod val="50000"/>
                </a:schemeClr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50000"/>
                      <a:alpha val="10000"/>
                    </a:schemeClr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56" name="文本框 355"/>
            <p:cNvSpPr txBox="1"/>
            <p:nvPr/>
          </p:nvSpPr>
          <p:spPr>
            <a:xfrm>
              <a:off x="547" y="2655"/>
              <a:ext cx="10029" cy="6226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p>
              <a:pPr lvl="0" indent="0" algn="ctr" fontAlgn="auto">
                <a:lnSpc>
                  <a:spcPct val="110000"/>
                </a:lnSpc>
                <a:buFont typeface="Arial" panose="020B0604020202090204" pitchFamily="34" charset="0"/>
                <a:buNone/>
              </a:pP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</a:rPr>
                <a:t>研究动机</a:t>
              </a:r>
              <a:endParaRPr lang="zh-CN" altLang="en-US">
                <a:solidFill>
                  <a:schemeClr val="tx1"/>
                </a:solidFill>
                <a:latin typeface="黑体" charset="0"/>
                <a:ea typeface="黑体" charset="0"/>
              </a:endParaRPr>
            </a:p>
            <a:p>
              <a:pPr lvl="0" indent="0" algn="ctr" fontAlgn="auto">
                <a:lnSpc>
                  <a:spcPct val="110000"/>
                </a:lnSpc>
                <a:buFont typeface="Arial" panose="020B0604020202090204" pitchFamily="34" charset="0"/>
                <a:buNone/>
              </a:pPr>
              <a:endParaRPr lang="zh-CN" altLang="en-US" sz="500">
                <a:solidFill>
                  <a:schemeClr val="tx1"/>
                </a:solidFill>
                <a:latin typeface="黑体" charset="0"/>
                <a:ea typeface="黑体" charset="0"/>
              </a:endParaRPr>
            </a:p>
            <a:p>
              <a:pPr marL="285750" indent="-285750" algn="l">
                <a:buFont typeface="Arial" panose="020B0604020202090204" pitchFamily="34" charset="0"/>
                <a:buChar char="•"/>
              </a:pPr>
              <a:r>
                <a:rPr lang="en-US" altLang="zh-CN">
                  <a:solidFill>
                    <a:srgbClr val="7030A0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HPO</a:t>
              </a:r>
              <a:r>
                <a:rPr lang="en-US" altLang="zh-CN" b="1">
                  <a:solidFill>
                    <a:srgbClr val="7030A0"/>
                  </a:solidFill>
                  <a:latin typeface="宋体" charset="0"/>
                  <a:ea typeface="宋体" charset="0"/>
                  <a:cs typeface="宋体" charset="0"/>
                  <a:sym typeface="+mn-ea"/>
                </a:rPr>
                <a:t> </a:t>
              </a:r>
              <a:r>
                <a:rPr lang="zh-CN" altLang="en-US">
                  <a:latin typeface="宋体" charset="0"/>
                  <a:ea typeface="宋体" charset="0"/>
                  <a:cs typeface="宋体" charset="0"/>
                  <a:sym typeface="+mn-ea"/>
                </a:rPr>
                <a:t>负责自动搜索模型超参数配置</a:t>
              </a:r>
              <a:endParaRPr lang="zh-CN" altLang="en-US">
                <a:solidFill>
                  <a:schemeClr val="tx1"/>
                </a:solidFill>
                <a:latin typeface="宋体" charset="0"/>
                <a:ea typeface="宋体" charset="0"/>
                <a:cs typeface="Times New Roman" panose="02020503050405090304" charset="0"/>
              </a:endParaRPr>
            </a:p>
            <a:p>
              <a:pPr marL="285750" lvl="0" indent="-285750" algn="l" fontAlgn="auto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latin typeface="宋体" charset="0"/>
                  <a:ea typeface="宋体" charset="0"/>
                  <a:sym typeface="+mn-ea"/>
                </a:rPr>
                <a:t>自动化超参搜索依赖</a:t>
              </a:r>
              <a:r>
                <a:rPr lang="zh-CN" altLang="en-US">
                  <a:solidFill>
                    <a:srgbClr val="7030A0"/>
                  </a:solidFill>
                  <a:latin typeface="宋体" charset="0"/>
                  <a:ea typeface="宋体" charset="0"/>
                  <a:sym typeface="+mn-ea"/>
                </a:rPr>
                <a:t>配置</a:t>
              </a:r>
              <a:r>
                <a:rPr lang="en-US" altLang="zh-CN">
                  <a:solidFill>
                    <a:srgbClr val="7030A0"/>
                  </a:solidFill>
                  <a:latin typeface="宋体" charset="0"/>
                  <a:ea typeface="宋体" charset="0"/>
                  <a:sym typeface="+mn-ea"/>
                </a:rPr>
                <a:t>，</a:t>
              </a:r>
              <a:r>
                <a:rPr lang="zh-CN" altLang="en-US">
                  <a:solidFill>
                    <a:srgbClr val="7030A0"/>
                  </a:solidFill>
                  <a:latin typeface="宋体" charset="0"/>
                  <a:ea typeface="宋体" charset="0"/>
                  <a:sym typeface="+mn-ea"/>
                </a:rPr>
                <a:t>配置</a:t>
              </a:r>
              <a:r>
                <a:rPr lang="zh-CN" altLang="en-US">
                  <a:latin typeface="宋体" charset="0"/>
                  <a:ea typeface="宋体" charset="0"/>
                  <a:sym typeface="+mn-ea"/>
                </a:rPr>
                <a:t>很重要</a:t>
              </a:r>
              <a:endParaRPr lang="zh-CN" altLang="en-US">
                <a:solidFill>
                  <a:schemeClr val="tx1"/>
                </a:solidFill>
                <a:latin typeface="宋体" charset="0"/>
                <a:ea typeface="宋体" charset="0"/>
                <a:cs typeface="Times New Roman" panose="02020503050405090304" charset="0"/>
              </a:endParaRPr>
            </a:p>
            <a:p>
              <a:pPr marL="285750" lvl="0" indent="-285750" algn="l" fontAlgn="auto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Agentic Setup + Classical HPO</a:t>
              </a:r>
              <a:endPara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163945" y="1524000"/>
            <a:ext cx="5400040" cy="2491740"/>
            <a:chOff x="494" y="2567"/>
            <a:chExt cx="10082" cy="6314"/>
          </a:xfrm>
        </p:grpSpPr>
        <p:sp>
          <p:nvSpPr>
            <p:cNvPr id="19" name="矩形 18"/>
            <p:cNvSpPr/>
            <p:nvPr/>
          </p:nvSpPr>
          <p:spPr>
            <a:xfrm>
              <a:off x="494" y="2567"/>
              <a:ext cx="10082" cy="6314"/>
            </a:xfrm>
            <a:prstGeom prst="rect">
              <a:avLst/>
            </a:prstGeom>
            <a:noFill/>
            <a:ln w="12700" cap="flat" cmpd="sng" algn="ctr">
              <a:solidFill>
                <a:schemeClr val="accent4">
                  <a:lumMod val="50000"/>
                </a:schemeClr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50000"/>
                      <a:alpha val="10000"/>
                    </a:schemeClr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47" y="2655"/>
              <a:ext cx="10029" cy="6226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p>
              <a:pPr lvl="0" indent="0" algn="ctr" fontAlgn="auto">
                <a:lnSpc>
                  <a:spcPct val="110000"/>
                </a:lnSpc>
                <a:buFont typeface="Arial" panose="020B0604020202090204" pitchFamily="34" charset="0"/>
                <a:buNone/>
              </a:pP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</a:rPr>
                <a:t>模块设计</a:t>
              </a:r>
              <a:endParaRPr lang="zh-CN" altLang="en-US">
                <a:solidFill>
                  <a:schemeClr val="tx1"/>
                </a:solidFill>
                <a:latin typeface="黑体" charset="0"/>
                <a:ea typeface="黑体" charset="0"/>
              </a:endParaRPr>
            </a:p>
            <a:p>
              <a:pPr lvl="0" indent="0" algn="l" fontAlgn="auto">
                <a:lnSpc>
                  <a:spcPct val="110000"/>
                </a:lnSpc>
                <a:buFont typeface="Arial" panose="020B0604020202090204" pitchFamily="34" charset="0"/>
                <a:buNone/>
              </a:pPr>
              <a:endParaRPr lang="zh-CN" altLang="en-US" sz="500">
                <a:solidFill>
                  <a:schemeClr val="tx1"/>
                </a:solidFill>
                <a:latin typeface="黑体" charset="0"/>
                <a:ea typeface="黑体" charset="0"/>
              </a:endParaRPr>
            </a:p>
            <a:p>
              <a:pPr lvl="0" indent="0" algn="l" fontAlgn="auto">
                <a:lnSpc>
                  <a:spcPct val="110000"/>
                </a:lnSpc>
                <a:buFont typeface="Arial" panose="020B0604020202090204" pitchFamily="34" charset="0"/>
                <a:buNone/>
              </a:pPr>
              <a:endParaRPr lang="zh-CN" altLang="en-US">
                <a:solidFill>
                  <a:schemeClr val="tx1"/>
                </a:solidFill>
                <a:latin typeface="宋体" charset="0"/>
                <a:ea typeface="宋体" charset="0"/>
                <a:cs typeface="Times New Roman" panose="0202050305040509030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75310" y="3221355"/>
            <a:ext cx="5400040" cy="2773680"/>
            <a:chOff x="494" y="2567"/>
            <a:chExt cx="10082" cy="6314"/>
          </a:xfrm>
        </p:grpSpPr>
        <p:sp>
          <p:nvSpPr>
            <p:cNvPr id="26" name="矩形 25"/>
            <p:cNvSpPr/>
            <p:nvPr/>
          </p:nvSpPr>
          <p:spPr>
            <a:xfrm>
              <a:off x="494" y="2567"/>
              <a:ext cx="10082" cy="6314"/>
            </a:xfrm>
            <a:prstGeom prst="rect">
              <a:avLst/>
            </a:prstGeom>
            <a:noFill/>
            <a:ln w="12700" cap="flat" cmpd="sng" algn="ctr">
              <a:solidFill>
                <a:schemeClr val="accent4">
                  <a:lumMod val="50000"/>
                </a:schemeClr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50000"/>
                      <a:alpha val="10000"/>
                    </a:schemeClr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547" y="2655"/>
              <a:ext cx="10029" cy="6226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p>
              <a:pPr lvl="0" indent="0" algn="ctr" fontAlgn="auto">
                <a:lnSpc>
                  <a:spcPct val="110000"/>
                </a:lnSpc>
                <a:buFont typeface="Arial" panose="020B0604020202090204" pitchFamily="34" charset="0"/>
                <a:buNone/>
              </a:pP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</a:rPr>
                <a:t>研究</a:t>
              </a: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</a:rPr>
                <a:t>方案</a:t>
              </a:r>
              <a:endParaRPr lang="zh-CN" altLang="en-US">
                <a:solidFill>
                  <a:schemeClr val="tx1"/>
                </a:solidFill>
                <a:latin typeface="黑体" charset="0"/>
                <a:ea typeface="黑体" charset="0"/>
              </a:endParaRPr>
            </a:p>
            <a:p>
              <a:pPr lvl="0" indent="0" algn="ctr" fontAlgn="auto">
                <a:lnSpc>
                  <a:spcPct val="110000"/>
                </a:lnSpc>
                <a:buFont typeface="Arial" panose="020B0604020202090204" pitchFamily="34" charset="0"/>
                <a:buNone/>
              </a:pPr>
              <a:endParaRPr lang="zh-CN" altLang="en-US" sz="500">
                <a:solidFill>
                  <a:schemeClr val="tx1"/>
                </a:solidFill>
                <a:latin typeface="黑体" charset="0"/>
                <a:ea typeface="黑体" charset="0"/>
              </a:endParaRPr>
            </a:p>
            <a:p>
              <a:pPr marL="285750" lvl="0" indent="-285750" algn="l" fontAlgn="auto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HPO </a:t>
              </a:r>
              <a:r>
                <a:rPr lang="zh-CN" altLang="en-US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配置 </a:t>
              </a: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Agent</a:t>
              </a:r>
              <a:endParaRPr lang="en-US" altLang="zh-CN">
                <a:solidFill>
                  <a:schemeClr val="tx1"/>
                </a:solidFill>
                <a:latin typeface="宋体" charset="0"/>
                <a:ea typeface="宋体" charset="0"/>
                <a:cs typeface="Times New Roman" panose="02020503050405090304" charset="0"/>
              </a:endParaRPr>
            </a:p>
            <a:p>
              <a:pPr marL="742950" lvl="1" indent="-285750" algn="l" fontAlgn="auto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zh-CN" altLang="en-US" sz="16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  <a:sym typeface="+mn-ea"/>
                </a:rPr>
                <a:t>初始配置生成</a:t>
              </a:r>
              <a:r>
                <a:rPr lang="en-US" altLang="zh-CN" sz="16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  <a:sym typeface="+mn-ea"/>
                </a:rPr>
                <a:t> Agent</a:t>
              </a:r>
              <a:r>
                <a:rPr lang="en-US" altLang="zh-CN" sz="16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、</a:t>
              </a:r>
              <a:r>
                <a:rPr lang="zh-CN" altLang="en-US" sz="16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  <a:sym typeface="+mn-ea"/>
                </a:rPr>
                <a:t>增量配置修订</a:t>
              </a:r>
              <a:r>
                <a:rPr lang="en-US" altLang="zh-CN" sz="16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  <a:sym typeface="+mn-ea"/>
                </a:rPr>
                <a:t> Agent</a:t>
              </a:r>
              <a:endParaRPr lang="zh-CN" altLang="en-US" sz="1600">
                <a:solidFill>
                  <a:schemeClr val="tx1"/>
                </a:solidFill>
                <a:latin typeface="宋体" charset="0"/>
                <a:ea typeface="宋体" charset="0"/>
                <a:cs typeface="Times New Roman" panose="02020503050405090304" charset="0"/>
              </a:endParaRPr>
            </a:p>
            <a:p>
              <a:pPr marL="285750" lvl="0" indent="-285750" algn="l" fontAlgn="auto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solidFill>
                    <a:schemeClr val="tx1"/>
                  </a:solidFill>
                  <a:latin typeface="宋体" charset="0"/>
                  <a:ea typeface="宋体" charset="0"/>
                  <a:cs typeface="Times New Roman" panose="02020503050405090304" charset="0"/>
                </a:rPr>
                <a:t>诊断驱动的 </a:t>
              </a:r>
              <a:r>
                <a:rPr lang="en-US" altLang="zh-CN">
                  <a:solidFill>
                    <a:schemeClr val="tx1"/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RL</a:t>
              </a:r>
              <a:endParaRPr lang="en-US" altLang="zh-CN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742950" lvl="1" indent="-285750" algn="l" fontAlgn="auto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r>
                <a:rPr lang="en-US" altLang="zh-CN" sz="16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HPO </a:t>
              </a:r>
              <a:r>
                <a:rPr lang="zh-CN" altLang="en-US" sz="16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轨迹诊断分析</a:t>
              </a:r>
              <a:r>
                <a:rPr lang="en-US" altLang="zh-CN" sz="16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、RL </a:t>
              </a:r>
              <a:r>
                <a:rPr lang="zh-CN" altLang="en-US" sz="16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干预控制器</a:t>
              </a:r>
              <a:endParaRPr lang="zh-CN" altLang="en-US" sz="1600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6163310" y="4204335"/>
            <a:ext cx="5400000" cy="1800000"/>
            <a:chOff x="494" y="2567"/>
            <a:chExt cx="10082" cy="6314"/>
          </a:xfrm>
        </p:grpSpPr>
        <p:sp>
          <p:nvSpPr>
            <p:cNvPr id="104" name="矩形 103"/>
            <p:cNvSpPr/>
            <p:nvPr/>
          </p:nvSpPr>
          <p:spPr>
            <a:xfrm>
              <a:off x="494" y="2567"/>
              <a:ext cx="10082" cy="6314"/>
            </a:xfrm>
            <a:prstGeom prst="rect">
              <a:avLst/>
            </a:prstGeom>
            <a:noFill/>
            <a:ln w="12700" cap="flat" cmpd="sng" algn="ctr">
              <a:solidFill>
                <a:schemeClr val="accent4">
                  <a:lumMod val="50000"/>
                </a:schemeClr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50000"/>
                      <a:alpha val="10000"/>
                    </a:schemeClr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547" y="2655"/>
              <a:ext cx="10029" cy="6226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p>
              <a:pPr lvl="0" indent="0" algn="ctr" fontAlgn="auto">
                <a:lnSpc>
                  <a:spcPct val="110000"/>
                </a:lnSpc>
                <a:buFont typeface="Arial" panose="020B0604020202090204" pitchFamily="34" charset="0"/>
                <a:buNone/>
              </a:pP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</a:rPr>
                <a:t>初步</a:t>
              </a:r>
              <a:r>
                <a:rPr lang="zh-CN" altLang="en-US">
                  <a:solidFill>
                    <a:schemeClr val="tx1"/>
                  </a:solidFill>
                  <a:latin typeface="黑体" charset="0"/>
                  <a:ea typeface="黑体" charset="0"/>
                </a:rPr>
                <a:t>模块开发</a:t>
              </a:r>
              <a:endParaRPr lang="zh-CN" altLang="en-US">
                <a:solidFill>
                  <a:schemeClr val="tx1"/>
                </a:solidFill>
                <a:latin typeface="黑体" charset="0"/>
                <a:ea typeface="黑体" charset="0"/>
              </a:endParaRPr>
            </a:p>
            <a:p>
              <a:pPr lvl="0" indent="0" algn="l" fontAlgn="auto">
                <a:lnSpc>
                  <a:spcPct val="110000"/>
                </a:lnSpc>
                <a:buFont typeface="Arial" panose="020B0604020202090204" pitchFamily="34" charset="0"/>
                <a:buNone/>
              </a:pPr>
              <a:endParaRPr lang="zh-CN" altLang="en-US" sz="500">
                <a:solidFill>
                  <a:schemeClr val="tx1"/>
                </a:solidFill>
                <a:latin typeface="黑体" charset="0"/>
                <a:ea typeface="黑体" charset="0"/>
              </a:endParaRPr>
            </a:p>
            <a:p>
              <a:pPr marL="285750" lvl="0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zh-CN" altLang="en-US">
                  <a:latin typeface="宋体" charset="0"/>
                  <a:ea typeface="宋体" charset="0"/>
                  <a:sym typeface="+mn-ea"/>
                </a:rPr>
                <a:t>模块开发</a:t>
              </a:r>
              <a:br>
                <a:rPr lang="zh-CN" altLang="en-US">
                  <a:latin typeface="宋体" charset="0"/>
                  <a:ea typeface="宋体" charset="0"/>
                  <a:sym typeface="+mn-ea"/>
                </a:rPr>
              </a:br>
              <a:r>
                <a:rPr lang="zh-CN" altLang="en-US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双后端 </a:t>
              </a:r>
              <a:r>
                <a:rPr lang="en-US" altLang="zh-CN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Setup Agent（heuristic/LLM）、7 </a:t>
              </a:r>
              <a:r>
                <a:rPr lang="zh-CN" altLang="en-US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种干预动作的修订 </a:t>
              </a:r>
              <a:r>
                <a:rPr lang="en-US" altLang="zh-CN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Agent、Optuna HPO </a:t>
              </a:r>
              <a:r>
                <a:rPr lang="zh-CN" altLang="en-US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执行器</a:t>
              </a:r>
              <a:r>
                <a:rPr lang="zh-CN" altLang="en-US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诊断引擎（</a:t>
              </a:r>
              <a:r>
                <a:rPr lang="en-US" altLang="zh-CN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fANOVA、LPI、</a:t>
              </a:r>
              <a:r>
                <a:rPr lang="zh-CN" altLang="en-US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最优值</a:t>
              </a:r>
              <a:r>
                <a:rPr lang="en-US" altLang="zh-CN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、</a:t>
              </a:r>
              <a:r>
                <a:rPr lang="zh-CN" altLang="en-US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停滞判定</a:t>
              </a:r>
              <a:r>
                <a:rPr lang="en-US" altLang="zh-CN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、...</a:t>
              </a:r>
              <a:r>
                <a:rPr lang="zh-CN" altLang="en-US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）</a:t>
              </a:r>
              <a:r>
                <a:rPr lang="en-US" altLang="zh-CN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、</a:t>
              </a:r>
              <a:r>
                <a:rPr lang="zh-CN" altLang="en-US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表格 </a:t>
              </a:r>
              <a:r>
                <a:rPr lang="en-US" altLang="zh-CN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Q-Learning </a:t>
              </a:r>
              <a:r>
                <a:rPr lang="zh-CN" altLang="en-US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控制器</a:t>
              </a:r>
              <a:br>
                <a:rPr lang="zh-CN" altLang="en-US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</a:br>
              <a:r>
                <a:rPr lang="en-US" altLang="zh-CN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Schema </a:t>
              </a:r>
              <a:r>
                <a:rPr lang="zh-CN" altLang="en-US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校验</a:t>
              </a:r>
              <a:r>
                <a:rPr lang="en-US" altLang="zh-CN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、</a:t>
              </a:r>
              <a:r>
                <a:rPr lang="zh-CN" altLang="en-US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基于</a:t>
              </a:r>
              <a:r>
                <a:rPr lang="en-US" altLang="zh-CN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 SQLite </a:t>
              </a:r>
              <a:r>
                <a:rPr lang="zh-CN" altLang="en-US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的</a:t>
              </a:r>
              <a:r>
                <a:rPr lang="en-US" altLang="zh-CN" sz="10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 Agent Memory</a:t>
              </a:r>
              <a:endParaRPr lang="en-US" altLang="zh-CN" sz="1000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endParaRPr>
            </a:p>
            <a:p>
              <a:pPr marL="285750" lvl="0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endParaRPr lang="en-US" altLang="zh-CN" sz="1000">
                <a:latin typeface="Times New Roman" panose="02020503050405090304" charset="0"/>
                <a:ea typeface="宋体" charset="0"/>
                <a:cs typeface="Times New Roman" panose="02020503050405090304" charset="0"/>
                <a:sym typeface="+mn-ea"/>
              </a:endParaRPr>
            </a:p>
            <a:p>
              <a:pPr marL="285750" lvl="0" indent="-285750" algn="l">
                <a:lnSpc>
                  <a:spcPct val="100000"/>
                </a:lnSpc>
                <a:buFont typeface="Arial" panose="020B0604020202090204" pitchFamily="34" charset="0"/>
                <a:buChar char="•"/>
              </a:pPr>
              <a:r>
                <a:rPr lang="en-US" altLang="zh-CN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Sklearn </a:t>
              </a:r>
              <a:r>
                <a:rPr lang="zh-CN" altLang="en-US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手写数字 + 随机森林</a:t>
              </a:r>
              <a:endParaRPr lang="zh-CN" altLang="en-US">
                <a:solidFill>
                  <a:schemeClr val="tx1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  <a:p>
              <a:pPr marL="285750" lvl="0" indent="-285750" algn="l" fontAlgn="auto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endParaRPr lang="zh-CN" altLang="en-US">
                <a:solidFill>
                  <a:schemeClr val="tx1"/>
                </a:solidFill>
                <a:latin typeface="宋体" charset="0"/>
                <a:ea typeface="宋体" charset="0"/>
                <a:cs typeface="Times New Roman" panose="02020503050405090304" charset="0"/>
              </a:endParaRPr>
            </a:p>
            <a:p>
              <a:pPr marL="285750" lvl="0" indent="-285750" algn="l" fontAlgn="auto">
                <a:lnSpc>
                  <a:spcPct val="110000"/>
                </a:lnSpc>
                <a:buFont typeface="Arial" panose="020B0604020202090204" pitchFamily="34" charset="0"/>
                <a:buChar char="•"/>
              </a:pPr>
              <a:endParaRPr lang="zh-CN" altLang="en-US">
                <a:solidFill>
                  <a:schemeClr val="tx1"/>
                </a:solidFill>
                <a:latin typeface="宋体" charset="0"/>
                <a:ea typeface="宋体" charset="0"/>
                <a:cs typeface="Times New Roman" panose="0202050305040509030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35" y="0"/>
            <a:ext cx="12129135" cy="608965"/>
            <a:chOff x="1" y="0"/>
            <a:chExt cx="19101" cy="959"/>
          </a:xfrm>
        </p:grpSpPr>
        <p:sp>
          <p:nvSpPr>
            <p:cNvPr id="27" name="矩形 26"/>
            <p:cNvSpPr/>
            <p:nvPr/>
          </p:nvSpPr>
          <p:spPr>
            <a:xfrm>
              <a:off x="1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选题依据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3970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开发方案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939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预期计划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1908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参考文献</a:t>
              </a:r>
              <a:r>
                <a:rPr lang="en-US" altLang="zh-CN" sz="2400" b="1" baseline="-25000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1</a:t>
              </a:r>
              <a:endParaRPr lang="en-US" altLang="zh-CN" sz="2400" b="1" baseline="-25000">
                <a:solidFill>
                  <a:schemeClr val="bg1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pic>
          <p:nvPicPr>
            <p:cNvPr id="31" name="图片 30" descr="截屏2026-09-08 12.53.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10" y="73"/>
              <a:ext cx="2892" cy="886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0" y="6263640"/>
            <a:ext cx="12192000" cy="594360"/>
            <a:chOff x="0" y="9864"/>
            <a:chExt cx="19200" cy="936"/>
          </a:xfrm>
        </p:grpSpPr>
        <p:sp>
          <p:nvSpPr>
            <p:cNvPr id="33" name="矩形 32"/>
            <p:cNvSpPr/>
            <p:nvPr/>
          </p:nvSpPr>
          <p:spPr>
            <a:xfrm>
              <a:off x="0" y="10332"/>
              <a:ext cx="18210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(7) DeepCAVE-X: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基于强化学习的自适应 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HPO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配置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8211" y="10332"/>
              <a:ext cx="989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9/10</a:t>
              </a:r>
              <a:endParaRPr lang="en-US" altLang="zh-CN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0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王羿珧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2026211232</a:t>
              </a:r>
              <a:endParaRPr lang="en-US" altLang="zh-CN" sz="1600">
                <a:latin typeface="Times New Roman" panose="02020503050405090304" charset="0"/>
                <a:ea typeface="华文仿宋" panose="02010600040101010101" charset="-122"/>
                <a:cs typeface="Times New Roman" panose="02020503050405090304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6236" y="9864"/>
              <a:ext cx="6729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经硕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 261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管理科学与工程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2964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指导教师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：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胡鹤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0081895" y="0"/>
            <a:ext cx="2110105" cy="597535"/>
          </a:xfrm>
          <a:prstGeom prst="rect">
            <a:avLst/>
          </a:prstGeom>
          <a:solidFill>
            <a:srgbClr val="4B0088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solidFill>
                <a:schemeClr val="bg1">
                  <a:lumMod val="75000"/>
                </a:schemeClr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pic>
        <p:nvPicPr>
          <p:cNvPr id="4" name="图片 3" descr="dataflow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630" y="5064125"/>
            <a:ext cx="5382260" cy="930910"/>
          </a:xfrm>
          <a:prstGeom prst="rect">
            <a:avLst/>
          </a:prstGeom>
        </p:spPr>
      </p:pic>
      <p:pic>
        <p:nvPicPr>
          <p:cNvPr id="2" name="图片 1" descr="截屏2026-09-12 20.50.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695" y="2008505"/>
            <a:ext cx="2109470" cy="1018540"/>
          </a:xfrm>
          <a:prstGeom prst="rect">
            <a:avLst/>
          </a:prstGeom>
        </p:spPr>
      </p:pic>
      <p:pic>
        <p:nvPicPr>
          <p:cNvPr id="5" name="图片 4" descr="截屏2026-09-12 21.06.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9220" y="1942465"/>
            <a:ext cx="2225040" cy="964565"/>
          </a:xfrm>
          <a:prstGeom prst="rect">
            <a:avLst/>
          </a:prstGeom>
        </p:spPr>
      </p:pic>
      <p:pic>
        <p:nvPicPr>
          <p:cNvPr id="3" name="图片 2" descr="截屏2026-09-12 21.41.0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545" y="3110865"/>
            <a:ext cx="2039620" cy="748030"/>
          </a:xfrm>
          <a:prstGeom prst="rect">
            <a:avLst/>
          </a:prstGeom>
        </p:spPr>
      </p:pic>
      <p:pic>
        <p:nvPicPr>
          <p:cNvPr id="7" name="图片 6" descr="截屏2026-09-12 22.29.27"/>
          <p:cNvPicPr>
            <a:picLocks noChangeAspect="1"/>
          </p:cNvPicPr>
          <p:nvPr/>
        </p:nvPicPr>
        <p:blipFill>
          <a:blip r:embed="rId7"/>
          <a:srcRect t="4292"/>
          <a:stretch>
            <a:fillRect/>
          </a:stretch>
        </p:blipFill>
        <p:spPr>
          <a:xfrm>
            <a:off x="8813165" y="2929255"/>
            <a:ext cx="2212340" cy="1059180"/>
          </a:xfrm>
          <a:prstGeom prst="rect">
            <a:avLst/>
          </a:prstGeom>
        </p:spPr>
      </p:pic>
      <p:pic>
        <p:nvPicPr>
          <p:cNvPr id="8" name="图片 7" descr="截屏2026-09-13 08.35.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4055" y="5319395"/>
            <a:ext cx="1441450" cy="66738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551180" y="830580"/>
            <a:ext cx="10554195" cy="520700"/>
            <a:chOff x="868" y="1308"/>
            <a:chExt cx="11636" cy="820"/>
          </a:xfrm>
        </p:grpSpPr>
        <p:grpSp>
          <p:nvGrpSpPr>
            <p:cNvPr id="16" name="组合 15"/>
            <p:cNvGrpSpPr/>
            <p:nvPr/>
          </p:nvGrpSpPr>
          <p:grpSpPr>
            <a:xfrm>
              <a:off x="868" y="2128"/>
              <a:ext cx="3446" cy="0"/>
              <a:chOff x="868" y="2128"/>
              <a:chExt cx="3446" cy="0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868" y="2128"/>
                <a:ext cx="397" cy="0"/>
              </a:xfrm>
              <a:prstGeom prst="line">
                <a:avLst/>
              </a:prstGeom>
              <a:ln w="25400" cap="flat" cmpd="sng">
                <a:solidFill>
                  <a:srgbClr val="4B0088"/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1260" y="2128"/>
                <a:ext cx="3054" cy="0"/>
              </a:xfrm>
              <a:prstGeom prst="line">
                <a:avLst/>
              </a:prstGeom>
              <a:ln w="25400" cap="flat" cmpd="sng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869" y="1308"/>
              <a:ext cx="1163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rgbClr val="4B0088"/>
                  </a:solidFill>
                  <a:latin typeface="黑体" charset="0"/>
                  <a:ea typeface="黑体" charset="0"/>
                </a:rPr>
                <a:t>&gt; </a:t>
              </a:r>
              <a:r>
                <a:rPr lang="en-US" altLang="zh-CN" sz="2400">
                  <a:solidFill>
                    <a:srgbClr val="4B0088"/>
                  </a:solidFill>
                  <a:latin typeface="黑体" charset="0"/>
                  <a:ea typeface="黑体" charset="0"/>
                  <a:sym typeface="+mn-ea"/>
                </a:rPr>
                <a:t>PPT </a:t>
              </a:r>
              <a:r>
                <a:rPr lang="zh-CN" altLang="en-US" sz="2400">
                  <a:solidFill>
                    <a:srgbClr val="4B0088"/>
                  </a:solidFill>
                  <a:latin typeface="黑体" charset="0"/>
                  <a:ea typeface="黑体" charset="0"/>
                  <a:sym typeface="+mn-ea"/>
                </a:rPr>
                <a:t>中的参考文献</a:t>
              </a:r>
              <a:endParaRPr lang="zh-CN" altLang="en-US" sz="2400">
                <a:solidFill>
                  <a:srgbClr val="4B0088"/>
                </a:solidFill>
                <a:latin typeface="黑体" charset="0"/>
                <a:ea typeface="黑体" charset="0"/>
                <a:sym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63220" y="1565910"/>
            <a:ext cx="11464925" cy="4439920"/>
            <a:chOff x="580" y="2424"/>
            <a:chExt cx="18055" cy="6992"/>
          </a:xfrm>
        </p:grpSpPr>
        <p:sp>
          <p:nvSpPr>
            <p:cNvPr id="39" name="文本框 38"/>
            <p:cNvSpPr txBox="1"/>
            <p:nvPr/>
          </p:nvSpPr>
          <p:spPr>
            <a:xfrm>
              <a:off x="580" y="2424"/>
              <a:ext cx="8770" cy="6993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p>
              <a:pPr marL="342900" indent="-342900" algn="l">
                <a:lnSpc>
                  <a:spcPct val="100000"/>
                </a:lnSpc>
                <a:buAutoNum type="arabicPeriod"/>
              </a:pP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Times New Roman" panose="02020503050405090304" charset="0"/>
                  <a:cs typeface="Times New Roman" panose="02020503050405090304" charset="0"/>
                </a:rPr>
                <a:t>Bergstra J, Bengio Y. Random search for hyper-parameter optimization[J]. Journal of Machine Learning Research, 2012.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  <a:p>
              <a:pPr marL="342900" indent="-342900" algn="l">
                <a:lnSpc>
                  <a:spcPct val="100000"/>
                </a:lnSpc>
                <a:buAutoNum type="arabicPeriod"/>
              </a:pPr>
              <a:endParaRPr lang="en-US" altLang="zh-CN" sz="5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  <a:p>
              <a:pPr marL="342900" indent="-342900" algn="l">
                <a:lnSpc>
                  <a:spcPct val="100000"/>
                </a:lnSpc>
                <a:buAutoNum type="arabicPeriod"/>
              </a:pP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Times New Roman" panose="02020503050405090304" charset="0"/>
                  <a:cs typeface="Times New Roman" panose="02020503050405090304" charset="0"/>
                </a:rPr>
                <a:t>Tornede A, Deng D, Eimer T, et al. AutoML in the age of large language models: Current challenges, future opportunities and risks[J]. Transactions on Machine Learning Research, 2024.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  <a:p>
              <a:pPr marL="342900" indent="-342900" algn="l">
                <a:lnSpc>
                  <a:spcPct val="100000"/>
                </a:lnSpc>
                <a:buAutoNum type="arabicPeriod"/>
              </a:pPr>
              <a:endParaRPr lang="en-US" altLang="zh-CN" sz="5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  <a:p>
              <a:pPr marL="342900" indent="-342900" algn="l">
                <a:lnSpc>
                  <a:spcPct val="100000"/>
                </a:lnSpc>
                <a:buAutoNum type="arabicPeriod"/>
              </a:pP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Times New Roman" panose="02020503050405090304" charset="0"/>
                  <a:cs typeface="Times New Roman" panose="02020503050405090304" charset="0"/>
                </a:rPr>
                <a:t>He X, Zhao K, Chu X. AutoML: A survey of the state-of-the-art[J]. Knowledge-Based Systems, 2021, 212.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  <a:p>
              <a:pPr marL="342900" indent="-342900" algn="l">
                <a:lnSpc>
                  <a:spcPct val="100000"/>
                </a:lnSpc>
                <a:buAutoNum type="arabicPeriod"/>
              </a:pPr>
              <a:endParaRPr lang="en-US" altLang="zh-CN" sz="5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  <a:p>
              <a:pPr marL="342900" indent="-342900" algn="l">
                <a:lnSpc>
                  <a:spcPct val="100000"/>
                </a:lnSpc>
                <a:buAutoNum type="arabicPeriod"/>
              </a:pP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Times New Roman" panose="02020503050405090304" charset="0"/>
                  <a:cs typeface="Times New Roman" panose="02020503050405090304" charset="0"/>
                </a:rPr>
                <a:t>Segel S, Graf H, Bergman E, et al. DeepCAVE: A visualization and analysis tool for automated machine learning[J]. Journal of Machine Learning Research, 2025.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  <a:p>
              <a:pPr marL="342900" indent="-342900" algn="l">
                <a:lnSpc>
                  <a:spcPct val="100000"/>
                </a:lnSpc>
                <a:buAutoNum type="arabicPeriod"/>
              </a:pPr>
              <a:endParaRPr lang="en-US" altLang="zh-CN" sz="5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  <a:p>
              <a:pPr marL="342900" indent="-342900" algn="l">
                <a:lnSpc>
                  <a:spcPct val="100000"/>
                </a:lnSpc>
                <a:buAutoNum type="arabicPeriod"/>
              </a:pP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Times New Roman" panose="02020503050405090304" charset="0"/>
                  <a:cs typeface="Times New Roman" panose="02020503050405090304" charset="0"/>
                </a:rPr>
                <a:t>Drozdal J, Weisz J, Wang D, et al. Trust in AutoML: Exploring information needs for establishing trust in automated machine learning systems[C]. Proceedings of the 25th International Conference on Intelligent User Interfaces, 2020.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865" y="2424"/>
              <a:ext cx="8770" cy="6992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p>
              <a:pPr marL="342900" indent="-342900" algn="l">
                <a:buFont typeface="+mj-lt"/>
                <a:buAutoNum type="arabicPeriod" startAt="6"/>
              </a:pP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Times New Roman" panose="02020503050405090304" charset="0"/>
                  <a:cs typeface="Times New Roman" panose="02020503050405090304" charset="0"/>
                </a:rPr>
                <a:t>Liu S, Gao C, Li Y. AgentHPO: Large language model agent for hyper-parameter optimization[C]. Conference on Parsimony and Learning, 2025.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  <a:p>
              <a:pPr marL="342900" indent="-342900" algn="l">
                <a:buFont typeface="+mj-lt"/>
                <a:buAutoNum type="arabicPeriod" startAt="6"/>
              </a:pPr>
              <a:endParaRPr lang="en-US" altLang="zh-CN" sz="5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  <a:p>
              <a:pPr marL="342900" indent="-342900" algn="l">
                <a:buFont typeface="+mj-lt"/>
                <a:buAutoNum type="arabicPeriod" startAt="6"/>
              </a:pP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Times New Roman" panose="02020503050405090304" charset="0"/>
                  <a:cs typeface="Times New Roman" panose="02020503050405090304" charset="0"/>
                </a:rPr>
                <a:t>Trirat P, Jeong W, Hwang S J. AutoML-Agent: A multi-agent LLM framework for full-pipeline AutoML[C]. Proceedings of the 42nd International Conference on Machine Learning, 2025.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  <a:p>
              <a:pPr marL="342900" indent="-342900" algn="l">
                <a:buFont typeface="+mj-lt"/>
                <a:buAutoNum type="arabicPeriod" startAt="6"/>
              </a:pPr>
              <a:endParaRPr lang="en-US" altLang="zh-CN" sz="5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  <a:p>
              <a:pPr marL="342900" indent="-342900" algn="l">
                <a:buFont typeface="+mj-lt"/>
                <a:buAutoNum type="arabicPeriod" startAt="6"/>
              </a:pP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Times New Roman" panose="02020503050405090304" charset="0"/>
                  <a:cs typeface="Times New Roman" panose="02020503050405090304" charset="0"/>
                </a:rPr>
                <a:t>Ferreira F, Wobbe L, Krishnakumar A, et al. Can LLMs beat classical hyperparameter optimization algorithms? A study on autoresearch[EB/OL]. arXiv, 2026.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35" y="0"/>
            <a:ext cx="12129135" cy="608965"/>
            <a:chOff x="1" y="0"/>
            <a:chExt cx="19101" cy="959"/>
          </a:xfrm>
        </p:grpSpPr>
        <p:sp>
          <p:nvSpPr>
            <p:cNvPr id="27" name="矩形 26"/>
            <p:cNvSpPr/>
            <p:nvPr/>
          </p:nvSpPr>
          <p:spPr>
            <a:xfrm>
              <a:off x="1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选题依据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3970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</a:rPr>
                <a:t>开发方案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939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>
                      <a:lumMod val="75000"/>
                    </a:schemeClr>
                  </a:solidFill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预期计划</a:t>
              </a:r>
              <a:endParaRPr lang="zh-CN" altLang="en-US" sz="2400">
                <a:solidFill>
                  <a:schemeClr val="bg1">
                    <a:lumMod val="75000"/>
                  </a:schemeClr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1908" y="0"/>
              <a:ext cx="3969" cy="941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参考文献</a:t>
              </a:r>
              <a:r>
                <a:rPr lang="en-US" altLang="zh-CN" sz="2400" b="1" baseline="-25000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2</a:t>
              </a:r>
              <a:endParaRPr lang="en-US" altLang="zh-CN" sz="2400" b="1" baseline="-25000">
                <a:solidFill>
                  <a:schemeClr val="bg1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pic>
          <p:nvPicPr>
            <p:cNvPr id="31" name="图片 30" descr="截屏2026-09-08 12.53.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10" y="73"/>
              <a:ext cx="2892" cy="886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0" y="6263640"/>
            <a:ext cx="12192000" cy="594360"/>
            <a:chOff x="0" y="9864"/>
            <a:chExt cx="19200" cy="936"/>
          </a:xfrm>
        </p:grpSpPr>
        <p:sp>
          <p:nvSpPr>
            <p:cNvPr id="33" name="矩形 32"/>
            <p:cNvSpPr/>
            <p:nvPr/>
          </p:nvSpPr>
          <p:spPr>
            <a:xfrm>
              <a:off x="0" y="10332"/>
              <a:ext cx="18210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(7) DeepCAVE-X: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基于强化学习的自适应 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HPO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  <a:sym typeface="+mn-ea"/>
                </a:rPr>
                <a:t>配置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8105" y="10332"/>
              <a:ext cx="1095" cy="468"/>
            </a:xfrm>
            <a:prstGeom prst="rect">
              <a:avLst/>
            </a:prstGeom>
            <a:solidFill>
              <a:srgbClr val="4B008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10/10</a:t>
              </a:r>
              <a:endParaRPr lang="en-US" altLang="zh-CN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0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王羿珧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2026211232</a:t>
              </a:r>
              <a:endParaRPr lang="en-US" altLang="zh-CN" sz="1600">
                <a:latin typeface="Times New Roman" panose="02020503050405090304" charset="0"/>
                <a:ea typeface="华文仿宋" panose="02010600040101010101" charset="-122"/>
                <a:cs typeface="Times New Roman" panose="02020503050405090304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6236" y="9864"/>
              <a:ext cx="6729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经硕</a:t>
              </a:r>
              <a:r>
                <a:rPr lang="en-US" altLang="zh-CN" sz="1600">
                  <a:latin typeface="Times New Roman" panose="02020503050405090304" charset="0"/>
                  <a:ea typeface="华文仿宋" panose="02010600040101010101" charset="-122"/>
                  <a:cs typeface="Times New Roman" panose="02020503050405090304" charset="0"/>
                </a:rPr>
                <a:t> 261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 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管理科学与工程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2964" y="9864"/>
              <a:ext cx="6236" cy="46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指导教师</a:t>
              </a:r>
              <a:r>
                <a:rPr lang="en-US" altLang="zh-CN" sz="1600">
                  <a:latin typeface="华文仿宋" panose="02010600040101010101" charset="-122"/>
                  <a:ea typeface="华文仿宋" panose="02010600040101010101" charset="-122"/>
                </a:rPr>
                <a:t>：</a:t>
              </a:r>
              <a:r>
                <a:rPr lang="zh-CN" altLang="en-US" sz="1600">
                  <a:latin typeface="华文仿宋" panose="02010600040101010101" charset="-122"/>
                  <a:ea typeface="华文仿宋" panose="02010600040101010101" charset="-122"/>
                </a:rPr>
                <a:t>胡鹤</a:t>
              </a:r>
              <a:endParaRPr lang="zh-CN" altLang="en-US" sz="1600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0081895" y="0"/>
            <a:ext cx="2110105" cy="597535"/>
          </a:xfrm>
          <a:prstGeom prst="rect">
            <a:avLst/>
          </a:prstGeom>
          <a:solidFill>
            <a:srgbClr val="4B0088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solidFill>
                <a:schemeClr val="bg1">
                  <a:lumMod val="75000"/>
                </a:schemeClr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00965" y="1638300"/>
            <a:ext cx="12443460" cy="3582035"/>
          </a:xfrm>
          <a:prstGeom prst="rect">
            <a:avLst/>
          </a:prstGeom>
          <a:solidFill>
            <a:srgbClr val="7030A0"/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直角三角形 7"/>
          <p:cNvSpPr/>
          <p:nvPr/>
        </p:nvSpPr>
        <p:spPr>
          <a:xfrm>
            <a:off x="4069715" y="1301750"/>
            <a:ext cx="218440" cy="336550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剪去同侧角的矩形 9"/>
          <p:cNvSpPr/>
          <p:nvPr/>
        </p:nvSpPr>
        <p:spPr>
          <a:xfrm rot="10800000">
            <a:off x="790575" y="1300480"/>
            <a:ext cx="3279140" cy="3319780"/>
          </a:xfrm>
          <a:prstGeom prst="snip2SameRect">
            <a:avLst>
              <a:gd name="adj1" fmla="val 27749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751830" y="3608070"/>
            <a:ext cx="5247640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黑体" charset="0"/>
                <a:ea typeface="黑体" charset="0"/>
              </a:rPr>
              <a:t>王羿珧</a:t>
            </a:r>
            <a:r>
              <a:rPr lang="en-US" altLang="zh-CN" sz="2800">
                <a:solidFill>
                  <a:schemeClr val="bg1"/>
                </a:solidFill>
                <a:latin typeface="黑体" charset="0"/>
                <a:ea typeface="黑体" charset="0"/>
              </a:rPr>
              <a:t> </a:t>
            </a:r>
            <a:r>
              <a:rPr lang="en-US" altLang="zh-CN" sz="2800">
                <a:solidFill>
                  <a:schemeClr val="bg1"/>
                </a:solidFill>
                <a:latin typeface="Times New Roman" panose="02020503050405090304" charset="0"/>
                <a:ea typeface="黑体" charset="0"/>
                <a:cs typeface="Times New Roman" panose="02020503050405090304" charset="0"/>
              </a:rPr>
              <a:t>2026211232</a:t>
            </a:r>
            <a:endParaRPr lang="zh-CN" altLang="en-US" sz="240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288155" y="2576513"/>
            <a:ext cx="7646035" cy="76835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1" algn="ctr"/>
            <a:r>
              <a:rPr lang="zh-CN" altLang="en-US" sz="4400" b="1">
                <a:solidFill>
                  <a:schemeClr val="bg1"/>
                </a:solidFill>
                <a:latin typeface="仿宋_GB2312" panose="02010609030101010101" charset="-122"/>
                <a:ea typeface="仿宋_GB2312" panose="02010609030101010101" charset="-122"/>
                <a:sym typeface="+mn-ea"/>
              </a:rPr>
              <a:t>请老师批评</a:t>
            </a:r>
            <a:r>
              <a:rPr lang="zh-CN" altLang="en-US" sz="4400" b="1">
                <a:solidFill>
                  <a:schemeClr val="bg1"/>
                </a:solidFill>
                <a:latin typeface="仿宋_GB2312" panose="02010609030101010101" charset="-122"/>
                <a:ea typeface="仿宋_GB2312" panose="02010609030101010101" charset="-122"/>
                <a:sym typeface="+mn-ea"/>
              </a:rPr>
              <a:t>指正</a:t>
            </a:r>
            <a:endParaRPr lang="zh-CN" altLang="en-US" sz="4400" b="1">
              <a:solidFill>
                <a:schemeClr val="bg1"/>
              </a:solidFill>
              <a:latin typeface="仿宋_GB2312" panose="02010609030101010101" charset="-122"/>
              <a:ea typeface="仿宋_GB2312" panose="0201060903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05095" y="6269990"/>
            <a:ext cx="183197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7030A0"/>
                </a:solidFill>
                <a:latin typeface="Silom" panose="00000400000000000000" charset="0"/>
                <a:cs typeface="Silom" panose="00000400000000000000" charset="0"/>
              </a:rPr>
              <a:t>2026. 09. 13</a:t>
            </a:r>
            <a:endParaRPr lang="en-US" altLang="zh-CN">
              <a:solidFill>
                <a:srgbClr val="7030A0"/>
              </a:solidFill>
              <a:latin typeface="Silom" panose="00000400000000000000" charset="0"/>
              <a:cs typeface="Silom" panose="00000400000000000000" charset="0"/>
            </a:endParaRPr>
          </a:p>
        </p:txBody>
      </p:sp>
      <p:pic>
        <p:nvPicPr>
          <p:cNvPr id="11" name="图片 10" descr="截屏2026-09-08 12.55.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625" y="1137920"/>
            <a:ext cx="2479040" cy="2944495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4252</Words>
  <Application>WPS 演示</Application>
  <PresentationFormat>宽屏</PresentationFormat>
  <Paragraphs>419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8" baseType="lpstr">
      <vt:lpstr>Arial</vt:lpstr>
      <vt:lpstr>宋体</vt:lpstr>
      <vt:lpstr>Wingdings</vt:lpstr>
      <vt:lpstr>Wingdings</vt:lpstr>
      <vt:lpstr>黑体</vt:lpstr>
      <vt:lpstr>汉仪中黑KW</vt:lpstr>
      <vt:lpstr>Times New Roman</vt:lpstr>
      <vt:lpstr>仿宋_GB2312</vt:lpstr>
      <vt:lpstr>Silom</vt:lpstr>
      <vt:lpstr>华文仿宋</vt:lpstr>
      <vt:lpstr>宋体</vt:lpstr>
      <vt:lpstr>Times New Roman Bold</vt:lpstr>
      <vt:lpstr>Courier New</vt:lpstr>
      <vt:lpstr>Times New Roman Regular</vt:lpstr>
      <vt:lpstr>Times New Roman Regular</vt:lpstr>
      <vt:lpstr>宋体</vt:lpstr>
      <vt:lpstr>苹方-简</vt:lpstr>
      <vt:lpstr>微软雅黑</vt:lpstr>
      <vt:lpstr>方正雅意黑 GB18030L2</vt:lpstr>
      <vt:lpstr>汉仪书宋二KW</vt:lpstr>
      <vt:lpstr>Arial Unicode MS</vt:lpstr>
      <vt:lpstr>WPS</vt:lpstr>
      <vt:lpstr>PowerPoint 演示文稿</vt:lpstr>
      <vt:lpstr>&gt; 选题依据</vt:lpstr>
      <vt:lpstr>PowerPoint 演示文稿</vt:lpstr>
      <vt:lpstr>PowerPoint 演示文稿</vt:lpstr>
      <vt:lpstr>PowerPoint 演示文稿</vt:lpstr>
      <vt:lpstr>&gt; 开发方案</vt:lpstr>
      <vt:lpstr>PowerPoint 演示文稿</vt:lpstr>
      <vt:lpstr>PowerPoint 演示文稿</vt:lpstr>
      <vt:lpstr>PowerPoint 演示文稿</vt:lpstr>
      <vt:lpstr>&gt; 预期计划</vt:lpstr>
      <vt:lpstr>PowerPoint 演示文稿</vt:lpstr>
      <vt:lpstr>PowerPoint 演示文稿</vt:lpstr>
      <vt:lpstr>&gt; 总结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王羿珧(2026211232)</cp:lastModifiedBy>
  <cp:revision>2214</cp:revision>
  <dcterms:created xsi:type="dcterms:W3CDTF">2026-09-13T02:04:20Z</dcterms:created>
  <dcterms:modified xsi:type="dcterms:W3CDTF">2026-09-13T02:04:20Z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A8AA0057B8F4E21F71939F6A0F567AB7_43</vt:lpwstr>
  </property>
</Properties>
</file>