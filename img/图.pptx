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78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29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39.svg" ContentType="image/svg+xml"/>
  <Override PartName="/ppt/media/image4.svg" ContentType="image/svg+xml"/>
  <Override PartName="/ppt/media/image40.svg" ContentType="image/svg+xml"/>
  <Override PartName="/ppt/media/image41.svg" ContentType="image/svg+xml"/>
  <Override PartName="/ppt/media/image42.svg" ContentType="image/svg+xml"/>
  <Override PartName="/ppt/media/image43.svg" ContentType="image/svg+xml"/>
  <Override PartName="/ppt/media/image44.svg" ContentType="image/svg+xml"/>
  <Override PartName="/ppt/media/image45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56" r:id="rId3"/>
    <p:sldId id="257" r:id="rId5"/>
    <p:sldId id="260" r:id="rId6"/>
    <p:sldId id="261" r:id="rId7"/>
    <p:sldId id="258" r:id="rId8"/>
    <p:sldId id="259" r:id="rId9"/>
    <p:sldId id="262" r:id="rId10"/>
    <p:sldId id="263" r:id="rId11"/>
    <p:sldId id="267" r:id="rId12"/>
    <p:sldId id="264" r:id="rId13"/>
    <p:sldId id="268" r:id="rId14"/>
    <p:sldId id="269" r:id="rId15"/>
    <p:sldId id="270" r:id="rId16"/>
    <p:sldId id="271" r:id="rId17"/>
    <p:sldId id="266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FA"/>
    <a:srgbClr val="FFFFFF"/>
    <a:srgbClr val="13227A"/>
    <a:srgbClr val="D4237A"/>
    <a:srgbClr val="E8F5E9"/>
    <a:srgbClr val="F3E5F5"/>
    <a:srgbClr val="E3F2FD"/>
    <a:srgbClr val="DCDCDC"/>
    <a:srgbClr val="F0F0F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12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customXml" Target="../customXml/item1.xml"/><Relationship Id="rId23" Type="http://schemas.openxmlformats.org/officeDocument/2006/relationships/customXmlProps" Target="../customXml/itemProps78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0" Type="http://schemas.openxmlformats.org/officeDocument/2006/relationships/slideLayout" Target="../slideLayouts/slideLayout2.xml"/><Relationship Id="rId3" Type="http://schemas.openxmlformats.org/officeDocument/2006/relationships/image" Target="../media/image3.png"/><Relationship Id="rId29" Type="http://schemas.openxmlformats.org/officeDocument/2006/relationships/tags" Target="../tags/tag64.xml"/><Relationship Id="rId28" Type="http://schemas.openxmlformats.org/officeDocument/2006/relationships/image" Target="../media/image28.svg"/><Relationship Id="rId27" Type="http://schemas.openxmlformats.org/officeDocument/2006/relationships/image" Target="../media/image27.png"/><Relationship Id="rId26" Type="http://schemas.openxmlformats.org/officeDocument/2006/relationships/image" Target="../media/image26.svg"/><Relationship Id="rId25" Type="http://schemas.openxmlformats.org/officeDocument/2006/relationships/image" Target="../media/image25.png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svg"/><Relationship Id="rId21" Type="http://schemas.openxmlformats.org/officeDocument/2006/relationships/image" Target="../media/image21.png"/><Relationship Id="rId20" Type="http://schemas.openxmlformats.org/officeDocument/2006/relationships/image" Target="../media/image20.svg"/><Relationship Id="rId2" Type="http://schemas.openxmlformats.org/officeDocument/2006/relationships/image" Target="../media/image2.svg"/><Relationship Id="rId19" Type="http://schemas.openxmlformats.org/officeDocument/2006/relationships/image" Target="../media/image19.png"/><Relationship Id="rId18" Type="http://schemas.openxmlformats.org/officeDocument/2006/relationships/image" Target="../media/image18.svg"/><Relationship Id="rId17" Type="http://schemas.openxmlformats.org/officeDocument/2006/relationships/image" Target="../media/image17.png"/><Relationship Id="rId16" Type="http://schemas.openxmlformats.org/officeDocument/2006/relationships/image" Target="../media/image16.svg"/><Relationship Id="rId15" Type="http://schemas.openxmlformats.org/officeDocument/2006/relationships/image" Target="../media/image15.png"/><Relationship Id="rId14" Type="http://schemas.openxmlformats.org/officeDocument/2006/relationships/image" Target="../media/image14.svg"/><Relationship Id="rId13" Type="http://schemas.openxmlformats.org/officeDocument/2006/relationships/image" Target="../media/image13.png"/><Relationship Id="rId12" Type="http://schemas.openxmlformats.org/officeDocument/2006/relationships/image" Target="../media/image12.svg"/><Relationship Id="rId11" Type="http://schemas.openxmlformats.org/officeDocument/2006/relationships/image" Target="../media/image11.png"/><Relationship Id="rId10" Type="http://schemas.openxmlformats.org/officeDocument/2006/relationships/image" Target="../media/image10.sv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image" Target="../media/image32.svg"/><Relationship Id="rId7" Type="http://schemas.openxmlformats.org/officeDocument/2006/relationships/image" Target="../media/image9.png"/><Relationship Id="rId6" Type="http://schemas.openxmlformats.org/officeDocument/2006/relationships/image" Target="../media/image31.svg"/><Relationship Id="rId5" Type="http://schemas.openxmlformats.org/officeDocument/2006/relationships/image" Target="../media/image5.png"/><Relationship Id="rId4" Type="http://schemas.openxmlformats.org/officeDocument/2006/relationships/image" Target="../media/image30.svg"/><Relationship Id="rId3" Type="http://schemas.openxmlformats.org/officeDocument/2006/relationships/image" Target="../media/image3.png"/><Relationship Id="rId2" Type="http://schemas.openxmlformats.org/officeDocument/2006/relationships/image" Target="../media/image29.svg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svg"/><Relationship Id="rId7" Type="http://schemas.openxmlformats.org/officeDocument/2006/relationships/image" Target="../media/image11.png"/><Relationship Id="rId6" Type="http://schemas.openxmlformats.org/officeDocument/2006/relationships/image" Target="../media/image32.svg"/><Relationship Id="rId5" Type="http://schemas.openxmlformats.org/officeDocument/2006/relationships/image" Target="../media/image35.png"/><Relationship Id="rId4" Type="http://schemas.openxmlformats.org/officeDocument/2006/relationships/image" Target="../media/image34.svg"/><Relationship Id="rId3" Type="http://schemas.openxmlformats.org/officeDocument/2006/relationships/image" Target="../media/image7.png"/><Relationship Id="rId26" Type="http://schemas.openxmlformats.org/officeDocument/2006/relationships/slideLayout" Target="../slideLayouts/slideLayout2.xml"/><Relationship Id="rId25" Type="http://schemas.openxmlformats.org/officeDocument/2006/relationships/tags" Target="../tags/tag66.xml"/><Relationship Id="rId24" Type="http://schemas.openxmlformats.org/officeDocument/2006/relationships/image" Target="../media/image45.svg"/><Relationship Id="rId23" Type="http://schemas.openxmlformats.org/officeDocument/2006/relationships/image" Target="../media/image27.png"/><Relationship Id="rId22" Type="http://schemas.openxmlformats.org/officeDocument/2006/relationships/image" Target="../media/image44.svg"/><Relationship Id="rId21" Type="http://schemas.openxmlformats.org/officeDocument/2006/relationships/image" Target="../media/image25.png"/><Relationship Id="rId20" Type="http://schemas.openxmlformats.org/officeDocument/2006/relationships/image" Target="../media/image43.svg"/><Relationship Id="rId2" Type="http://schemas.openxmlformats.org/officeDocument/2006/relationships/image" Target="../media/image29.svg"/><Relationship Id="rId19" Type="http://schemas.openxmlformats.org/officeDocument/2006/relationships/image" Target="../media/image23.png"/><Relationship Id="rId18" Type="http://schemas.openxmlformats.org/officeDocument/2006/relationships/image" Target="../media/image42.svg"/><Relationship Id="rId17" Type="http://schemas.openxmlformats.org/officeDocument/2006/relationships/image" Target="../media/image21.png"/><Relationship Id="rId16" Type="http://schemas.openxmlformats.org/officeDocument/2006/relationships/image" Target="../media/image41.svg"/><Relationship Id="rId15" Type="http://schemas.openxmlformats.org/officeDocument/2006/relationships/image" Target="../media/image19.png"/><Relationship Id="rId14" Type="http://schemas.openxmlformats.org/officeDocument/2006/relationships/image" Target="../media/image40.svg"/><Relationship Id="rId13" Type="http://schemas.openxmlformats.org/officeDocument/2006/relationships/image" Target="../media/image17.png"/><Relationship Id="rId12" Type="http://schemas.openxmlformats.org/officeDocument/2006/relationships/image" Target="../media/image39.svg"/><Relationship Id="rId11" Type="http://schemas.openxmlformats.org/officeDocument/2006/relationships/image" Target="../media/image15.png"/><Relationship Id="rId10" Type="http://schemas.openxmlformats.org/officeDocument/2006/relationships/image" Target="../media/image38.svg"/><Relationship Id="rId1" Type="http://schemas.openxmlformats.org/officeDocument/2006/relationships/image" Target="../media/image3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9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0.xml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55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3.xml"/><Relationship Id="rId7" Type="http://schemas.openxmlformats.org/officeDocument/2006/relationships/image" Target="../media/image64.png"/><Relationship Id="rId6" Type="http://schemas.openxmlformats.org/officeDocument/2006/relationships/image" Target="../media/image63.svg"/><Relationship Id="rId5" Type="http://schemas.openxmlformats.org/officeDocument/2006/relationships/image" Target="../media/image62.png"/><Relationship Id="rId4" Type="http://schemas.openxmlformats.org/officeDocument/2006/relationships/image" Target="../media/image61.svg"/><Relationship Id="rId3" Type="http://schemas.openxmlformats.org/officeDocument/2006/relationships/image" Target="../media/image60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74.xml"/><Relationship Id="rId5" Type="http://schemas.openxmlformats.org/officeDocument/2006/relationships/image" Target="../media/image64.png"/><Relationship Id="rId4" Type="http://schemas.openxmlformats.org/officeDocument/2006/relationships/image" Target="../media/image63.svg"/><Relationship Id="rId3" Type="http://schemas.openxmlformats.org/officeDocument/2006/relationships/image" Target="../media/image62.png"/><Relationship Id="rId2" Type="http://schemas.openxmlformats.org/officeDocument/2006/relationships/image" Target="../media/image59.svg"/><Relationship Id="rId1" Type="http://schemas.openxmlformats.org/officeDocument/2006/relationships/image" Target="../media/image5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64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6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59.svg"/><Relationship Id="rId3" Type="http://schemas.openxmlformats.org/officeDocument/2006/relationships/image" Target="../media/image58.png"/><Relationship Id="rId2" Type="http://schemas.openxmlformats.org/officeDocument/2006/relationships/image" Target="../media/image66.svg"/><Relationship Id="rId1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75.png"/><Relationship Id="rId8" Type="http://schemas.openxmlformats.org/officeDocument/2006/relationships/image" Target="../media/image74.png"/><Relationship Id="rId7" Type="http://schemas.openxmlformats.org/officeDocument/2006/relationships/image" Target="../media/image73.png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3" Type="http://schemas.openxmlformats.org/officeDocument/2006/relationships/image" Target="../media/image54.png"/><Relationship Id="rId2" Type="http://schemas.openxmlformats.org/officeDocument/2006/relationships/image" Target="../media/image69.png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77.xml"/><Relationship Id="rId1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187190" y="74295"/>
            <a:ext cx="1663065" cy="3505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charset="0"/>
                <a:ea typeface="宋体" charset="0"/>
              </a:rPr>
              <a:t>文献梳理与问题提出</a:t>
            </a:r>
            <a:endParaRPr lang="zh-CN" altLang="en-US" sz="1200">
              <a:latin typeface="宋体" charset="0"/>
              <a:ea typeface="宋体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2365375" y="1003300"/>
            <a:ext cx="5262880" cy="350520"/>
            <a:chOff x="5607" y="2697"/>
            <a:chExt cx="8288" cy="552"/>
          </a:xfrm>
        </p:grpSpPr>
        <p:sp>
          <p:nvSpPr>
            <p:cNvPr id="5" name="矩形 4"/>
            <p:cNvSpPr/>
            <p:nvPr/>
          </p:nvSpPr>
          <p:spPr>
            <a:xfrm>
              <a:off x="8476" y="2697"/>
              <a:ext cx="2551" cy="55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RL (Q-</a:t>
              </a:r>
              <a:r>
                <a:rPr lang="en-US" altLang="zh-CN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Learning)</a:t>
              </a:r>
              <a:endParaRPr lang="en-US" altLang="zh-CN" sz="1200"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1345" y="2697"/>
              <a:ext cx="2551" cy="55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en-US" altLang="zh-CN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LLM Agent</a:t>
              </a:r>
              <a:endParaRPr lang="en-US" altLang="zh-CN" sz="1200"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5607" y="2697"/>
              <a:ext cx="2551" cy="55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超参数优化</a:t>
              </a:r>
              <a:r>
                <a:rPr lang="en-US" altLang="zh-CN" sz="1200">
                  <a:latin typeface="Times New Roman" panose="02020503050405090304" charset="0"/>
                  <a:ea typeface="宋体" charset="0"/>
                  <a:cs typeface="Times New Roman" panose="02020503050405090304" charset="0"/>
                  <a:sym typeface="+mn-ea"/>
                </a:rPr>
                <a:t> HPO</a:t>
              </a:r>
              <a:endParaRPr lang="zh-CN" altLang="en-US" sz="1200"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 rot="0">
            <a:off x="1983105" y="640080"/>
            <a:ext cx="6050280" cy="839470"/>
            <a:chOff x="5005" y="2182"/>
            <a:chExt cx="9528" cy="1660"/>
          </a:xfr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8" name="矩形 7"/>
            <p:cNvSpPr/>
            <p:nvPr/>
          </p:nvSpPr>
          <p:spPr>
            <a:xfrm>
              <a:off x="5005" y="2182"/>
              <a:ext cx="9528" cy="1660"/>
            </a:xfrm>
            <a:prstGeom prst="rect">
              <a:avLst/>
            </a:prstGeom>
            <a:ln w="1270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6569" y="2225"/>
              <a:ext cx="6400" cy="5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>
                  <a:latin typeface="宋体" charset="0"/>
                  <a:ea typeface="宋体" charset="0"/>
                </a:rPr>
                <a:t>方法</a:t>
              </a:r>
              <a:r>
                <a:rPr lang="zh-CN" altLang="en-US" sz="1200">
                  <a:effectLst/>
                  <a:latin typeface="宋体" charset="0"/>
                  <a:ea typeface="宋体" charset="0"/>
                </a:rPr>
                <a:t>和理论</a:t>
              </a:r>
              <a:r>
                <a:rPr lang="zh-CN" altLang="en-US" sz="1200">
                  <a:latin typeface="宋体" charset="0"/>
                  <a:ea typeface="宋体" charset="0"/>
                </a:rPr>
                <a:t>基础</a:t>
              </a:r>
              <a:endParaRPr lang="zh-CN" altLang="en-US" sz="1200">
                <a:latin typeface="宋体" charset="0"/>
                <a:ea typeface="宋体" charset="0"/>
              </a:endParaRPr>
            </a:p>
          </p:txBody>
        </p:sp>
      </p:grpSp>
      <p:cxnSp>
        <p:nvCxnSpPr>
          <p:cNvPr id="12" name="直接箭头连接符 11"/>
          <p:cNvCxnSpPr>
            <a:stCxn id="4" idx="2"/>
          </p:cNvCxnSpPr>
          <p:nvPr/>
        </p:nvCxnSpPr>
        <p:spPr>
          <a:xfrm flipH="1">
            <a:off x="5008245" y="424815"/>
            <a:ext cx="10795" cy="2368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8434705" y="773430"/>
            <a:ext cx="1663065" cy="3505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charset="0"/>
                <a:ea typeface="宋体" charset="0"/>
              </a:rPr>
              <a:t>文献调研</a:t>
            </a:r>
            <a:endParaRPr lang="zh-CN" altLang="en-US" sz="1200">
              <a:latin typeface="宋体" charset="0"/>
              <a:ea typeface="宋体" charset="0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 flipH="1">
            <a:off x="5008245" y="1480820"/>
            <a:ext cx="10795" cy="2368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5" name="组合 44"/>
          <p:cNvGrpSpPr/>
          <p:nvPr/>
        </p:nvGrpSpPr>
        <p:grpSpPr>
          <a:xfrm>
            <a:off x="1983105" y="1718945"/>
            <a:ext cx="6050280" cy="1440180"/>
            <a:chOff x="3123" y="2707"/>
            <a:chExt cx="9528" cy="2268"/>
          </a:xfrm>
        </p:grpSpPr>
        <p:sp>
          <p:nvSpPr>
            <p:cNvPr id="17" name="矩形 16"/>
            <p:cNvSpPr/>
            <p:nvPr/>
          </p:nvSpPr>
          <p:spPr>
            <a:xfrm>
              <a:off x="3123" y="2707"/>
              <a:ext cx="9528" cy="2268"/>
            </a:xfrm>
            <a:prstGeom prst="rect">
              <a:avLst/>
            </a:prstGeom>
            <a:ln w="1270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4687" y="2741"/>
              <a:ext cx="640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200"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HPO </a:t>
              </a:r>
              <a:r>
                <a:rPr lang="zh-CN" altLang="en-US" sz="1200"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配置智能体</a:t>
              </a:r>
              <a:endParaRPr lang="zh-CN" altLang="en-US" sz="120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3465" y="3211"/>
              <a:ext cx="4252" cy="1416"/>
              <a:chOff x="3465" y="3211"/>
              <a:chExt cx="4252" cy="1416"/>
            </a:xfrm>
          </p:grpSpPr>
          <p:grpSp>
            <p:nvGrpSpPr>
              <p:cNvPr id="23" name="组合 22"/>
              <p:cNvGrpSpPr/>
              <p:nvPr/>
            </p:nvGrpSpPr>
            <p:grpSpPr>
              <a:xfrm rot="0">
                <a:off x="3465" y="3211"/>
                <a:ext cx="4252" cy="1417"/>
                <a:chOff x="3783" y="3465"/>
                <a:chExt cx="4252" cy="1417"/>
              </a:xfrm>
            </p:grpSpPr>
            <p:sp>
              <p:nvSpPr>
                <p:cNvPr id="20" name="矩形 19"/>
                <p:cNvSpPr/>
                <p:nvPr/>
              </p:nvSpPr>
              <p:spPr>
                <a:xfrm>
                  <a:off x="3783" y="3465"/>
                  <a:ext cx="4252" cy="1417"/>
                </a:xfrm>
                <a:prstGeom prst="rect">
                  <a:avLst/>
                </a:prstGeom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2" name="文本框 21"/>
                <p:cNvSpPr txBox="1"/>
                <p:nvPr/>
              </p:nvSpPr>
              <p:spPr>
                <a:xfrm>
                  <a:off x="3809" y="3480"/>
                  <a:ext cx="4226" cy="454"/>
                </a:xfrm>
                <a:prstGeom prst="rect">
                  <a:avLst/>
                </a:prstGeom>
                <a:noFill/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200">
                      <a:latin typeface="Times New Roman" panose="02020503050405090304" charset="0"/>
                      <a:ea typeface="宋体" charset="0"/>
                      <a:cs typeface="Times New Roman" panose="02020503050405090304" charset="0"/>
                    </a:rPr>
                    <a:t>初始配置生成</a:t>
                  </a:r>
                  <a:r>
                    <a:rPr lang="en-US" altLang="zh-CN" sz="1200">
                      <a:latin typeface="Times New Roman" panose="02020503050405090304" charset="0"/>
                      <a:ea typeface="宋体" charset="0"/>
                      <a:cs typeface="Times New Roman" panose="02020503050405090304" charset="0"/>
                    </a:rPr>
                    <a:t> </a:t>
                  </a:r>
                  <a:r>
                    <a:rPr lang="en-US" altLang="zh-CN" sz="1200">
                      <a:latin typeface="Times New Roman" panose="02020503050405090304" charset="0"/>
                      <a:ea typeface="宋体" charset="0"/>
                      <a:cs typeface="Times New Roman" panose="02020503050405090304" charset="0"/>
                    </a:rPr>
                    <a:t>Agent</a:t>
                  </a:r>
                  <a:endParaRPr lang="en-US" altLang="zh-CN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endParaRPr>
                </a:p>
              </p:txBody>
            </p:sp>
          </p:grpSp>
          <p:sp>
            <p:nvSpPr>
              <p:cNvPr id="29" name="矩形 28"/>
              <p:cNvSpPr/>
              <p:nvPr/>
            </p:nvSpPr>
            <p:spPr>
              <a:xfrm>
                <a:off x="3619" y="3864"/>
                <a:ext cx="2336" cy="55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检索增强生成</a:t>
                </a:r>
                <a:r>
                  <a: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 RAG</a:t>
                </a:r>
                <a:endParaRPr lang="en-US" altLang="zh-CN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6074" y="3760"/>
                <a:ext cx="1509" cy="55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 Regular" panose="02020503050405090304" charset="0"/>
                    <a:ea typeface="宋体" charset="0"/>
                  </a:rPr>
                  <a:t>思维链</a:t>
                </a:r>
                <a:r>
                  <a:rPr lang="en-US" altLang="zh-CN" sz="1200">
                    <a:latin typeface="Times New Roman Regular" panose="02020503050405090304" charset="0"/>
                    <a:ea typeface="宋体" charset="0"/>
                  </a:rPr>
                  <a:t> CoT</a:t>
                </a:r>
                <a:endParaRPr lang="en-US" altLang="zh-CN" sz="1200">
                  <a:latin typeface="Times New Roman Regular" panose="02020503050405090304" charset="0"/>
                  <a:ea typeface="宋体" charset="0"/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8068" y="3216"/>
              <a:ext cx="4252" cy="1416"/>
              <a:chOff x="8068" y="3216"/>
              <a:chExt cx="4252" cy="1416"/>
            </a:xfrm>
          </p:grpSpPr>
          <p:grpSp>
            <p:nvGrpSpPr>
              <p:cNvPr id="24" name="组合 23"/>
              <p:cNvGrpSpPr/>
              <p:nvPr/>
            </p:nvGrpSpPr>
            <p:grpSpPr>
              <a:xfrm rot="0">
                <a:off x="8068" y="3216"/>
                <a:ext cx="4252" cy="1417"/>
                <a:chOff x="3739" y="3474"/>
                <a:chExt cx="4252" cy="1417"/>
              </a:xfrm>
            </p:grpSpPr>
            <p:sp>
              <p:nvSpPr>
                <p:cNvPr id="25" name="矩形 24"/>
                <p:cNvSpPr/>
                <p:nvPr/>
              </p:nvSpPr>
              <p:spPr>
                <a:xfrm>
                  <a:off x="3739" y="3474"/>
                  <a:ext cx="4252" cy="1417"/>
                </a:xfrm>
                <a:prstGeom prst="rect">
                  <a:avLst/>
                </a:prstGeom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26" name="文本框 25"/>
                <p:cNvSpPr txBox="1"/>
                <p:nvPr/>
              </p:nvSpPr>
              <p:spPr>
                <a:xfrm>
                  <a:off x="3783" y="3480"/>
                  <a:ext cx="4207" cy="434"/>
                </a:xfrm>
                <a:prstGeom prst="rect">
                  <a:avLst/>
                </a:prstGeom>
                <a:noFill/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200">
                      <a:latin typeface="宋体" charset="0"/>
                      <a:ea typeface="宋体" charset="0"/>
                    </a:rPr>
                    <a:t>增量配置修订</a:t>
                  </a:r>
                  <a:r>
                    <a:rPr lang="en-US" altLang="zh-CN" sz="1200">
                      <a:latin typeface="宋体" charset="0"/>
                      <a:ea typeface="宋体" charset="0"/>
                    </a:rPr>
                    <a:t> </a:t>
                  </a:r>
                  <a:r>
                    <a:rPr lang="en-US" altLang="zh-CN" sz="1200">
                      <a:latin typeface="Times New Roman" panose="02020503050405090304" charset="0"/>
                      <a:ea typeface="宋体" charset="0"/>
                      <a:cs typeface="Times New Roman" panose="02020503050405090304" charset="0"/>
                    </a:rPr>
                    <a:t>Agent</a:t>
                  </a:r>
                  <a:r>
                    <a:rPr lang="en-US" altLang="zh-CN" sz="1200">
                      <a:latin typeface="宋体" charset="0"/>
                      <a:ea typeface="宋体" charset="0"/>
                    </a:rPr>
                    <a:t> </a:t>
                  </a:r>
                  <a:endParaRPr lang="en-US" altLang="zh-CN" sz="1200">
                    <a:latin typeface="宋体" charset="0"/>
                    <a:ea typeface="宋体" charset="0"/>
                  </a:endParaRPr>
                </a:p>
              </p:txBody>
            </p:sp>
          </p:grpSp>
          <p:sp>
            <p:nvSpPr>
              <p:cNvPr id="30" name="矩形 29"/>
              <p:cNvSpPr/>
              <p:nvPr/>
            </p:nvSpPr>
            <p:spPr>
              <a:xfrm>
                <a:off x="8387" y="3703"/>
                <a:ext cx="1686" cy="737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I</a:t>
                </a:r>
                <a:r>
                  <a: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n-Context Learning</a:t>
                </a:r>
                <a:endParaRPr lang="en-US" altLang="zh-CN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10390" y="3703"/>
                <a:ext cx="1588" cy="737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Case-Based Reasoning</a:t>
                </a:r>
                <a:endParaRPr lang="en-US" altLang="zh-CN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endParaRPr>
              </a:p>
            </p:txBody>
          </p:sp>
        </p:grpSp>
      </p:grpSp>
      <p:cxnSp>
        <p:nvCxnSpPr>
          <p:cNvPr id="34" name="直接箭头连接符 33"/>
          <p:cNvCxnSpPr/>
          <p:nvPr/>
        </p:nvCxnSpPr>
        <p:spPr>
          <a:xfrm flipH="1">
            <a:off x="5020310" y="3152775"/>
            <a:ext cx="10795" cy="2368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 flipH="1">
            <a:off x="5009515" y="4829810"/>
            <a:ext cx="10795" cy="2368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4187190" y="6419850"/>
            <a:ext cx="1663065" cy="3505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charset="0"/>
                <a:ea typeface="宋体" charset="0"/>
              </a:rPr>
              <a:t>总结与</a:t>
            </a:r>
            <a:r>
              <a:rPr lang="zh-CN" altLang="en-US" sz="1200">
                <a:latin typeface="宋体" charset="0"/>
                <a:ea typeface="宋体" charset="0"/>
              </a:rPr>
              <a:t>展望</a:t>
            </a:r>
            <a:endParaRPr lang="zh-CN" altLang="en-US" sz="1200">
              <a:latin typeface="宋体" charset="0"/>
              <a:ea typeface="宋体" charset="0"/>
            </a:endParaRPr>
          </a:p>
        </p:txBody>
      </p:sp>
      <p:cxnSp>
        <p:nvCxnSpPr>
          <p:cNvPr id="74" name="直接箭头连接符 73"/>
          <p:cNvCxnSpPr/>
          <p:nvPr/>
        </p:nvCxnSpPr>
        <p:spPr>
          <a:xfrm flipH="1">
            <a:off x="5009515" y="6182995"/>
            <a:ext cx="10795" cy="2368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7" name="矩形 76"/>
          <p:cNvSpPr/>
          <p:nvPr/>
        </p:nvSpPr>
        <p:spPr>
          <a:xfrm>
            <a:off x="8246745" y="640080"/>
            <a:ext cx="2043430" cy="5542280"/>
          </a:xfrm>
          <a:prstGeom prst="rect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" name="组合 2"/>
          <p:cNvGrpSpPr/>
          <p:nvPr/>
        </p:nvGrpSpPr>
        <p:grpSpPr>
          <a:xfrm rot="0">
            <a:off x="8435975" y="4896485"/>
            <a:ext cx="1663065" cy="1177925"/>
            <a:chOff x="13283" y="5467"/>
            <a:chExt cx="2619" cy="1855"/>
          </a:xfrm>
        </p:grpSpPr>
        <p:sp>
          <p:nvSpPr>
            <p:cNvPr id="15" name="矩形 14"/>
            <p:cNvSpPr/>
            <p:nvPr/>
          </p:nvSpPr>
          <p:spPr>
            <a:xfrm>
              <a:off x="13592" y="5916"/>
              <a:ext cx="2000" cy="55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宋体" charset="0"/>
                  <a:ea typeface="宋体" charset="0"/>
                </a:rPr>
                <a:t>对比</a:t>
              </a:r>
              <a:r>
                <a:rPr lang="zh-CN" altLang="en-US" sz="1200">
                  <a:latin typeface="宋体" charset="0"/>
                  <a:ea typeface="宋体" charset="0"/>
                </a:rPr>
                <a:t>实验</a:t>
              </a:r>
              <a:endParaRPr lang="zh-CN" altLang="en-US" sz="1200">
                <a:latin typeface="宋体" charset="0"/>
                <a:ea typeface="宋体" charset="0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13283" y="5467"/>
              <a:ext cx="2619" cy="1855"/>
            </a:xfrm>
            <a:prstGeom prst="rect">
              <a:avLst/>
            </a:prstGeom>
            <a:ln w="12700" cap="flat" cmpd="sng" algn="ctr">
              <a:solidFill>
                <a:schemeClr val="tx1"/>
              </a:solidFill>
              <a:prstDash val="sysDot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t" anchorCtr="0"/>
            <a:p>
              <a:pPr algn="ctr"/>
              <a:r>
                <a:rPr lang="zh-CN" altLang="en-US" sz="1200">
                  <a:latin typeface="宋体" charset="0"/>
                  <a:ea typeface="宋体" charset="0"/>
                </a:rPr>
                <a:t>实验研究</a:t>
              </a:r>
              <a:endParaRPr lang="zh-CN" altLang="en-US" sz="1200">
                <a:latin typeface="宋体" charset="0"/>
                <a:ea typeface="宋体" charset="0"/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13592" y="6589"/>
              <a:ext cx="2000" cy="55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宋体" charset="0"/>
                  <a:ea typeface="宋体" charset="0"/>
                </a:rPr>
                <a:t>消融实验</a:t>
              </a:r>
              <a:endParaRPr lang="zh-CN" altLang="en-US" sz="1200">
                <a:latin typeface="宋体" charset="0"/>
                <a:ea typeface="宋体" charset="0"/>
              </a:endParaRPr>
            </a:p>
          </p:txBody>
        </p:sp>
      </p:grpSp>
      <p:sp>
        <p:nvSpPr>
          <p:cNvPr id="82" name="矩形 81"/>
          <p:cNvSpPr/>
          <p:nvPr/>
        </p:nvSpPr>
        <p:spPr>
          <a:xfrm>
            <a:off x="8434705" y="1740535"/>
            <a:ext cx="1663065" cy="3505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charset="0"/>
                <a:ea typeface="宋体" charset="0"/>
              </a:rPr>
              <a:t>思维</a:t>
            </a:r>
            <a:r>
              <a:rPr lang="zh-CN" altLang="en-US" sz="1200">
                <a:latin typeface="宋体" charset="0"/>
                <a:ea typeface="宋体" charset="0"/>
              </a:rPr>
              <a:t>链</a:t>
            </a:r>
            <a:endParaRPr lang="zh-CN" altLang="en-US" sz="1200">
              <a:latin typeface="宋体" charset="0"/>
              <a:ea typeface="宋体" charset="0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8434705" y="2195195"/>
            <a:ext cx="1663065" cy="3505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charset="0"/>
                <a:ea typeface="宋体" charset="0"/>
              </a:rPr>
              <a:t>检索增强生成</a:t>
            </a:r>
            <a:endParaRPr lang="zh-CN" altLang="en-US" sz="1200">
              <a:latin typeface="宋体" charset="0"/>
              <a:ea typeface="宋体" charset="0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8435975" y="3389630"/>
            <a:ext cx="1663065" cy="3505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Q-Learning</a:t>
            </a:r>
            <a:endParaRPr lang="zh-CN" altLang="en-US" sz="1200">
              <a:latin typeface="Times New Roman" panose="02020503050405090304" charset="0"/>
              <a:ea typeface="宋体" charset="0"/>
              <a:cs typeface="Times New Roman" panose="02020503050405090304" charset="0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8435975" y="3844925"/>
            <a:ext cx="1663065" cy="3505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 sz="1200"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ε-greedy </a:t>
            </a:r>
            <a:r>
              <a:rPr lang="zh-CN" altLang="en-US" sz="1200"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搜索</a:t>
            </a:r>
            <a:endParaRPr lang="zh-CN" altLang="en-US" sz="1200">
              <a:latin typeface="Times New Roman" panose="02020503050405090304" charset="0"/>
              <a:ea typeface="宋体" charset="0"/>
              <a:cs typeface="Times New Roman" panose="02020503050405090304" charset="0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1983105" y="5044440"/>
            <a:ext cx="6050280" cy="1137920"/>
            <a:chOff x="3123" y="7944"/>
            <a:chExt cx="9528" cy="1792"/>
          </a:xfrm>
        </p:grpSpPr>
        <p:grpSp>
          <p:nvGrpSpPr>
            <p:cNvPr id="56" name="组合 55"/>
            <p:cNvGrpSpPr/>
            <p:nvPr/>
          </p:nvGrpSpPr>
          <p:grpSpPr>
            <a:xfrm rot="0">
              <a:off x="3123" y="7944"/>
              <a:ext cx="9528" cy="1792"/>
              <a:chOff x="5005" y="2182"/>
              <a:chExt cx="9528" cy="225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57" name="矩形 56"/>
              <p:cNvSpPr/>
              <p:nvPr/>
            </p:nvSpPr>
            <p:spPr>
              <a:xfrm>
                <a:off x="5005" y="2182"/>
                <a:ext cx="9528" cy="2250"/>
              </a:xfrm>
              <a:prstGeom prst="rect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8" name="文本框 57"/>
              <p:cNvSpPr txBox="1"/>
              <p:nvPr/>
            </p:nvSpPr>
            <p:spPr>
              <a:xfrm>
                <a:off x="5005" y="2225"/>
                <a:ext cx="9528" cy="54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 sz="1200">
                    <a:latin typeface="宋体" charset="0"/>
                    <a:ea typeface="宋体" charset="0"/>
                  </a:rPr>
                  <a:t>实验</a:t>
                </a:r>
                <a:r>
                  <a:rPr lang="zh-CN" altLang="en-US" sz="1200">
                    <a:latin typeface="宋体" charset="0"/>
                    <a:ea typeface="宋体" charset="0"/>
                  </a:rPr>
                  <a:t>设计</a:t>
                </a:r>
                <a:endParaRPr lang="zh-CN" altLang="en-US" sz="1200">
                  <a:latin typeface="宋体" charset="0"/>
                  <a:ea typeface="宋体" charset="0"/>
                </a:endParaRPr>
              </a:p>
            </p:txBody>
          </p:sp>
        </p:grpSp>
        <p:sp>
          <p:nvSpPr>
            <p:cNvPr id="69" name="矩形 68"/>
            <p:cNvSpPr/>
            <p:nvPr/>
          </p:nvSpPr>
          <p:spPr>
            <a:xfrm>
              <a:off x="8734" y="8373"/>
              <a:ext cx="1588" cy="55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对比</a:t>
              </a:r>
              <a:r>
                <a:rPr lang="zh-CN" altLang="en-US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实验</a:t>
              </a:r>
              <a:endParaRPr lang="zh-CN" altLang="en-US" sz="120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8734" y="9017"/>
              <a:ext cx="1588" cy="550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消融实验</a:t>
              </a:r>
              <a:endParaRPr lang="zh-CN" altLang="en-US" sz="120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</p:txBody>
        </p:sp>
        <p:grpSp>
          <p:nvGrpSpPr>
            <p:cNvPr id="65" name="组合 64"/>
            <p:cNvGrpSpPr/>
            <p:nvPr/>
          </p:nvGrpSpPr>
          <p:grpSpPr>
            <a:xfrm rot="0">
              <a:off x="4555" y="8412"/>
              <a:ext cx="4042" cy="1170"/>
              <a:chOff x="1719" y="7435"/>
              <a:chExt cx="3093" cy="1170"/>
            </a:xfrm>
          </p:grpSpPr>
          <p:grpSp>
            <p:nvGrpSpPr>
              <p:cNvPr id="55" name="组合 54"/>
              <p:cNvGrpSpPr/>
              <p:nvPr/>
            </p:nvGrpSpPr>
            <p:grpSpPr>
              <a:xfrm rot="0">
                <a:off x="1719" y="7435"/>
                <a:ext cx="3093" cy="1170"/>
                <a:chOff x="4942" y="3465"/>
                <a:chExt cx="3093" cy="1170"/>
              </a:xfrm>
            </p:grpSpPr>
            <p:sp>
              <p:nvSpPr>
                <p:cNvPr id="59" name="矩形 58"/>
                <p:cNvSpPr/>
                <p:nvPr/>
              </p:nvSpPr>
              <p:spPr>
                <a:xfrm>
                  <a:off x="4942" y="3465"/>
                  <a:ext cx="3092" cy="1170"/>
                </a:xfrm>
                <a:prstGeom prst="rect">
                  <a:avLst/>
                </a:prstGeom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60" name="文本框 59"/>
                <p:cNvSpPr txBox="1"/>
                <p:nvPr/>
              </p:nvSpPr>
              <p:spPr>
                <a:xfrm>
                  <a:off x="4942" y="3480"/>
                  <a:ext cx="3093" cy="454"/>
                </a:xfrm>
                <a:prstGeom prst="rect">
                  <a:avLst/>
                </a:prstGeom>
                <a:noFill/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200">
                      <a:latin typeface="宋体" charset="0"/>
                      <a:ea typeface="宋体" charset="0"/>
                    </a:rPr>
                    <a:t>评估指标</a:t>
                  </a:r>
                  <a:endParaRPr lang="zh-CN" altLang="en-US" sz="1200">
                    <a:latin typeface="宋体" charset="0"/>
                    <a:ea typeface="宋体" charset="0"/>
                  </a:endParaRPr>
                </a:p>
              </p:txBody>
            </p:sp>
          </p:grpSp>
          <p:sp>
            <p:nvSpPr>
              <p:cNvPr id="61" name="矩形 60"/>
              <p:cNvSpPr/>
              <p:nvPr/>
            </p:nvSpPr>
            <p:spPr>
              <a:xfrm>
                <a:off x="1859" y="7905"/>
                <a:ext cx="1215" cy="553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归一化遗憾</a:t>
                </a:r>
                <a:endParaRPr lang="en-US" altLang="zh-CN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3204" y="7905"/>
                <a:ext cx="1462" cy="55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达标试验</a:t>
                </a:r>
                <a:r>
                  <a: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次数</a:t>
                </a:r>
                <a:endParaRPr lang="zh-CN" altLang="en-US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endParaRPr>
              </a:p>
            </p:txBody>
          </p:sp>
        </p:grpSp>
        <p:sp>
          <p:nvSpPr>
            <p:cNvPr id="19" name="矩形 18"/>
            <p:cNvSpPr/>
            <p:nvPr/>
          </p:nvSpPr>
          <p:spPr>
            <a:xfrm>
              <a:off x="10462" y="8373"/>
              <a:ext cx="788" cy="1193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rPr>
                <a:t>案例分析</a:t>
              </a:r>
              <a:endParaRPr lang="zh-CN" altLang="en-US" sz="1200">
                <a:latin typeface="Times New Roman Regular" panose="02020503050405090304" charset="0"/>
                <a:ea typeface="宋体" charset="0"/>
                <a:cs typeface="Times New Roman Regular" panose="02020503050405090304" charset="0"/>
              </a:endParaRPr>
            </a:p>
          </p:txBody>
        </p:sp>
      </p:grpSp>
      <p:grpSp>
        <p:nvGrpSpPr>
          <p:cNvPr id="51" name="组合 50"/>
          <p:cNvGrpSpPr/>
          <p:nvPr/>
        </p:nvGrpSpPr>
        <p:grpSpPr>
          <a:xfrm>
            <a:off x="1983105" y="3389630"/>
            <a:ext cx="6050280" cy="1440180"/>
            <a:chOff x="3123" y="5338"/>
            <a:chExt cx="9528" cy="2268"/>
          </a:xfrm>
        </p:grpSpPr>
        <p:cxnSp>
          <p:nvCxnSpPr>
            <p:cNvPr id="125" name="直接箭头连接符 124"/>
            <p:cNvCxnSpPr/>
            <p:nvPr/>
          </p:nvCxnSpPr>
          <p:spPr>
            <a:xfrm>
              <a:off x="7717" y="6639"/>
              <a:ext cx="35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7" name="矩形 36"/>
            <p:cNvSpPr/>
            <p:nvPr/>
          </p:nvSpPr>
          <p:spPr>
            <a:xfrm>
              <a:off x="3123" y="5338"/>
              <a:ext cx="9528" cy="2268"/>
            </a:xfrm>
            <a:prstGeom prst="rect">
              <a:avLst/>
            </a:prstGeom>
            <a:ln w="12700" cap="flat" cmpd="sng" algn="ctr">
              <a:solidFill>
                <a:schemeClr val="tx1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4687" y="5382"/>
              <a:ext cx="6400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1200"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宋体" charset="0"/>
                  <a:ea typeface="宋体" charset="0"/>
                </a:rPr>
                <a:t>诊断驱动的</a:t>
              </a:r>
              <a:r>
                <a:rPr lang="en-US" altLang="zh-CN" sz="1200"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宋体" charset="0"/>
                  <a:ea typeface="宋体" charset="0"/>
                </a:rPr>
                <a:t> </a:t>
              </a:r>
              <a:r>
                <a:rPr lang="en-US" altLang="zh-CN" sz="1200"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RL </a:t>
              </a:r>
              <a:r>
                <a:rPr lang="zh-CN" altLang="en-US" sz="1200"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  <a:latin typeface="宋体" charset="0"/>
                  <a:ea typeface="宋体" charset="0"/>
                </a:rPr>
                <a:t>决策器</a:t>
              </a:r>
              <a:endParaRPr lang="zh-CN" altLang="en-US" sz="1200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latin typeface="宋体" charset="0"/>
                <a:ea typeface="宋体" charset="0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 rot="0">
              <a:off x="8068" y="5865"/>
              <a:ext cx="4302" cy="1416"/>
              <a:chOff x="8068" y="5865"/>
              <a:chExt cx="4302" cy="1416"/>
            </a:xfrm>
          </p:grpSpPr>
          <p:grpSp>
            <p:nvGrpSpPr>
              <p:cNvPr id="117" name="组合 116"/>
              <p:cNvGrpSpPr/>
              <p:nvPr/>
            </p:nvGrpSpPr>
            <p:grpSpPr>
              <a:xfrm rot="0">
                <a:off x="8068" y="5865"/>
                <a:ext cx="4302" cy="1417"/>
                <a:chOff x="3783" y="3606"/>
                <a:chExt cx="2963" cy="1336"/>
              </a:xfrm>
            </p:grpSpPr>
            <p:sp>
              <p:nvSpPr>
                <p:cNvPr id="118" name="矩形 117"/>
                <p:cNvSpPr/>
                <p:nvPr/>
              </p:nvSpPr>
              <p:spPr>
                <a:xfrm>
                  <a:off x="3783" y="3606"/>
                  <a:ext cx="2963" cy="1336"/>
                </a:xfrm>
                <a:prstGeom prst="rect">
                  <a:avLst/>
                </a:prstGeom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19" name="文本框 118"/>
                <p:cNvSpPr txBox="1"/>
                <p:nvPr/>
              </p:nvSpPr>
              <p:spPr>
                <a:xfrm>
                  <a:off x="3809" y="3606"/>
                  <a:ext cx="2912" cy="454"/>
                </a:xfrm>
                <a:prstGeom prst="rect">
                  <a:avLst/>
                </a:prstGeom>
                <a:noFill/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en-US" altLang="zh-CN" sz="1200">
                      <a:latin typeface="Times New Roman" panose="02020503050405090304" charset="0"/>
                      <a:ea typeface="宋体" charset="0"/>
                      <a:cs typeface="Times New Roman" panose="02020503050405090304" charset="0"/>
                    </a:rPr>
                    <a:t>RL</a:t>
                  </a:r>
                  <a:r>
                    <a:rPr lang="en-US" altLang="zh-CN" sz="1200">
                      <a:latin typeface="宋体" charset="0"/>
                      <a:ea typeface="宋体" charset="0"/>
                    </a:rPr>
                    <a:t> </a:t>
                  </a:r>
                  <a:r>
                    <a:rPr lang="zh-CN" altLang="en-US" sz="1200">
                      <a:latin typeface="宋体" charset="0"/>
                      <a:ea typeface="宋体" charset="0"/>
                    </a:rPr>
                    <a:t>干预</a:t>
                  </a:r>
                  <a:r>
                    <a:rPr lang="zh-CN" altLang="en-US" sz="1200">
                      <a:latin typeface="宋体" charset="0"/>
                      <a:ea typeface="宋体" charset="0"/>
                    </a:rPr>
                    <a:t>控制器</a:t>
                  </a:r>
                  <a:endParaRPr lang="zh-CN" altLang="en-US" sz="1200">
                    <a:latin typeface="宋体" charset="0"/>
                    <a:ea typeface="宋体" charset="0"/>
                  </a:endParaRPr>
                </a:p>
              </p:txBody>
            </p:sp>
          </p:grpSp>
          <p:sp>
            <p:nvSpPr>
              <p:cNvPr id="120" name="矩形 119"/>
              <p:cNvSpPr/>
              <p:nvPr/>
            </p:nvSpPr>
            <p:spPr>
              <a:xfrm>
                <a:off x="8431" y="6429"/>
                <a:ext cx="1689" cy="586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Q-Learning</a:t>
                </a:r>
                <a:endParaRPr lang="zh-CN" altLang="en-US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10390" y="6347"/>
                <a:ext cx="1588" cy="737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Reward </a:t>
                </a:r>
                <a:r>
                  <a: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Shaping</a:t>
                </a:r>
                <a:endParaRPr lang="en-US" altLang="zh-CN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endParaRPr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 rot="0">
              <a:off x="3413" y="5865"/>
              <a:ext cx="4304" cy="1416"/>
              <a:chOff x="3413" y="5865"/>
              <a:chExt cx="4304" cy="1416"/>
            </a:xfrm>
          </p:grpSpPr>
          <p:grpSp>
            <p:nvGrpSpPr>
              <p:cNvPr id="96" name="组合 95"/>
              <p:cNvGrpSpPr/>
              <p:nvPr/>
            </p:nvGrpSpPr>
            <p:grpSpPr>
              <a:xfrm rot="0">
                <a:off x="3413" y="5865"/>
                <a:ext cx="4304" cy="1417"/>
                <a:chOff x="3783" y="3244"/>
                <a:chExt cx="2963" cy="2008"/>
              </a:xfrm>
            </p:grpSpPr>
            <p:sp>
              <p:nvSpPr>
                <p:cNvPr id="97" name="矩形 96"/>
                <p:cNvSpPr/>
                <p:nvPr/>
              </p:nvSpPr>
              <p:spPr>
                <a:xfrm>
                  <a:off x="3783" y="3244"/>
                  <a:ext cx="2963" cy="2008"/>
                </a:xfrm>
                <a:prstGeom prst="rect">
                  <a:avLst/>
                </a:prstGeom>
                <a:ln w="12700" cap="flat" cmpd="sng" algn="ctr">
                  <a:solidFill>
                    <a:schemeClr val="tx1"/>
                  </a:solidFill>
                  <a:prstDash val="sysDot"/>
                  <a:miter lim="800000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98" name="文本框 97"/>
                <p:cNvSpPr txBox="1"/>
                <p:nvPr/>
              </p:nvSpPr>
              <p:spPr>
                <a:xfrm>
                  <a:off x="3819" y="3244"/>
                  <a:ext cx="2912" cy="672"/>
                </a:xfrm>
                <a:prstGeom prst="rect">
                  <a:avLst/>
                </a:prstGeom>
                <a:noFill/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en-US" altLang="zh-CN" sz="1200">
                      <a:latin typeface="Times New Roman" panose="02020503050405090304" charset="0"/>
                      <a:ea typeface="宋体" charset="0"/>
                      <a:cs typeface="Times New Roman" panose="02020503050405090304" charset="0"/>
                    </a:rPr>
                    <a:t>HPO</a:t>
                  </a:r>
                  <a:r>
                    <a:rPr lang="en-US" altLang="zh-CN" sz="1200">
                      <a:latin typeface="宋体" charset="0"/>
                      <a:ea typeface="宋体" charset="0"/>
                    </a:rPr>
                    <a:t> </a:t>
                  </a:r>
                  <a:r>
                    <a:rPr lang="zh-CN" altLang="en-US" sz="1200">
                      <a:latin typeface="宋体" charset="0"/>
                      <a:ea typeface="宋体" charset="0"/>
                    </a:rPr>
                    <a:t>轨迹诊断</a:t>
                  </a:r>
                  <a:r>
                    <a:rPr lang="zh-CN" altLang="en-US" sz="1200">
                      <a:latin typeface="宋体" charset="0"/>
                      <a:ea typeface="宋体" charset="0"/>
                    </a:rPr>
                    <a:t>分析</a:t>
                  </a:r>
                  <a:endParaRPr lang="zh-CN" altLang="en-US" sz="1200">
                    <a:latin typeface="宋体" charset="0"/>
                    <a:ea typeface="宋体" charset="0"/>
                  </a:endParaRPr>
                </a:p>
              </p:txBody>
            </p:sp>
          </p:grpSp>
          <p:sp>
            <p:nvSpPr>
              <p:cNvPr id="99" name="矩形 98"/>
              <p:cNvSpPr/>
              <p:nvPr/>
            </p:nvSpPr>
            <p:spPr>
              <a:xfrm>
                <a:off x="3694" y="6427"/>
                <a:ext cx="1401" cy="591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f</a:t>
                </a:r>
                <a:r>
                  <a: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ANOVA</a:t>
                </a:r>
                <a:endParaRPr lang="en-US" altLang="zh-CN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5338" y="6362"/>
                <a:ext cx="2076" cy="737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LPI</a:t>
                </a:r>
                <a:endParaRPr lang="en-US" altLang="zh-CN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endParaRPr>
              </a:p>
              <a:p>
                <a:pPr algn="ctr"/>
                <a:r>
                  <a: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 </a:t>
                </a:r>
                <a:r>
                  <a: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局部参数重要性</a:t>
                </a:r>
                <a:endParaRPr lang="zh-CN" altLang="en-US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endParaRPr>
              </a:p>
            </p:txBody>
          </p:sp>
        </p:grpSp>
      </p:grpSp>
      <p:sp>
        <p:nvSpPr>
          <p:cNvPr id="41" name="矩形 40"/>
          <p:cNvSpPr/>
          <p:nvPr/>
        </p:nvSpPr>
        <p:spPr>
          <a:xfrm>
            <a:off x="8435975" y="2646045"/>
            <a:ext cx="1663065" cy="3505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>
                <a:latin typeface="宋体" charset="0"/>
                <a:ea typeface="宋体" charset="0"/>
              </a:rPr>
              <a:t>上下文</a:t>
            </a:r>
            <a:r>
              <a:rPr lang="zh-CN" altLang="en-US" sz="1200">
                <a:latin typeface="宋体" charset="0"/>
                <a:ea typeface="宋体" charset="0"/>
              </a:rPr>
              <a:t>学习</a:t>
            </a:r>
            <a:endParaRPr lang="zh-CN" altLang="en-US" sz="1200">
              <a:latin typeface="宋体" charset="0"/>
              <a:ea typeface="宋体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8434705" y="4302125"/>
            <a:ext cx="1663065" cy="350520"/>
          </a:xfrm>
          <a:prstGeom prst="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 sz="1200"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超参数优化</a:t>
            </a:r>
            <a:r>
              <a:rPr lang="en-US" altLang="zh-CN" sz="1200">
                <a:latin typeface="Times New Roman" panose="02020503050405090304" charset="0"/>
                <a:ea typeface="宋体" charset="0"/>
                <a:cs typeface="Times New Roman" panose="02020503050405090304" charset="0"/>
              </a:rPr>
              <a:t> HPO</a:t>
            </a:r>
            <a:endParaRPr lang="zh-CN" altLang="en-US" sz="1200">
              <a:latin typeface="Times New Roman" panose="02020503050405090304" charset="0"/>
              <a:ea typeface="宋体" charset="0"/>
              <a:cs typeface="Times New Roman" panose="0202050305040509030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4" name="组合 93"/>
          <p:cNvGrpSpPr/>
          <p:nvPr/>
        </p:nvGrpSpPr>
        <p:grpSpPr>
          <a:xfrm>
            <a:off x="1617345" y="1635760"/>
            <a:ext cx="7693025" cy="2171065"/>
            <a:chOff x="2547" y="2576"/>
            <a:chExt cx="12115" cy="3419"/>
          </a:xfrm>
        </p:grpSpPr>
        <p:sp>
          <p:nvSpPr>
            <p:cNvPr id="8" name="矩形 7"/>
            <p:cNvSpPr/>
            <p:nvPr/>
          </p:nvSpPr>
          <p:spPr>
            <a:xfrm>
              <a:off x="2761" y="2576"/>
              <a:ext cx="4790" cy="3367"/>
            </a:xfrm>
            <a:prstGeom prst="rect">
              <a:avLst/>
            </a:prstGeom>
            <a:solidFill>
              <a:srgbClr val="E3F2FD"/>
            </a:solidFill>
            <a:ln w="12700" cap="flat" cmpd="sng" algn="ctr">
              <a:solidFill>
                <a:schemeClr val="tx1"/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7551" y="2576"/>
              <a:ext cx="5419" cy="3367"/>
            </a:xfrm>
            <a:prstGeom prst="rect">
              <a:avLst/>
            </a:prstGeom>
            <a:solidFill>
              <a:srgbClr val="F3E5F5"/>
            </a:solidFill>
            <a:ln w="12700" cap="flat" cmpd="sng" algn="ctr">
              <a:solidFill>
                <a:schemeClr val="tx1"/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2970" y="2576"/>
              <a:ext cx="1599" cy="3367"/>
            </a:xfrm>
            <a:prstGeom prst="rect">
              <a:avLst/>
            </a:prstGeom>
            <a:solidFill>
              <a:srgbClr val="E8F5E9"/>
            </a:solidFill>
            <a:ln w="12700" cap="flat" cmpd="sng" algn="ctr">
              <a:solidFill>
                <a:schemeClr val="tx1"/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761" y="2594"/>
              <a:ext cx="4790" cy="43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i="1">
                  <a:latin typeface="宋体" charset="0"/>
                  <a:ea typeface="宋体" charset="0"/>
                </a:rPr>
                <a:t>根因分析模型</a:t>
              </a:r>
              <a:endParaRPr lang="zh-CN" altLang="en-US" sz="1200" b="1" i="1">
                <a:latin typeface="宋体" charset="0"/>
                <a:ea typeface="宋体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551" y="2594"/>
              <a:ext cx="5419" cy="43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i="1">
                  <a:latin typeface="宋体" charset="0"/>
                  <a:ea typeface="宋体" charset="0"/>
                </a:rPr>
                <a:t>根因分析增强异常检测</a:t>
              </a:r>
              <a:endParaRPr lang="zh-CN" altLang="en-US" sz="1200" b="1" i="1">
                <a:latin typeface="宋体" charset="0"/>
                <a:ea typeface="宋体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970" y="2594"/>
              <a:ext cx="1599" cy="43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i="1">
                  <a:latin typeface="宋体" charset="0"/>
                  <a:ea typeface="宋体" charset="0"/>
                </a:rPr>
                <a:t>模型评估</a:t>
              </a:r>
              <a:endParaRPr lang="zh-CN" altLang="en-US" sz="1200" b="1" i="1">
                <a:latin typeface="宋体" charset="0"/>
                <a:ea typeface="宋体" charset="0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 rot="0">
              <a:off x="4078" y="4460"/>
              <a:ext cx="1897" cy="1311"/>
              <a:chOff x="4268" y="3811"/>
              <a:chExt cx="1897" cy="1311"/>
            </a:xfrm>
          </p:grpSpPr>
          <p:pic>
            <p:nvPicPr>
              <p:cNvPr id="13" name="图片 12" descr="神经网络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82" y="3811"/>
                <a:ext cx="925" cy="925"/>
              </a:xfrm>
              <a:prstGeom prst="rect">
                <a:avLst/>
              </a:prstGeom>
            </p:spPr>
          </p:pic>
          <p:sp>
            <p:nvSpPr>
              <p:cNvPr id="14" name="文本框 13"/>
              <p:cNvSpPr txBox="1"/>
              <p:nvPr/>
            </p:nvSpPr>
            <p:spPr>
              <a:xfrm>
                <a:off x="4268" y="4736"/>
                <a:ext cx="1897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根因分析模型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 rot="0">
              <a:off x="2547" y="3522"/>
              <a:ext cx="1531" cy="2200"/>
              <a:chOff x="2224" y="3311"/>
              <a:chExt cx="1531" cy="2200"/>
            </a:xfrm>
          </p:grpSpPr>
          <p:pic>
            <p:nvPicPr>
              <p:cNvPr id="15" name="图片 14" descr="4.7&amp;4.8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515" y="3311"/>
                <a:ext cx="925" cy="925"/>
              </a:xfrm>
              <a:prstGeom prst="rect">
                <a:avLst/>
              </a:prstGeom>
            </p:spPr>
          </p:pic>
          <p:pic>
            <p:nvPicPr>
              <p:cNvPr id="17" name="图片 16" descr="网络拓扑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565" y="4078"/>
                <a:ext cx="793" cy="793"/>
              </a:xfrm>
              <a:prstGeom prst="rect">
                <a:avLst/>
              </a:prstGeom>
            </p:spPr>
          </p:pic>
          <p:sp>
            <p:nvSpPr>
              <p:cNvPr id="18" name="文本框 17"/>
              <p:cNvSpPr txBox="1"/>
              <p:nvPr/>
            </p:nvSpPr>
            <p:spPr>
              <a:xfrm>
                <a:off x="2224" y="4883"/>
                <a:ext cx="1531" cy="628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根因分析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数据集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 rot="0">
              <a:off x="5781" y="4451"/>
              <a:ext cx="1897" cy="1311"/>
              <a:chOff x="4268" y="3811"/>
              <a:chExt cx="1897" cy="1311"/>
            </a:xfrm>
          </p:grpSpPr>
          <p:pic>
            <p:nvPicPr>
              <p:cNvPr id="21" name="图片 20" descr="神经网络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54" y="3811"/>
                <a:ext cx="925" cy="925"/>
              </a:xfrm>
              <a:prstGeom prst="rect">
                <a:avLst/>
              </a:prstGeom>
            </p:spPr>
          </p:pic>
          <p:sp>
            <p:nvSpPr>
              <p:cNvPr id="22" name="文本框 21"/>
              <p:cNvSpPr txBox="1"/>
              <p:nvPr/>
            </p:nvSpPr>
            <p:spPr>
              <a:xfrm>
                <a:off x="4268" y="4736"/>
                <a:ext cx="1897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微调模型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 rot="0">
              <a:off x="3397" y="4516"/>
              <a:ext cx="1531" cy="614"/>
              <a:chOff x="2991" y="4265"/>
              <a:chExt cx="1531" cy="614"/>
            </a:xfrm>
          </p:grpSpPr>
          <p:sp>
            <p:nvSpPr>
              <p:cNvPr id="23" name="燕尾形箭头 22"/>
              <p:cNvSpPr/>
              <p:nvPr/>
            </p:nvSpPr>
            <p:spPr>
              <a:xfrm>
                <a:off x="3503" y="4659"/>
                <a:ext cx="590" cy="22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2991" y="4265"/>
                <a:ext cx="1531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 b="1">
                    <a:latin typeface="宋体" charset="0"/>
                    <a:ea typeface="宋体" charset="0"/>
                  </a:rPr>
                  <a:t>多任务</a:t>
                </a:r>
                <a:r>
                  <a:rPr lang="zh-CN" altLang="en-US" sz="1000" b="1">
                    <a:latin typeface="宋体" charset="0"/>
                    <a:ea typeface="宋体" charset="0"/>
                  </a:rPr>
                  <a:t>学习</a:t>
                </a:r>
                <a:endParaRPr lang="zh-CN" altLang="en-US" sz="1000" b="1"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 rot="0">
              <a:off x="5111" y="4516"/>
              <a:ext cx="1531" cy="614"/>
              <a:chOff x="3033" y="4265"/>
              <a:chExt cx="1531" cy="614"/>
            </a:xfrm>
          </p:grpSpPr>
          <p:sp>
            <p:nvSpPr>
              <p:cNvPr id="29" name="燕尾形箭头 28"/>
              <p:cNvSpPr/>
              <p:nvPr/>
            </p:nvSpPr>
            <p:spPr>
              <a:xfrm>
                <a:off x="3503" y="4659"/>
                <a:ext cx="590" cy="22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3033" y="4265"/>
                <a:ext cx="1531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 b="1">
                    <a:latin typeface="宋体" charset="0"/>
                    <a:ea typeface="宋体" charset="0"/>
                  </a:rPr>
                  <a:t>迁移学习</a:t>
                </a:r>
                <a:endParaRPr lang="zh-CN" altLang="en-US" sz="1000" b="1"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 rot="0">
              <a:off x="4636" y="3059"/>
              <a:ext cx="2075" cy="925"/>
              <a:chOff x="5190" y="3070"/>
              <a:chExt cx="2075" cy="925"/>
            </a:xfrm>
          </p:grpSpPr>
          <p:pic>
            <p:nvPicPr>
              <p:cNvPr id="27" name="图片 26" descr="4.7&amp;4.8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90" y="3070"/>
                <a:ext cx="925" cy="925"/>
              </a:xfrm>
              <a:prstGeom prst="rect">
                <a:avLst/>
              </a:prstGeom>
            </p:spPr>
          </p:pic>
          <p:sp>
            <p:nvSpPr>
              <p:cNvPr id="31" name="文本框 30"/>
              <p:cNvSpPr txBox="1"/>
              <p:nvPr/>
            </p:nvSpPr>
            <p:spPr>
              <a:xfrm>
                <a:off x="6000" y="3158"/>
                <a:ext cx="1265" cy="628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异常检测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数据集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</p:txBody>
          </p:sp>
        </p:grpSp>
        <p:sp>
          <p:nvSpPr>
            <p:cNvPr id="32" name="燕尾形箭头 31"/>
            <p:cNvSpPr/>
            <p:nvPr/>
          </p:nvSpPr>
          <p:spPr>
            <a:xfrm rot="5400000">
              <a:off x="4821" y="4091"/>
              <a:ext cx="518" cy="22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燕尾形箭头 33"/>
            <p:cNvSpPr/>
            <p:nvPr/>
          </p:nvSpPr>
          <p:spPr>
            <a:xfrm>
              <a:off x="7235" y="4910"/>
              <a:ext cx="590" cy="22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7" name="组合 36"/>
            <p:cNvGrpSpPr/>
            <p:nvPr/>
          </p:nvGrpSpPr>
          <p:grpSpPr>
            <a:xfrm rot="0">
              <a:off x="13046" y="3155"/>
              <a:ext cx="1616" cy="519"/>
              <a:chOff x="13046" y="3337"/>
              <a:chExt cx="1616" cy="519"/>
            </a:xfrm>
          </p:grpSpPr>
          <p:pic>
            <p:nvPicPr>
              <p:cNvPr id="35" name="图片 34" descr="精确准确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3046" y="3337"/>
                <a:ext cx="519" cy="519"/>
              </a:xfrm>
              <a:prstGeom prst="rect">
                <a:avLst/>
              </a:prstGeom>
            </p:spPr>
          </p:pic>
          <p:sp>
            <p:nvSpPr>
              <p:cNvPr id="36" name="文本框 35"/>
              <p:cNvSpPr txBox="1"/>
              <p:nvPr/>
            </p:nvSpPr>
            <p:spPr>
              <a:xfrm>
                <a:off x="13397" y="3385"/>
                <a:ext cx="1265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chemeClr val="accent4">
                        <a:lumMod val="50000"/>
                      </a:schemeClr>
                    </a:solidFill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precision</a:t>
                </a:r>
                <a:endParaRPr lang="en-US" altLang="zh-CN" sz="1000">
                  <a:solidFill>
                    <a:schemeClr val="accent4">
                      <a:lumMod val="50000"/>
                    </a:schemeClr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 rot="0">
              <a:off x="7485" y="4676"/>
              <a:ext cx="1357" cy="1086"/>
              <a:chOff x="7485" y="4551"/>
              <a:chExt cx="1619" cy="1280"/>
            </a:xfrm>
          </p:grpSpPr>
          <p:pic>
            <p:nvPicPr>
              <p:cNvPr id="38" name="图片 37" descr="向量"/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877" y="4551"/>
                <a:ext cx="834" cy="834"/>
              </a:xfrm>
              <a:prstGeom prst="rect">
                <a:avLst/>
              </a:prstGeom>
            </p:spPr>
          </p:pic>
          <p:sp>
            <p:nvSpPr>
              <p:cNvPr id="39" name="文本框 38"/>
              <p:cNvSpPr txBox="1"/>
              <p:nvPr/>
            </p:nvSpPr>
            <p:spPr>
              <a:xfrm>
                <a:off x="7485" y="5376"/>
                <a:ext cx="1619" cy="455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D4237A"/>
                    </a:solidFill>
                    <a:latin typeface="宋体" charset="0"/>
                    <a:ea typeface="宋体" charset="0"/>
                  </a:rPr>
                  <a:t>根因向量</a:t>
                </a:r>
                <a:endParaRPr lang="zh-CN" altLang="en-US" sz="1000">
                  <a:solidFill>
                    <a:srgbClr val="D4237A"/>
                  </a:solidFill>
                  <a:latin typeface="宋体" charset="0"/>
                  <a:ea typeface="宋体" charset="0"/>
                </a:endParaRPr>
              </a:p>
            </p:txBody>
          </p:sp>
        </p:grpSp>
        <p:pic>
          <p:nvPicPr>
            <p:cNvPr id="42" name="图片 41" descr="向量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084" y="4696"/>
              <a:ext cx="699" cy="707"/>
            </a:xfrm>
            <a:prstGeom prst="rect">
              <a:avLst/>
            </a:prstGeom>
          </p:spPr>
        </p:pic>
        <p:cxnSp>
          <p:nvCxnSpPr>
            <p:cNvPr id="43" name="直接连接符 42"/>
            <p:cNvCxnSpPr/>
            <p:nvPr/>
          </p:nvCxnSpPr>
          <p:spPr>
            <a:xfrm>
              <a:off x="8764" y="3059"/>
              <a:ext cx="0" cy="2931"/>
            </a:xfrm>
            <a:prstGeom prst="line">
              <a:avLst/>
            </a:prstGeom>
            <a:ln w="1270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10197" y="3056"/>
              <a:ext cx="0" cy="2939"/>
            </a:xfrm>
            <a:prstGeom prst="line">
              <a:avLst/>
            </a:prstGeom>
            <a:ln w="1270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11584" y="3059"/>
              <a:ext cx="0" cy="2931"/>
            </a:xfrm>
            <a:prstGeom prst="line">
              <a:avLst/>
            </a:prstGeom>
            <a:ln w="1270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8802" y="3058"/>
              <a:ext cx="1357" cy="38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charset="0"/>
                  <a:ea typeface="宋体" charset="0"/>
                </a:rPr>
                <a:t>输入层</a:t>
              </a:r>
              <a:endParaRPr lang="zh-CN" altLang="en-US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ea typeface="宋体" charset="0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0229" y="3059"/>
              <a:ext cx="1357" cy="38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charset="0"/>
                  <a:ea typeface="宋体" charset="0"/>
                </a:rPr>
                <a:t>隐藏层</a:t>
              </a:r>
              <a:endParaRPr lang="zh-CN" altLang="en-US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ea typeface="宋体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1598" y="3059"/>
              <a:ext cx="1357" cy="38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charset="0"/>
                  <a:ea typeface="宋体" charset="0"/>
                </a:rPr>
                <a:t>输出层</a:t>
              </a:r>
              <a:endParaRPr lang="zh-CN" altLang="en-US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ea typeface="宋体" charset="0"/>
              </a:endParaRPr>
            </a:p>
          </p:txBody>
        </p:sp>
        <p:pic>
          <p:nvPicPr>
            <p:cNvPr id="51" name="图片 50" descr="乘法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46" y="4508"/>
              <a:ext cx="170" cy="170"/>
            </a:xfrm>
            <a:prstGeom prst="rect">
              <a:avLst/>
            </a:prstGeom>
          </p:spPr>
        </p:pic>
        <p:grpSp>
          <p:nvGrpSpPr>
            <p:cNvPr id="54" name="组合 53"/>
            <p:cNvGrpSpPr/>
            <p:nvPr/>
          </p:nvGrpSpPr>
          <p:grpSpPr>
            <a:xfrm rot="0">
              <a:off x="9441" y="4593"/>
              <a:ext cx="1531" cy="537"/>
              <a:chOff x="9441" y="4139"/>
              <a:chExt cx="1531" cy="537"/>
            </a:xfrm>
          </p:grpSpPr>
          <p:sp>
            <p:nvSpPr>
              <p:cNvPr id="52" name="燕尾形箭头 51"/>
              <p:cNvSpPr/>
              <p:nvPr/>
            </p:nvSpPr>
            <p:spPr>
              <a:xfrm>
                <a:off x="9911" y="4456"/>
                <a:ext cx="590" cy="22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9441" y="4139"/>
                <a:ext cx="1531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 b="1">
                    <a:latin typeface="宋体" charset="0"/>
                    <a:ea typeface="宋体" charset="0"/>
                  </a:rPr>
                  <a:t>编</a:t>
                </a:r>
                <a:r>
                  <a:rPr lang="en-US" altLang="zh-CN" sz="1000" b="1">
                    <a:latin typeface="宋体" charset="0"/>
                    <a:ea typeface="宋体" charset="0"/>
                  </a:rPr>
                  <a:t> </a:t>
                </a:r>
                <a:r>
                  <a:rPr lang="zh-CN" altLang="en-US" sz="1000" b="1">
                    <a:latin typeface="宋体" charset="0"/>
                    <a:ea typeface="宋体" charset="0"/>
                  </a:rPr>
                  <a:t>码</a:t>
                </a:r>
                <a:endParaRPr lang="zh-CN" altLang="en-US" sz="1000" b="1">
                  <a:latin typeface="宋体" charset="0"/>
                  <a:ea typeface="宋体" charset="0"/>
                </a:endParaRPr>
              </a:p>
            </p:txBody>
          </p:sp>
        </p:grpSp>
        <p:sp>
          <p:nvSpPr>
            <p:cNvPr id="56" name="文本框 55"/>
            <p:cNvSpPr txBox="1"/>
            <p:nvPr/>
          </p:nvSpPr>
          <p:spPr>
            <a:xfrm>
              <a:off x="8739" y="5558"/>
              <a:ext cx="1490" cy="38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000" i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charset="0"/>
                  <a:ea typeface="宋体" charset="0"/>
                </a:rPr>
                <a:t>逐元素相乘</a:t>
              </a:r>
              <a:endParaRPr lang="zh-CN" altLang="en-US" sz="1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ea typeface="宋体" charset="0"/>
              </a:endParaRPr>
            </a:p>
          </p:txBody>
        </p:sp>
        <p:grpSp>
          <p:nvGrpSpPr>
            <p:cNvPr id="88" name="组合 87"/>
            <p:cNvGrpSpPr/>
            <p:nvPr/>
          </p:nvGrpSpPr>
          <p:grpSpPr>
            <a:xfrm>
              <a:off x="8623" y="3424"/>
              <a:ext cx="1736" cy="1000"/>
              <a:chOff x="8623" y="3424"/>
              <a:chExt cx="1736" cy="1000"/>
            </a:xfrm>
          </p:grpSpPr>
          <p:pic>
            <p:nvPicPr>
              <p:cNvPr id="55" name="图片 54" descr="下载-_7_"/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rcRect l="57346" t="48041"/>
              <a:stretch>
                <a:fillRect/>
              </a:stretch>
            </p:blipFill>
            <p:spPr>
              <a:xfrm>
                <a:off x="9018" y="3424"/>
                <a:ext cx="926" cy="848"/>
              </a:xfrm>
              <a:prstGeom prst="rect">
                <a:avLst/>
              </a:prstGeom>
            </p:spPr>
          </p:pic>
          <p:sp>
            <p:nvSpPr>
              <p:cNvPr id="57" name="文本框 56"/>
              <p:cNvSpPr txBox="1"/>
              <p:nvPr/>
            </p:nvSpPr>
            <p:spPr>
              <a:xfrm>
                <a:off x="8623" y="4038"/>
                <a:ext cx="1736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D4237A"/>
                    </a:solidFill>
                    <a:latin typeface="宋体" charset="0"/>
                    <a:ea typeface="宋体" charset="0"/>
                  </a:rPr>
                  <a:t>时间序列</a:t>
                </a:r>
                <a:r>
                  <a:rPr lang="zh-CN" altLang="en-US" sz="1000">
                    <a:solidFill>
                      <a:srgbClr val="D4237A"/>
                    </a:solidFill>
                    <a:latin typeface="宋体" charset="0"/>
                    <a:ea typeface="宋体" charset="0"/>
                  </a:rPr>
                  <a:t>输入</a:t>
                </a:r>
                <a:endParaRPr lang="zh-CN" altLang="en-US" sz="1000">
                  <a:solidFill>
                    <a:srgbClr val="D4237A"/>
                  </a:solidFill>
                  <a:latin typeface="宋体" charset="0"/>
                  <a:ea typeface="宋体" charset="0"/>
                </a:endParaRPr>
              </a:p>
            </p:txBody>
          </p:sp>
        </p:grpSp>
        <p:pic>
          <p:nvPicPr>
            <p:cNvPr id="58" name="图片 57" descr="加法"/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0777" y="4264"/>
              <a:ext cx="196" cy="196"/>
            </a:xfrm>
            <a:prstGeom prst="rect">
              <a:avLst/>
            </a:prstGeom>
          </p:spPr>
        </p:pic>
        <p:pic>
          <p:nvPicPr>
            <p:cNvPr id="59" name="图片 58" descr="向量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503" y="3522"/>
              <a:ext cx="699" cy="707"/>
            </a:xfrm>
            <a:prstGeom prst="rect">
              <a:avLst/>
            </a:prstGeom>
          </p:spPr>
        </p:pic>
        <p:sp>
          <p:nvSpPr>
            <p:cNvPr id="60" name="文本框 59"/>
            <p:cNvSpPr txBox="1"/>
            <p:nvPr/>
          </p:nvSpPr>
          <p:spPr>
            <a:xfrm>
              <a:off x="10159" y="5558"/>
              <a:ext cx="1490" cy="38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000" i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charset="0"/>
                  <a:ea typeface="宋体" charset="0"/>
                </a:rPr>
                <a:t>特征融合</a:t>
              </a:r>
              <a:endParaRPr lang="zh-CN" altLang="en-US" sz="1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ea typeface="宋体" charset="0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 rot="0">
              <a:off x="10823" y="4593"/>
              <a:ext cx="1531" cy="529"/>
              <a:chOff x="9441" y="4283"/>
              <a:chExt cx="1531" cy="529"/>
            </a:xfrm>
          </p:grpSpPr>
          <p:sp>
            <p:nvSpPr>
              <p:cNvPr id="62" name="燕尾形箭头 61"/>
              <p:cNvSpPr/>
              <p:nvPr/>
            </p:nvSpPr>
            <p:spPr>
              <a:xfrm>
                <a:off x="9911" y="4592"/>
                <a:ext cx="590" cy="22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9441" y="4283"/>
                <a:ext cx="1531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 b="1">
                    <a:latin typeface="宋体" charset="0"/>
                    <a:ea typeface="宋体" charset="0"/>
                  </a:rPr>
                  <a:t>解</a:t>
                </a:r>
                <a:r>
                  <a:rPr lang="en-US" altLang="zh-CN" sz="1000" b="1">
                    <a:latin typeface="宋体" charset="0"/>
                    <a:ea typeface="宋体" charset="0"/>
                  </a:rPr>
                  <a:t> </a:t>
                </a:r>
                <a:r>
                  <a:rPr lang="zh-CN" altLang="en-US" sz="1000" b="1">
                    <a:latin typeface="宋体" charset="0"/>
                    <a:ea typeface="宋体" charset="0"/>
                  </a:rPr>
                  <a:t>码</a:t>
                </a:r>
                <a:endParaRPr lang="zh-CN" altLang="en-US" sz="1000" b="1">
                  <a:latin typeface="宋体" charset="0"/>
                  <a:ea typeface="宋体" charset="0"/>
                </a:endParaRPr>
              </a:p>
            </p:txBody>
          </p:sp>
        </p:grpSp>
        <p:pic>
          <p:nvPicPr>
            <p:cNvPr id="64" name="图片 63" descr="向量(1)"/>
            <p:cNvPicPr>
              <a:picLocks noChangeAspect="1"/>
            </p:cNvPicPr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10503" y="4532"/>
              <a:ext cx="700" cy="700"/>
            </a:xfrm>
            <a:prstGeom prst="rect">
              <a:avLst/>
            </a:prstGeom>
          </p:spPr>
        </p:pic>
        <p:sp>
          <p:nvSpPr>
            <p:cNvPr id="65" name="文本框 64"/>
            <p:cNvSpPr txBox="1"/>
            <p:nvPr/>
          </p:nvSpPr>
          <p:spPr>
            <a:xfrm>
              <a:off x="10007" y="5204"/>
              <a:ext cx="1736" cy="38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rgbClr val="D4237A"/>
                  </a:solidFill>
                  <a:latin typeface="宋体" charset="0"/>
                  <a:ea typeface="宋体" charset="0"/>
                </a:rPr>
                <a:t>隐藏层向量</a:t>
              </a:r>
              <a:endParaRPr lang="zh-CN" altLang="en-US" sz="1000">
                <a:solidFill>
                  <a:srgbClr val="D4237A"/>
                </a:solidFill>
                <a:latin typeface="宋体" charset="0"/>
                <a:ea typeface="宋体" charset="0"/>
              </a:endParaRPr>
            </a:p>
          </p:txBody>
        </p:sp>
        <p:grpSp>
          <p:nvGrpSpPr>
            <p:cNvPr id="90" name="组合 89"/>
            <p:cNvGrpSpPr/>
            <p:nvPr/>
          </p:nvGrpSpPr>
          <p:grpSpPr>
            <a:xfrm>
              <a:off x="11409" y="4709"/>
              <a:ext cx="1736" cy="881"/>
              <a:chOff x="11544" y="5051"/>
              <a:chExt cx="1736" cy="881"/>
            </a:xfrm>
          </p:grpSpPr>
          <p:pic>
            <p:nvPicPr>
              <p:cNvPr id="68" name="图片 67" descr="误差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12166" y="5051"/>
                <a:ext cx="520" cy="520"/>
              </a:xfrm>
              <a:prstGeom prst="rect">
                <a:avLst/>
              </a:prstGeom>
            </p:spPr>
          </p:pic>
          <p:sp>
            <p:nvSpPr>
              <p:cNvPr id="69" name="文本框 68"/>
              <p:cNvSpPr txBox="1"/>
              <p:nvPr/>
            </p:nvSpPr>
            <p:spPr>
              <a:xfrm>
                <a:off x="11544" y="5546"/>
                <a:ext cx="1736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D4237A"/>
                    </a:solidFill>
                    <a:latin typeface="宋体" charset="0"/>
                    <a:ea typeface="宋体" charset="0"/>
                  </a:rPr>
                  <a:t>误差</a:t>
                </a:r>
                <a:endParaRPr lang="zh-CN" altLang="en-US" sz="1000">
                  <a:solidFill>
                    <a:srgbClr val="D4237A"/>
                  </a:solidFill>
                  <a:latin typeface="宋体" charset="0"/>
                  <a:ea typeface="宋体" charset="0"/>
                </a:endParaRPr>
              </a:p>
            </p:txBody>
          </p:sp>
        </p:grpSp>
        <p:pic>
          <p:nvPicPr>
            <p:cNvPr id="70" name="图片 69" descr="向量"/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1649" y="3331"/>
              <a:ext cx="699" cy="707"/>
            </a:xfrm>
            <a:prstGeom prst="rect">
              <a:avLst/>
            </a:prstGeom>
          </p:spPr>
        </p:pic>
        <p:grpSp>
          <p:nvGrpSpPr>
            <p:cNvPr id="91" name="组合 90"/>
            <p:cNvGrpSpPr/>
            <p:nvPr/>
          </p:nvGrpSpPr>
          <p:grpSpPr>
            <a:xfrm>
              <a:off x="11409" y="3674"/>
              <a:ext cx="1736" cy="757"/>
              <a:chOff x="11558" y="4208"/>
              <a:chExt cx="1736" cy="757"/>
            </a:xfrm>
          </p:grpSpPr>
          <p:pic>
            <p:nvPicPr>
              <p:cNvPr id="73" name="图片 72" descr="阈值"/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12234" y="4208"/>
                <a:ext cx="385" cy="385"/>
              </a:xfrm>
              <a:prstGeom prst="rect">
                <a:avLst/>
              </a:prstGeom>
            </p:spPr>
          </p:pic>
          <p:sp>
            <p:nvSpPr>
              <p:cNvPr id="74" name="文本框 73"/>
              <p:cNvSpPr txBox="1"/>
              <p:nvPr/>
            </p:nvSpPr>
            <p:spPr>
              <a:xfrm>
                <a:off x="11558" y="4579"/>
                <a:ext cx="1736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D4237A"/>
                    </a:solidFill>
                    <a:latin typeface="宋体" charset="0"/>
                    <a:ea typeface="宋体" charset="0"/>
                  </a:rPr>
                  <a:t>动态阈值</a:t>
                </a:r>
                <a:endParaRPr lang="zh-CN" altLang="en-US" sz="1000">
                  <a:solidFill>
                    <a:srgbClr val="D4237A"/>
                  </a:solidFill>
                  <a:latin typeface="宋体" charset="0"/>
                  <a:ea typeface="宋体" charset="0"/>
                </a:endParaRPr>
              </a:p>
            </p:txBody>
          </p:sp>
        </p:grpSp>
        <p:sp>
          <p:nvSpPr>
            <p:cNvPr id="75" name="燕尾形箭头 74"/>
            <p:cNvSpPr/>
            <p:nvPr/>
          </p:nvSpPr>
          <p:spPr>
            <a:xfrm>
              <a:off x="12704" y="4910"/>
              <a:ext cx="590" cy="22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78" name="组合 77"/>
            <p:cNvGrpSpPr/>
            <p:nvPr/>
          </p:nvGrpSpPr>
          <p:grpSpPr>
            <a:xfrm rot="0">
              <a:off x="13307" y="4666"/>
              <a:ext cx="926" cy="910"/>
              <a:chOff x="13307" y="4859"/>
              <a:chExt cx="926" cy="910"/>
            </a:xfrm>
          </p:grpSpPr>
          <p:pic>
            <p:nvPicPr>
              <p:cNvPr id="76" name="图片 75" descr="异常(1)"/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13426" y="4859"/>
                <a:ext cx="687" cy="687"/>
              </a:xfrm>
              <a:prstGeom prst="rect">
                <a:avLst/>
              </a:prstGeom>
            </p:spPr>
          </p:pic>
          <p:sp>
            <p:nvSpPr>
              <p:cNvPr id="77" name="文本框 76"/>
              <p:cNvSpPr txBox="1"/>
              <p:nvPr/>
            </p:nvSpPr>
            <p:spPr>
              <a:xfrm>
                <a:off x="13307" y="5383"/>
                <a:ext cx="926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chemeClr val="accent4">
                        <a:lumMod val="50000"/>
                      </a:schemeClr>
                    </a:solidFill>
                    <a:latin typeface="宋体" charset="0"/>
                    <a:ea typeface="宋体" charset="0"/>
                  </a:rPr>
                  <a:t>异常</a:t>
                </a:r>
                <a:endParaRPr lang="zh-CN" altLang="en-US" sz="1000">
                  <a:solidFill>
                    <a:schemeClr val="accent4">
                      <a:lumMod val="50000"/>
                    </a:schemeClr>
                  </a:solidFill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 rot="0">
              <a:off x="13113" y="3737"/>
              <a:ext cx="1431" cy="405"/>
              <a:chOff x="13113" y="3725"/>
              <a:chExt cx="1431" cy="405"/>
            </a:xfrm>
          </p:grpSpPr>
          <p:pic>
            <p:nvPicPr>
              <p:cNvPr id="79" name="图片 78" descr="召回"/>
              <p:cNvPicPr>
                <a:picLocks noChangeAspect="1"/>
              </p:cNvPicPr>
              <p:nvPr/>
            </p:nvPicPr>
            <p:blipFill>
              <a:blip r:embed="rId25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3113" y="3746"/>
                <a:ext cx="385" cy="385"/>
              </a:xfrm>
              <a:prstGeom prst="rect">
                <a:avLst/>
              </a:prstGeom>
            </p:spPr>
          </p:pic>
          <p:sp>
            <p:nvSpPr>
              <p:cNvPr id="80" name="文本框 79"/>
              <p:cNvSpPr txBox="1"/>
              <p:nvPr/>
            </p:nvSpPr>
            <p:spPr>
              <a:xfrm>
                <a:off x="13280" y="3725"/>
                <a:ext cx="1265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chemeClr val="accent4">
                        <a:lumMod val="50000"/>
                      </a:schemeClr>
                    </a:solidFill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rec</a:t>
                </a:r>
                <a:r>
                  <a:rPr lang="en-US" altLang="zh-CN" sz="1000">
                    <a:solidFill>
                      <a:schemeClr val="accent4">
                        <a:lumMod val="50000"/>
                      </a:schemeClr>
                    </a:solidFill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all</a:t>
                </a:r>
                <a:endParaRPr lang="en-US" altLang="zh-CN" sz="1000">
                  <a:solidFill>
                    <a:schemeClr val="accent4">
                      <a:lumMod val="50000"/>
                    </a:schemeClr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 rot="0">
              <a:off x="13071" y="4259"/>
              <a:ext cx="1515" cy="464"/>
              <a:chOff x="13071" y="4289"/>
              <a:chExt cx="1515" cy="464"/>
            </a:xfrm>
          </p:grpSpPr>
          <p:pic>
            <p:nvPicPr>
              <p:cNvPr id="84" name="图片 83" descr="F(1)"/>
              <p:cNvPicPr>
                <a:picLocks noChangeAspect="1"/>
              </p:cNvPicPr>
              <p:nvPr/>
            </p:nvPicPr>
            <p:blipFill>
              <a:blip r:embed="rId27"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13071" y="4289"/>
                <a:ext cx="464" cy="464"/>
              </a:xfrm>
              <a:prstGeom prst="rect">
                <a:avLst/>
              </a:prstGeom>
            </p:spPr>
          </p:pic>
          <p:sp>
            <p:nvSpPr>
              <p:cNvPr id="85" name="文本框 84"/>
              <p:cNvSpPr txBox="1"/>
              <p:nvPr/>
            </p:nvSpPr>
            <p:spPr>
              <a:xfrm>
                <a:off x="13322" y="4311"/>
                <a:ext cx="1265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chemeClr val="accent4">
                        <a:lumMod val="50000"/>
                      </a:schemeClr>
                    </a:solidFill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F1-score</a:t>
                </a:r>
                <a:endParaRPr lang="en-US" altLang="zh-CN" sz="1000">
                  <a:solidFill>
                    <a:schemeClr val="accent4">
                      <a:lumMod val="50000"/>
                    </a:schemeClr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</p:grpSp>
        <p:sp>
          <p:nvSpPr>
            <p:cNvPr id="92" name="燕尾形箭头 91"/>
            <p:cNvSpPr/>
            <p:nvPr/>
          </p:nvSpPr>
          <p:spPr>
            <a:xfrm rot="5400000">
              <a:off x="12158" y="4440"/>
              <a:ext cx="253" cy="22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2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1617345" y="1635760"/>
            <a:ext cx="3996690" cy="2137410"/>
            <a:chOff x="2547" y="2576"/>
            <a:chExt cx="6294" cy="3366"/>
          </a:xfrm>
        </p:grpSpPr>
        <p:sp>
          <p:nvSpPr>
            <p:cNvPr id="8" name="矩形 7"/>
            <p:cNvSpPr/>
            <p:nvPr/>
          </p:nvSpPr>
          <p:spPr>
            <a:xfrm>
              <a:off x="2761" y="2576"/>
              <a:ext cx="4790" cy="3367"/>
            </a:xfrm>
            <a:prstGeom prst="rect">
              <a:avLst/>
            </a:prstGeom>
            <a:solidFill>
              <a:srgbClr val="E3F2FD"/>
            </a:solidFill>
            <a:ln w="12700" cap="flat" cmpd="sng" algn="ctr">
              <a:solidFill>
                <a:schemeClr val="tx1"/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2761" y="2594"/>
              <a:ext cx="4790" cy="43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i="1">
                  <a:latin typeface="宋体" charset="0"/>
                  <a:ea typeface="宋体" charset="0"/>
                </a:rPr>
                <a:t>根因分析模型</a:t>
              </a:r>
              <a:endParaRPr lang="zh-CN" altLang="en-US" sz="1200" b="1" i="1">
                <a:latin typeface="宋体" charset="0"/>
                <a:ea typeface="宋体" charset="0"/>
              </a:endParaRPr>
            </a:p>
          </p:txBody>
        </p:sp>
        <p:grpSp>
          <p:nvGrpSpPr>
            <p:cNvPr id="16" name="组合 15"/>
            <p:cNvGrpSpPr/>
            <p:nvPr/>
          </p:nvGrpSpPr>
          <p:grpSpPr>
            <a:xfrm rot="0">
              <a:off x="4078" y="4460"/>
              <a:ext cx="1897" cy="1311"/>
              <a:chOff x="4268" y="3811"/>
              <a:chExt cx="1897" cy="1311"/>
            </a:xfrm>
          </p:grpSpPr>
          <p:pic>
            <p:nvPicPr>
              <p:cNvPr id="13" name="图片 12" descr="神经网络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87" y="3811"/>
                <a:ext cx="925" cy="925"/>
              </a:xfrm>
              <a:prstGeom prst="rect">
                <a:avLst/>
              </a:prstGeom>
            </p:spPr>
          </p:pic>
          <p:sp>
            <p:nvSpPr>
              <p:cNvPr id="14" name="文本框 13"/>
              <p:cNvSpPr txBox="1"/>
              <p:nvPr/>
            </p:nvSpPr>
            <p:spPr>
              <a:xfrm>
                <a:off x="4268" y="4736"/>
                <a:ext cx="1897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根因分析模型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 rot="0">
              <a:off x="2547" y="3522"/>
              <a:ext cx="1531" cy="2200"/>
              <a:chOff x="2224" y="3311"/>
              <a:chExt cx="1531" cy="2200"/>
            </a:xfrm>
          </p:grpSpPr>
          <p:pic>
            <p:nvPicPr>
              <p:cNvPr id="15" name="图片 14" descr="4.7&amp;4.8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515" y="3311"/>
                <a:ext cx="925" cy="925"/>
              </a:xfrm>
              <a:prstGeom prst="rect">
                <a:avLst/>
              </a:prstGeom>
            </p:spPr>
          </p:pic>
          <p:pic>
            <p:nvPicPr>
              <p:cNvPr id="17" name="图片 16" descr="网络拓扑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560" y="4078"/>
                <a:ext cx="793" cy="793"/>
              </a:xfrm>
              <a:prstGeom prst="rect">
                <a:avLst/>
              </a:prstGeom>
            </p:spPr>
          </p:pic>
          <p:sp>
            <p:nvSpPr>
              <p:cNvPr id="18" name="文本框 17"/>
              <p:cNvSpPr txBox="1"/>
              <p:nvPr/>
            </p:nvSpPr>
            <p:spPr>
              <a:xfrm>
                <a:off x="2224" y="4883"/>
                <a:ext cx="1531" cy="628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根因分析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数据集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20" name="组合 19"/>
            <p:cNvGrpSpPr/>
            <p:nvPr/>
          </p:nvGrpSpPr>
          <p:grpSpPr>
            <a:xfrm rot="0">
              <a:off x="5781" y="4451"/>
              <a:ext cx="1897" cy="1311"/>
              <a:chOff x="4268" y="3811"/>
              <a:chExt cx="1897" cy="1311"/>
            </a:xfrm>
          </p:grpSpPr>
          <p:pic>
            <p:nvPicPr>
              <p:cNvPr id="21" name="图片 20" descr="神经网络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54" y="3811"/>
                <a:ext cx="925" cy="925"/>
              </a:xfrm>
              <a:prstGeom prst="rect">
                <a:avLst/>
              </a:prstGeom>
            </p:spPr>
          </p:pic>
          <p:sp>
            <p:nvSpPr>
              <p:cNvPr id="22" name="文本框 21"/>
              <p:cNvSpPr txBox="1"/>
              <p:nvPr/>
            </p:nvSpPr>
            <p:spPr>
              <a:xfrm>
                <a:off x="4268" y="4736"/>
                <a:ext cx="1897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微调模型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 rot="0">
              <a:off x="3395" y="4516"/>
              <a:ext cx="1531" cy="614"/>
              <a:chOff x="2989" y="4265"/>
              <a:chExt cx="1531" cy="614"/>
            </a:xfrm>
          </p:grpSpPr>
          <p:sp>
            <p:nvSpPr>
              <p:cNvPr id="23" name="燕尾形箭头 22"/>
              <p:cNvSpPr/>
              <p:nvPr/>
            </p:nvSpPr>
            <p:spPr>
              <a:xfrm>
                <a:off x="3503" y="4659"/>
                <a:ext cx="590" cy="22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2989" y="4265"/>
                <a:ext cx="1531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 b="1">
                    <a:latin typeface="宋体" charset="0"/>
                    <a:ea typeface="宋体" charset="0"/>
                  </a:rPr>
                  <a:t>多任务</a:t>
                </a:r>
                <a:r>
                  <a:rPr lang="zh-CN" altLang="en-US" sz="1000" b="1">
                    <a:latin typeface="宋体" charset="0"/>
                    <a:ea typeface="宋体" charset="0"/>
                  </a:rPr>
                  <a:t>学习</a:t>
                </a:r>
                <a:endParaRPr lang="zh-CN" altLang="en-US" sz="1000" b="1"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 rot="0">
              <a:off x="5111" y="4516"/>
              <a:ext cx="1531" cy="614"/>
              <a:chOff x="3033" y="4265"/>
              <a:chExt cx="1531" cy="614"/>
            </a:xfrm>
          </p:grpSpPr>
          <p:sp>
            <p:nvSpPr>
              <p:cNvPr id="29" name="燕尾形箭头 28"/>
              <p:cNvSpPr/>
              <p:nvPr/>
            </p:nvSpPr>
            <p:spPr>
              <a:xfrm>
                <a:off x="3503" y="4659"/>
                <a:ext cx="590" cy="22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3033" y="4265"/>
                <a:ext cx="1531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 b="1">
                    <a:latin typeface="宋体" charset="0"/>
                    <a:ea typeface="宋体" charset="0"/>
                  </a:rPr>
                  <a:t>迁移学习</a:t>
                </a:r>
                <a:endParaRPr lang="zh-CN" altLang="en-US" sz="1000" b="1"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 rot="0">
              <a:off x="4636" y="3059"/>
              <a:ext cx="2075" cy="925"/>
              <a:chOff x="5190" y="3070"/>
              <a:chExt cx="2075" cy="925"/>
            </a:xfrm>
          </p:grpSpPr>
          <p:pic>
            <p:nvPicPr>
              <p:cNvPr id="27" name="图片 26" descr="4.7&amp;4.8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5190" y="3070"/>
                <a:ext cx="925" cy="925"/>
              </a:xfrm>
              <a:prstGeom prst="rect">
                <a:avLst/>
              </a:prstGeom>
            </p:spPr>
          </p:pic>
          <p:sp>
            <p:nvSpPr>
              <p:cNvPr id="31" name="文本框 30"/>
              <p:cNvSpPr txBox="1"/>
              <p:nvPr/>
            </p:nvSpPr>
            <p:spPr>
              <a:xfrm>
                <a:off x="6000" y="3158"/>
                <a:ext cx="1265" cy="628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异常检测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数据集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</p:txBody>
          </p:sp>
        </p:grpSp>
        <p:sp>
          <p:nvSpPr>
            <p:cNvPr id="32" name="燕尾形箭头 31"/>
            <p:cNvSpPr/>
            <p:nvPr/>
          </p:nvSpPr>
          <p:spPr>
            <a:xfrm rot="5400000">
              <a:off x="4821" y="4091"/>
              <a:ext cx="518" cy="22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燕尾形箭头 33"/>
            <p:cNvSpPr/>
            <p:nvPr/>
          </p:nvSpPr>
          <p:spPr>
            <a:xfrm>
              <a:off x="7235" y="4910"/>
              <a:ext cx="590" cy="22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40" name="组合 39"/>
            <p:cNvGrpSpPr/>
            <p:nvPr/>
          </p:nvGrpSpPr>
          <p:grpSpPr>
            <a:xfrm rot="0">
              <a:off x="7485" y="4676"/>
              <a:ext cx="1357" cy="1086"/>
              <a:chOff x="7485" y="4551"/>
              <a:chExt cx="1619" cy="1280"/>
            </a:xfrm>
          </p:grpSpPr>
          <p:pic>
            <p:nvPicPr>
              <p:cNvPr id="38" name="图片 37" descr="向量"/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877" y="4551"/>
                <a:ext cx="834" cy="834"/>
              </a:xfrm>
              <a:prstGeom prst="rect">
                <a:avLst/>
              </a:prstGeom>
            </p:spPr>
          </p:pic>
          <p:sp>
            <p:nvSpPr>
              <p:cNvPr id="39" name="文本框 38"/>
              <p:cNvSpPr txBox="1"/>
              <p:nvPr/>
            </p:nvSpPr>
            <p:spPr>
              <a:xfrm>
                <a:off x="7485" y="5376"/>
                <a:ext cx="1619" cy="455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D4237A"/>
                    </a:solidFill>
                    <a:latin typeface="宋体" charset="0"/>
                    <a:ea typeface="宋体" charset="0"/>
                  </a:rPr>
                  <a:t>根因向量</a:t>
                </a:r>
                <a:endParaRPr lang="zh-CN" altLang="en-US" sz="1000">
                  <a:solidFill>
                    <a:srgbClr val="D4237A"/>
                  </a:solidFill>
                  <a:latin typeface="宋体" charset="0"/>
                  <a:ea typeface="宋体" charset="0"/>
                </a:endParaRPr>
              </a:p>
            </p:txBody>
          </p:sp>
        </p:grpSp>
      </p:grpSp>
    </p:spTree>
    <p:custDataLst>
      <p:tags r:id="rId9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/>
        </p:nvGrpSpPr>
        <p:grpSpPr>
          <a:xfrm>
            <a:off x="3670935" y="1635760"/>
            <a:ext cx="5639435" cy="2170430"/>
            <a:chOff x="5781" y="2576"/>
            <a:chExt cx="8881" cy="3418"/>
          </a:xfrm>
        </p:grpSpPr>
        <p:sp>
          <p:nvSpPr>
            <p:cNvPr id="4" name="矩形 3"/>
            <p:cNvSpPr/>
            <p:nvPr/>
          </p:nvSpPr>
          <p:spPr>
            <a:xfrm>
              <a:off x="7551" y="2576"/>
              <a:ext cx="5419" cy="3367"/>
            </a:xfrm>
            <a:prstGeom prst="rect">
              <a:avLst/>
            </a:prstGeom>
            <a:solidFill>
              <a:srgbClr val="F3E5F5"/>
            </a:solidFill>
            <a:ln w="12700" cap="flat" cmpd="sng" algn="ctr">
              <a:solidFill>
                <a:schemeClr val="tx1"/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12970" y="2576"/>
              <a:ext cx="1599" cy="3367"/>
            </a:xfrm>
            <a:prstGeom prst="rect">
              <a:avLst/>
            </a:prstGeom>
            <a:solidFill>
              <a:srgbClr val="E8F5E9"/>
            </a:solidFill>
            <a:ln w="12700" cap="flat" cmpd="sng" algn="ctr">
              <a:solidFill>
                <a:schemeClr val="tx1"/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7551" y="2594"/>
              <a:ext cx="5419" cy="43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i="1">
                  <a:latin typeface="宋体" charset="0"/>
                  <a:ea typeface="宋体" charset="0"/>
                </a:rPr>
                <a:t>根因分析增强异常检测</a:t>
              </a:r>
              <a:endParaRPr lang="zh-CN" altLang="en-US" sz="1200" b="1" i="1">
                <a:latin typeface="宋体" charset="0"/>
                <a:ea typeface="宋体" charset="0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2970" y="2594"/>
              <a:ext cx="1599" cy="434"/>
            </a:xfrm>
            <a:prstGeom prst="rect">
              <a:avLst/>
            </a:prstGeom>
            <a:noFill/>
            <a:ln>
              <a:solidFill>
                <a:schemeClr val="bg2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200" b="1" i="1">
                  <a:latin typeface="宋体" charset="0"/>
                  <a:ea typeface="宋体" charset="0"/>
                </a:rPr>
                <a:t>模型评估</a:t>
              </a:r>
              <a:endParaRPr lang="zh-CN" altLang="en-US" sz="1200" b="1" i="1">
                <a:latin typeface="宋体" charset="0"/>
                <a:ea typeface="宋体" charset="0"/>
              </a:endParaRPr>
            </a:p>
          </p:txBody>
        </p:sp>
        <p:grpSp>
          <p:nvGrpSpPr>
            <p:cNvPr id="20" name="组合 19"/>
            <p:cNvGrpSpPr/>
            <p:nvPr/>
          </p:nvGrpSpPr>
          <p:grpSpPr>
            <a:xfrm rot="0">
              <a:off x="5781" y="4451"/>
              <a:ext cx="1897" cy="1311"/>
              <a:chOff x="4268" y="3811"/>
              <a:chExt cx="1897" cy="1311"/>
            </a:xfrm>
          </p:grpSpPr>
          <p:pic>
            <p:nvPicPr>
              <p:cNvPr id="21" name="图片 20" descr="神经网络"/>
              <p:cNvPicPr>
                <a:picLocks noChangeAspect="1"/>
              </p:cNvPicPr>
              <p:nvPr/>
            </p:nvPicPr>
            <p:blipFill>
              <a:blip r:embed="rId1"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p:blipFill>
            <p:spPr>
              <a:xfrm>
                <a:off x="4754" y="3811"/>
                <a:ext cx="925" cy="925"/>
              </a:xfrm>
              <a:prstGeom prst="rect">
                <a:avLst/>
              </a:prstGeom>
            </p:spPr>
          </p:pic>
          <p:sp>
            <p:nvSpPr>
              <p:cNvPr id="22" name="文本框 21"/>
              <p:cNvSpPr txBox="1"/>
              <p:nvPr/>
            </p:nvSpPr>
            <p:spPr>
              <a:xfrm>
                <a:off x="4268" y="4736"/>
                <a:ext cx="1897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13227A"/>
                    </a:solidFill>
                    <a:latin typeface="宋体" charset="0"/>
                    <a:ea typeface="宋体" charset="0"/>
                  </a:rPr>
                  <a:t>微调模型</a:t>
                </a:r>
                <a:endParaRPr lang="zh-CN" altLang="en-US" sz="1000">
                  <a:solidFill>
                    <a:srgbClr val="13227A"/>
                  </a:solidFill>
                  <a:latin typeface="宋体" charset="0"/>
                  <a:ea typeface="宋体" charset="0"/>
                </a:endParaRPr>
              </a:p>
            </p:txBody>
          </p:sp>
        </p:grpSp>
        <p:sp>
          <p:nvSpPr>
            <p:cNvPr id="34" name="燕尾形箭头 33"/>
            <p:cNvSpPr/>
            <p:nvPr/>
          </p:nvSpPr>
          <p:spPr>
            <a:xfrm>
              <a:off x="7235" y="4910"/>
              <a:ext cx="590" cy="22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37" name="组合 36"/>
            <p:cNvGrpSpPr/>
            <p:nvPr/>
          </p:nvGrpSpPr>
          <p:grpSpPr>
            <a:xfrm rot="0">
              <a:off x="13046" y="3155"/>
              <a:ext cx="1616" cy="519"/>
              <a:chOff x="13046" y="3337"/>
              <a:chExt cx="1616" cy="519"/>
            </a:xfrm>
          </p:grpSpPr>
          <p:pic>
            <p:nvPicPr>
              <p:cNvPr id="35" name="图片 34" descr="精确准确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3046" y="3337"/>
                <a:ext cx="519" cy="519"/>
              </a:xfrm>
              <a:prstGeom prst="rect">
                <a:avLst/>
              </a:prstGeom>
            </p:spPr>
          </p:pic>
          <p:sp>
            <p:nvSpPr>
              <p:cNvPr id="36" name="文本框 35"/>
              <p:cNvSpPr txBox="1"/>
              <p:nvPr/>
            </p:nvSpPr>
            <p:spPr>
              <a:xfrm>
                <a:off x="13397" y="3385"/>
                <a:ext cx="1265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chemeClr val="accent4">
                        <a:lumMod val="50000"/>
                      </a:schemeClr>
                    </a:solidFill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precision</a:t>
                </a:r>
                <a:endParaRPr lang="en-US" altLang="zh-CN" sz="1000">
                  <a:solidFill>
                    <a:schemeClr val="accent4">
                      <a:lumMod val="50000"/>
                    </a:schemeClr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</p:grpSp>
        <p:grpSp>
          <p:nvGrpSpPr>
            <p:cNvPr id="40" name="组合 39"/>
            <p:cNvGrpSpPr/>
            <p:nvPr/>
          </p:nvGrpSpPr>
          <p:grpSpPr>
            <a:xfrm rot="0">
              <a:off x="7485" y="4676"/>
              <a:ext cx="1357" cy="1086"/>
              <a:chOff x="7485" y="4551"/>
              <a:chExt cx="1619" cy="1280"/>
            </a:xfrm>
          </p:grpSpPr>
          <p:pic>
            <p:nvPicPr>
              <p:cNvPr id="38" name="图片 37" descr="向量"/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7877" y="4551"/>
                <a:ext cx="834" cy="834"/>
              </a:xfrm>
              <a:prstGeom prst="rect">
                <a:avLst/>
              </a:prstGeom>
            </p:spPr>
          </p:pic>
          <p:sp>
            <p:nvSpPr>
              <p:cNvPr id="39" name="文本框 38"/>
              <p:cNvSpPr txBox="1"/>
              <p:nvPr/>
            </p:nvSpPr>
            <p:spPr>
              <a:xfrm>
                <a:off x="7485" y="5376"/>
                <a:ext cx="1619" cy="455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D4237A"/>
                    </a:solidFill>
                    <a:latin typeface="宋体" charset="0"/>
                    <a:ea typeface="宋体" charset="0"/>
                  </a:rPr>
                  <a:t>根因向量</a:t>
                </a:r>
                <a:endParaRPr lang="zh-CN" altLang="en-US" sz="1000">
                  <a:solidFill>
                    <a:srgbClr val="D4237A"/>
                  </a:solidFill>
                  <a:latin typeface="宋体" charset="0"/>
                  <a:ea typeface="宋体" charset="0"/>
                </a:endParaRPr>
              </a:p>
            </p:txBody>
          </p:sp>
        </p:grpSp>
        <p:pic>
          <p:nvPicPr>
            <p:cNvPr id="42" name="图片 41" descr="向量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9084" y="4696"/>
              <a:ext cx="699" cy="707"/>
            </a:xfrm>
            <a:prstGeom prst="rect">
              <a:avLst/>
            </a:prstGeom>
          </p:spPr>
        </p:pic>
        <p:cxnSp>
          <p:nvCxnSpPr>
            <p:cNvPr id="43" name="直接连接符 42"/>
            <p:cNvCxnSpPr/>
            <p:nvPr/>
          </p:nvCxnSpPr>
          <p:spPr>
            <a:xfrm>
              <a:off x="8764" y="3059"/>
              <a:ext cx="0" cy="2931"/>
            </a:xfrm>
            <a:prstGeom prst="line">
              <a:avLst/>
            </a:prstGeom>
            <a:ln w="1270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10197" y="3056"/>
              <a:ext cx="0" cy="2939"/>
            </a:xfrm>
            <a:prstGeom prst="line">
              <a:avLst/>
            </a:prstGeom>
            <a:ln w="1270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11584" y="3059"/>
              <a:ext cx="0" cy="2931"/>
            </a:xfrm>
            <a:prstGeom prst="line">
              <a:avLst/>
            </a:prstGeom>
            <a:ln w="12700" cap="flat" cmpd="sng" algn="ctr">
              <a:solidFill>
                <a:prstClr val="black"/>
              </a:solidFill>
              <a:prstDash val="dash"/>
              <a:miter lim="800000"/>
            </a:ln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46" name="文本框 45"/>
            <p:cNvSpPr txBox="1"/>
            <p:nvPr/>
          </p:nvSpPr>
          <p:spPr>
            <a:xfrm>
              <a:off x="8802" y="3058"/>
              <a:ext cx="1357" cy="38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charset="0"/>
                  <a:ea typeface="宋体" charset="0"/>
                </a:rPr>
                <a:t>输入层</a:t>
              </a:r>
              <a:endParaRPr lang="zh-CN" altLang="en-US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ea typeface="宋体" charset="0"/>
              </a:endParaRPr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0229" y="3059"/>
              <a:ext cx="1357" cy="38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charset="0"/>
                  <a:ea typeface="宋体" charset="0"/>
                </a:rPr>
                <a:t>隐藏层</a:t>
              </a:r>
              <a:endParaRPr lang="zh-CN" altLang="en-US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ea typeface="宋体" charset="0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11598" y="3059"/>
              <a:ext cx="1357" cy="38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charset="0"/>
                  <a:ea typeface="宋体" charset="0"/>
                </a:rPr>
                <a:t>输出层</a:t>
              </a:r>
              <a:endParaRPr lang="zh-CN" altLang="en-US" sz="1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ea typeface="宋体" charset="0"/>
              </a:endParaRPr>
            </a:p>
          </p:txBody>
        </p:sp>
        <p:pic>
          <p:nvPicPr>
            <p:cNvPr id="51" name="图片 50" descr="乘法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346" y="4508"/>
              <a:ext cx="170" cy="170"/>
            </a:xfrm>
            <a:prstGeom prst="rect">
              <a:avLst/>
            </a:prstGeom>
          </p:spPr>
        </p:pic>
        <p:grpSp>
          <p:nvGrpSpPr>
            <p:cNvPr id="54" name="组合 53"/>
            <p:cNvGrpSpPr/>
            <p:nvPr/>
          </p:nvGrpSpPr>
          <p:grpSpPr>
            <a:xfrm rot="0">
              <a:off x="9441" y="4593"/>
              <a:ext cx="1531" cy="537"/>
              <a:chOff x="9441" y="4139"/>
              <a:chExt cx="1531" cy="537"/>
            </a:xfrm>
          </p:grpSpPr>
          <p:sp>
            <p:nvSpPr>
              <p:cNvPr id="52" name="燕尾形箭头 51"/>
              <p:cNvSpPr/>
              <p:nvPr/>
            </p:nvSpPr>
            <p:spPr>
              <a:xfrm>
                <a:off x="9911" y="4456"/>
                <a:ext cx="590" cy="22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53" name="文本框 52"/>
              <p:cNvSpPr txBox="1"/>
              <p:nvPr/>
            </p:nvSpPr>
            <p:spPr>
              <a:xfrm>
                <a:off x="9441" y="4139"/>
                <a:ext cx="1531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 b="1">
                    <a:latin typeface="宋体" charset="0"/>
                    <a:ea typeface="宋体" charset="0"/>
                  </a:rPr>
                  <a:t>编</a:t>
                </a:r>
                <a:r>
                  <a:rPr lang="en-US" altLang="zh-CN" sz="1000" b="1">
                    <a:latin typeface="宋体" charset="0"/>
                    <a:ea typeface="宋体" charset="0"/>
                  </a:rPr>
                  <a:t> </a:t>
                </a:r>
                <a:r>
                  <a:rPr lang="zh-CN" altLang="en-US" sz="1000" b="1">
                    <a:latin typeface="宋体" charset="0"/>
                    <a:ea typeface="宋体" charset="0"/>
                  </a:rPr>
                  <a:t>码</a:t>
                </a:r>
                <a:endParaRPr lang="zh-CN" altLang="en-US" sz="1000" b="1">
                  <a:latin typeface="宋体" charset="0"/>
                  <a:ea typeface="宋体" charset="0"/>
                </a:endParaRPr>
              </a:p>
            </p:txBody>
          </p:sp>
        </p:grpSp>
        <p:sp>
          <p:nvSpPr>
            <p:cNvPr id="56" name="文本框 55"/>
            <p:cNvSpPr txBox="1"/>
            <p:nvPr/>
          </p:nvSpPr>
          <p:spPr>
            <a:xfrm>
              <a:off x="8739" y="5558"/>
              <a:ext cx="1490" cy="38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000" i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charset="0"/>
                  <a:ea typeface="宋体" charset="0"/>
                </a:rPr>
                <a:t>逐元素相乘</a:t>
              </a:r>
              <a:endParaRPr lang="zh-CN" altLang="en-US" sz="1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ea typeface="宋体" charset="0"/>
              </a:endParaRPr>
            </a:p>
          </p:txBody>
        </p:sp>
        <p:grpSp>
          <p:nvGrpSpPr>
            <p:cNvPr id="88" name="组合 87"/>
            <p:cNvGrpSpPr/>
            <p:nvPr/>
          </p:nvGrpSpPr>
          <p:grpSpPr>
            <a:xfrm rot="0">
              <a:off x="8623" y="3424"/>
              <a:ext cx="1736" cy="1000"/>
              <a:chOff x="8623" y="3424"/>
              <a:chExt cx="1736" cy="1000"/>
            </a:xfrm>
          </p:grpSpPr>
          <p:pic>
            <p:nvPicPr>
              <p:cNvPr id="55" name="图片 54" descr="下载-_7_"/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 l="57346" t="48041"/>
              <a:stretch>
                <a:fillRect/>
              </a:stretch>
            </p:blipFill>
            <p:spPr>
              <a:xfrm>
                <a:off x="9018" y="3424"/>
                <a:ext cx="926" cy="848"/>
              </a:xfrm>
              <a:prstGeom prst="rect">
                <a:avLst/>
              </a:prstGeom>
            </p:spPr>
          </p:pic>
          <p:sp>
            <p:nvSpPr>
              <p:cNvPr id="57" name="文本框 56"/>
              <p:cNvSpPr txBox="1"/>
              <p:nvPr/>
            </p:nvSpPr>
            <p:spPr>
              <a:xfrm>
                <a:off x="8623" y="4038"/>
                <a:ext cx="1736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D4237A"/>
                    </a:solidFill>
                    <a:latin typeface="宋体" charset="0"/>
                    <a:ea typeface="宋体" charset="0"/>
                  </a:rPr>
                  <a:t>时间序列</a:t>
                </a:r>
                <a:r>
                  <a:rPr lang="zh-CN" altLang="en-US" sz="1000">
                    <a:solidFill>
                      <a:srgbClr val="D4237A"/>
                    </a:solidFill>
                    <a:latin typeface="宋体" charset="0"/>
                    <a:ea typeface="宋体" charset="0"/>
                  </a:rPr>
                  <a:t>输入</a:t>
                </a:r>
                <a:endParaRPr lang="zh-CN" altLang="en-US" sz="1000">
                  <a:solidFill>
                    <a:srgbClr val="D4237A"/>
                  </a:solidFill>
                  <a:latin typeface="宋体" charset="0"/>
                  <a:ea typeface="宋体" charset="0"/>
                </a:endParaRPr>
              </a:p>
            </p:txBody>
          </p:sp>
        </p:grpSp>
        <p:pic>
          <p:nvPicPr>
            <p:cNvPr id="58" name="图片 57" descr="加法"/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777" y="4264"/>
              <a:ext cx="196" cy="196"/>
            </a:xfrm>
            <a:prstGeom prst="rect">
              <a:avLst/>
            </a:prstGeom>
          </p:spPr>
        </p:pic>
        <p:pic>
          <p:nvPicPr>
            <p:cNvPr id="59" name="图片 58" descr="向量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503" y="3522"/>
              <a:ext cx="699" cy="707"/>
            </a:xfrm>
            <a:prstGeom prst="rect">
              <a:avLst/>
            </a:prstGeom>
          </p:spPr>
        </p:pic>
        <p:sp>
          <p:nvSpPr>
            <p:cNvPr id="60" name="文本框 59"/>
            <p:cNvSpPr txBox="1"/>
            <p:nvPr/>
          </p:nvSpPr>
          <p:spPr>
            <a:xfrm>
              <a:off x="10159" y="5558"/>
              <a:ext cx="1490" cy="38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000" i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宋体" charset="0"/>
                  <a:ea typeface="宋体" charset="0"/>
                </a:rPr>
                <a:t>特征融合</a:t>
              </a:r>
              <a:endParaRPr lang="zh-CN" altLang="en-US" sz="10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charset="0"/>
                <a:ea typeface="宋体" charset="0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 rot="0">
              <a:off x="10823" y="4593"/>
              <a:ext cx="1531" cy="529"/>
              <a:chOff x="9441" y="4283"/>
              <a:chExt cx="1531" cy="529"/>
            </a:xfrm>
          </p:grpSpPr>
          <p:sp>
            <p:nvSpPr>
              <p:cNvPr id="62" name="燕尾形箭头 61"/>
              <p:cNvSpPr/>
              <p:nvPr/>
            </p:nvSpPr>
            <p:spPr>
              <a:xfrm>
                <a:off x="9911" y="4592"/>
                <a:ext cx="590" cy="220"/>
              </a:xfrm>
              <a:prstGeom prst="notchedRightArrow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9441" y="4283"/>
                <a:ext cx="1531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 b="1">
                    <a:latin typeface="宋体" charset="0"/>
                    <a:ea typeface="宋体" charset="0"/>
                  </a:rPr>
                  <a:t>解</a:t>
                </a:r>
                <a:r>
                  <a:rPr lang="en-US" altLang="zh-CN" sz="1000" b="1">
                    <a:latin typeface="宋体" charset="0"/>
                    <a:ea typeface="宋体" charset="0"/>
                  </a:rPr>
                  <a:t> </a:t>
                </a:r>
                <a:r>
                  <a:rPr lang="zh-CN" altLang="en-US" sz="1000" b="1">
                    <a:latin typeface="宋体" charset="0"/>
                    <a:ea typeface="宋体" charset="0"/>
                  </a:rPr>
                  <a:t>码</a:t>
                </a:r>
                <a:endParaRPr lang="zh-CN" altLang="en-US" sz="1000" b="1">
                  <a:latin typeface="宋体" charset="0"/>
                  <a:ea typeface="宋体" charset="0"/>
                </a:endParaRPr>
              </a:p>
            </p:txBody>
          </p:sp>
        </p:grpSp>
        <p:pic>
          <p:nvPicPr>
            <p:cNvPr id="64" name="图片 63" descr="向量(1)"/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10503" y="4532"/>
              <a:ext cx="700" cy="700"/>
            </a:xfrm>
            <a:prstGeom prst="rect">
              <a:avLst/>
            </a:prstGeom>
          </p:spPr>
        </p:pic>
        <p:sp>
          <p:nvSpPr>
            <p:cNvPr id="65" name="文本框 64"/>
            <p:cNvSpPr txBox="1"/>
            <p:nvPr/>
          </p:nvSpPr>
          <p:spPr>
            <a:xfrm>
              <a:off x="10007" y="5204"/>
              <a:ext cx="1736" cy="386"/>
            </a:xfrm>
            <a:prstGeom prst="rect">
              <a:avLst/>
            </a:prstGeom>
            <a:noFill/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p>
              <a:pPr algn="ctr"/>
              <a:r>
                <a:rPr lang="zh-CN" altLang="en-US" sz="1000">
                  <a:solidFill>
                    <a:srgbClr val="D4237A"/>
                  </a:solidFill>
                  <a:latin typeface="宋体" charset="0"/>
                  <a:ea typeface="宋体" charset="0"/>
                </a:rPr>
                <a:t>隐藏层向量</a:t>
              </a:r>
              <a:endParaRPr lang="zh-CN" altLang="en-US" sz="1000">
                <a:solidFill>
                  <a:srgbClr val="D4237A"/>
                </a:solidFill>
                <a:latin typeface="宋体" charset="0"/>
                <a:ea typeface="宋体" charset="0"/>
              </a:endParaRPr>
            </a:p>
          </p:txBody>
        </p:sp>
        <p:grpSp>
          <p:nvGrpSpPr>
            <p:cNvPr id="90" name="组合 89"/>
            <p:cNvGrpSpPr/>
            <p:nvPr/>
          </p:nvGrpSpPr>
          <p:grpSpPr>
            <a:xfrm rot="0">
              <a:off x="11409" y="4709"/>
              <a:ext cx="1736" cy="881"/>
              <a:chOff x="11544" y="5051"/>
              <a:chExt cx="1736" cy="881"/>
            </a:xfrm>
          </p:grpSpPr>
          <p:pic>
            <p:nvPicPr>
              <p:cNvPr id="68" name="图片 67" descr="误差"/>
              <p:cNvPicPr>
                <a:picLocks noChangeAspect="1"/>
              </p:cNvPicPr>
              <p:nvPr/>
            </p:nvPicPr>
            <p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p:blipFill>
            <p:spPr>
              <a:xfrm>
                <a:off x="12166" y="5051"/>
                <a:ext cx="520" cy="520"/>
              </a:xfrm>
              <a:prstGeom prst="rect">
                <a:avLst/>
              </a:prstGeom>
            </p:spPr>
          </p:pic>
          <p:sp>
            <p:nvSpPr>
              <p:cNvPr id="69" name="文本框 68"/>
              <p:cNvSpPr txBox="1"/>
              <p:nvPr/>
            </p:nvSpPr>
            <p:spPr>
              <a:xfrm>
                <a:off x="11544" y="5546"/>
                <a:ext cx="1736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D4237A"/>
                    </a:solidFill>
                    <a:latin typeface="宋体" charset="0"/>
                    <a:ea typeface="宋体" charset="0"/>
                  </a:rPr>
                  <a:t>误差</a:t>
                </a:r>
                <a:endParaRPr lang="zh-CN" altLang="en-US" sz="1000">
                  <a:solidFill>
                    <a:srgbClr val="D4237A"/>
                  </a:solidFill>
                  <a:latin typeface="宋体" charset="0"/>
                  <a:ea typeface="宋体" charset="0"/>
                </a:endParaRPr>
              </a:p>
            </p:txBody>
          </p:sp>
        </p:grpSp>
        <p:pic>
          <p:nvPicPr>
            <p:cNvPr id="70" name="图片 69" descr="向量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649" y="3331"/>
              <a:ext cx="699" cy="707"/>
            </a:xfrm>
            <a:prstGeom prst="rect">
              <a:avLst/>
            </a:prstGeom>
          </p:spPr>
        </p:pic>
        <p:grpSp>
          <p:nvGrpSpPr>
            <p:cNvPr id="91" name="组合 90"/>
            <p:cNvGrpSpPr/>
            <p:nvPr/>
          </p:nvGrpSpPr>
          <p:grpSpPr>
            <a:xfrm rot="0">
              <a:off x="11409" y="3674"/>
              <a:ext cx="1736" cy="757"/>
              <a:chOff x="11558" y="4208"/>
              <a:chExt cx="1736" cy="757"/>
            </a:xfrm>
          </p:grpSpPr>
          <p:pic>
            <p:nvPicPr>
              <p:cNvPr id="73" name="图片 72" descr="阈值"/>
              <p:cNvPicPr>
                <a:picLocks noChangeAspect="1"/>
              </p:cNvPicPr>
              <p:nvPr/>
            </p:nvPicPr>
            <p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p:blipFill>
            <p:spPr>
              <a:xfrm>
                <a:off x="12234" y="4208"/>
                <a:ext cx="385" cy="385"/>
              </a:xfrm>
              <a:prstGeom prst="rect">
                <a:avLst/>
              </a:prstGeom>
            </p:spPr>
          </p:pic>
          <p:sp>
            <p:nvSpPr>
              <p:cNvPr id="74" name="文本框 73"/>
              <p:cNvSpPr txBox="1"/>
              <p:nvPr/>
            </p:nvSpPr>
            <p:spPr>
              <a:xfrm>
                <a:off x="11558" y="4579"/>
                <a:ext cx="1736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rgbClr val="D4237A"/>
                    </a:solidFill>
                    <a:latin typeface="宋体" charset="0"/>
                    <a:ea typeface="宋体" charset="0"/>
                  </a:rPr>
                  <a:t>动态阈值</a:t>
                </a:r>
                <a:endParaRPr lang="zh-CN" altLang="en-US" sz="1000">
                  <a:solidFill>
                    <a:srgbClr val="D4237A"/>
                  </a:solidFill>
                  <a:latin typeface="宋体" charset="0"/>
                  <a:ea typeface="宋体" charset="0"/>
                </a:endParaRPr>
              </a:p>
            </p:txBody>
          </p:sp>
        </p:grpSp>
        <p:sp>
          <p:nvSpPr>
            <p:cNvPr id="75" name="燕尾形箭头 74"/>
            <p:cNvSpPr/>
            <p:nvPr/>
          </p:nvSpPr>
          <p:spPr>
            <a:xfrm>
              <a:off x="12704" y="4910"/>
              <a:ext cx="590" cy="22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78" name="组合 77"/>
            <p:cNvGrpSpPr/>
            <p:nvPr/>
          </p:nvGrpSpPr>
          <p:grpSpPr>
            <a:xfrm rot="0">
              <a:off x="13307" y="4666"/>
              <a:ext cx="926" cy="910"/>
              <a:chOff x="13307" y="4859"/>
              <a:chExt cx="926" cy="910"/>
            </a:xfrm>
          </p:grpSpPr>
          <p:pic>
            <p:nvPicPr>
              <p:cNvPr id="76" name="图片 75" descr="异常(1)"/>
              <p:cNvPicPr>
                <a:picLocks noChangeAspect="1"/>
              </p:cNvPicPr>
              <p:nvPr/>
            </p:nvPicPr>
            <p:blipFill>
              <a:blip r:embed="rId19">
                <a:extLst>
                  <a:ext uri="{96DAC541-7B7A-43D3-8B79-37D633B846F1}">
                    <asvg:svgBlip xmlns:asvg="http://schemas.microsoft.com/office/drawing/2016/SVG/main" r:embed="rId20"/>
                  </a:ext>
                </a:extLst>
              </a:blip>
              <a:stretch>
                <a:fillRect/>
              </a:stretch>
            </p:blipFill>
            <p:spPr>
              <a:xfrm>
                <a:off x="13426" y="4859"/>
                <a:ext cx="687" cy="687"/>
              </a:xfrm>
              <a:prstGeom prst="rect">
                <a:avLst/>
              </a:prstGeom>
            </p:spPr>
          </p:pic>
          <p:sp>
            <p:nvSpPr>
              <p:cNvPr id="77" name="文本框 76"/>
              <p:cNvSpPr txBox="1"/>
              <p:nvPr/>
            </p:nvSpPr>
            <p:spPr>
              <a:xfrm>
                <a:off x="13307" y="5383"/>
                <a:ext cx="926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000">
                    <a:solidFill>
                      <a:schemeClr val="accent4">
                        <a:lumMod val="50000"/>
                      </a:schemeClr>
                    </a:solidFill>
                    <a:latin typeface="宋体" charset="0"/>
                    <a:ea typeface="宋体" charset="0"/>
                  </a:rPr>
                  <a:t>异常</a:t>
                </a:r>
                <a:endParaRPr lang="zh-CN" altLang="en-US" sz="1000">
                  <a:solidFill>
                    <a:schemeClr val="accent4">
                      <a:lumMod val="50000"/>
                    </a:schemeClr>
                  </a:solidFill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81" name="组合 80"/>
            <p:cNvGrpSpPr/>
            <p:nvPr/>
          </p:nvGrpSpPr>
          <p:grpSpPr>
            <a:xfrm rot="0">
              <a:off x="13113" y="3737"/>
              <a:ext cx="1431" cy="405"/>
              <a:chOff x="13113" y="3725"/>
              <a:chExt cx="1431" cy="405"/>
            </a:xfrm>
          </p:grpSpPr>
          <p:pic>
            <p:nvPicPr>
              <p:cNvPr id="79" name="图片 78" descr="召回"/>
              <p:cNvPicPr>
                <a:picLocks noChangeAspect="1"/>
              </p:cNvPicPr>
              <p:nvPr/>
            </p:nvPicPr>
            <p:blipFill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>
                <a:fillRect/>
              </a:stretch>
            </p:blipFill>
            <p:spPr>
              <a:xfrm>
                <a:off x="13113" y="3746"/>
                <a:ext cx="385" cy="385"/>
              </a:xfrm>
              <a:prstGeom prst="rect">
                <a:avLst/>
              </a:prstGeom>
            </p:spPr>
          </p:pic>
          <p:sp>
            <p:nvSpPr>
              <p:cNvPr id="80" name="文本框 79"/>
              <p:cNvSpPr txBox="1"/>
              <p:nvPr/>
            </p:nvSpPr>
            <p:spPr>
              <a:xfrm>
                <a:off x="13280" y="3725"/>
                <a:ext cx="1265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chemeClr val="accent4">
                        <a:lumMod val="50000"/>
                      </a:schemeClr>
                    </a:solidFill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rec</a:t>
                </a:r>
                <a:r>
                  <a:rPr lang="en-US" altLang="zh-CN" sz="1000">
                    <a:solidFill>
                      <a:schemeClr val="accent4">
                        <a:lumMod val="50000"/>
                      </a:schemeClr>
                    </a:solidFill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all</a:t>
                </a:r>
                <a:endParaRPr lang="en-US" altLang="zh-CN" sz="1000">
                  <a:solidFill>
                    <a:schemeClr val="accent4">
                      <a:lumMod val="50000"/>
                    </a:schemeClr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 rot="0">
              <a:off x="13071" y="4259"/>
              <a:ext cx="1515" cy="464"/>
              <a:chOff x="13071" y="4289"/>
              <a:chExt cx="1515" cy="464"/>
            </a:xfrm>
          </p:grpSpPr>
          <p:pic>
            <p:nvPicPr>
              <p:cNvPr id="84" name="图片 83" descr="F(1)"/>
              <p:cNvPicPr>
                <a:picLocks noChangeAspect="1"/>
              </p:cNvPicPr>
              <p:nvPr/>
            </p:nvPicPr>
            <p:blipFill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>
                <a:fillRect/>
              </a:stretch>
            </p:blipFill>
            <p:spPr>
              <a:xfrm>
                <a:off x="13071" y="4289"/>
                <a:ext cx="464" cy="464"/>
              </a:xfrm>
              <a:prstGeom prst="rect">
                <a:avLst/>
              </a:prstGeom>
            </p:spPr>
          </p:pic>
          <p:sp>
            <p:nvSpPr>
              <p:cNvPr id="85" name="文本框 84"/>
              <p:cNvSpPr txBox="1"/>
              <p:nvPr/>
            </p:nvSpPr>
            <p:spPr>
              <a:xfrm>
                <a:off x="13322" y="4311"/>
                <a:ext cx="1265" cy="386"/>
              </a:xfrm>
              <a:prstGeom prst="rect">
                <a:avLst/>
              </a:prstGeom>
              <a:noFill/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000">
                    <a:solidFill>
                      <a:schemeClr val="accent4">
                        <a:lumMod val="50000"/>
                      </a:schemeClr>
                    </a:solidFill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F1-score</a:t>
                </a:r>
                <a:endParaRPr lang="en-US" altLang="zh-CN" sz="1000">
                  <a:solidFill>
                    <a:schemeClr val="accent4">
                      <a:lumMod val="50000"/>
                    </a:schemeClr>
                  </a:solidFill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</p:grpSp>
        <p:sp>
          <p:nvSpPr>
            <p:cNvPr id="92" name="燕尾形箭头 91"/>
            <p:cNvSpPr/>
            <p:nvPr/>
          </p:nvSpPr>
          <p:spPr>
            <a:xfrm rot="5400000">
              <a:off x="12158" y="4440"/>
              <a:ext cx="253" cy="220"/>
            </a:xfrm>
            <a:prstGeom prst="notched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2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39" name="组合 38"/>
          <p:cNvGrpSpPr/>
          <p:nvPr/>
        </p:nvGrpSpPr>
        <p:grpSpPr>
          <a:xfrm>
            <a:off x="1983105" y="74295"/>
            <a:ext cx="7956550" cy="6696075"/>
            <a:chOff x="3123" y="117"/>
            <a:chExt cx="12530" cy="10545"/>
          </a:xfrm>
        </p:grpSpPr>
        <p:grpSp>
          <p:nvGrpSpPr>
            <p:cNvPr id="5" name="组合 4"/>
            <p:cNvGrpSpPr/>
            <p:nvPr/>
          </p:nvGrpSpPr>
          <p:grpSpPr>
            <a:xfrm>
              <a:off x="3123" y="2707"/>
              <a:ext cx="9528" cy="7029"/>
              <a:chOff x="3123" y="2707"/>
              <a:chExt cx="9528" cy="7029"/>
            </a:xfrm>
          </p:grpSpPr>
          <p:grpSp>
            <p:nvGrpSpPr>
              <p:cNvPr id="16" name="组合 15"/>
              <p:cNvGrpSpPr/>
              <p:nvPr/>
            </p:nvGrpSpPr>
            <p:grpSpPr>
              <a:xfrm rot="0">
                <a:off x="3123" y="2707"/>
                <a:ext cx="9528" cy="1905"/>
                <a:chOff x="5005" y="2182"/>
                <a:chExt cx="9528" cy="2392"/>
              </a:xfr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17" name="矩形 16"/>
                <p:cNvSpPr/>
                <p:nvPr/>
              </p:nvSpPr>
              <p:spPr>
                <a:xfrm>
                  <a:off x="5005" y="2182"/>
                  <a:ext cx="9528" cy="2392"/>
                </a:xfrm>
                <a:prstGeom prst="rect">
                  <a:avLst/>
                </a:prstGeom>
                <a:ln w="12700" cap="flat" cmpd="sng" algn="ctr">
                  <a:solidFill>
                    <a:schemeClr val="tx1"/>
                  </a:solidFill>
                  <a:prstDash val="dash"/>
                  <a:miter lim="800000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8" name="文本框 17"/>
                <p:cNvSpPr txBox="1"/>
                <p:nvPr/>
              </p:nvSpPr>
              <p:spPr>
                <a:xfrm>
                  <a:off x="6569" y="2225"/>
                  <a:ext cx="6400" cy="5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altLang="en-US" sz="1200">
                      <a:latin typeface="宋体" charset="0"/>
                      <a:ea typeface="宋体" charset="0"/>
                    </a:rPr>
                    <a:t>模型预训练与</a:t>
                  </a:r>
                  <a:r>
                    <a:rPr lang="zh-CN" altLang="en-US" sz="1200">
                      <a:latin typeface="宋体" charset="0"/>
                      <a:ea typeface="宋体" charset="0"/>
                    </a:rPr>
                    <a:t>迁移学习</a:t>
                  </a:r>
                  <a:endParaRPr lang="zh-CN" altLang="en-US" sz="1200">
                    <a:latin typeface="宋体" charset="0"/>
                    <a:ea typeface="宋体" charset="0"/>
                  </a:endParaRPr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3465" y="3211"/>
                <a:ext cx="4252" cy="1170"/>
                <a:chOff x="3465" y="3211"/>
                <a:chExt cx="4252" cy="1170"/>
              </a:xfrm>
            </p:grpSpPr>
            <p:grpSp>
              <p:nvGrpSpPr>
                <p:cNvPr id="23" name="组合 22"/>
                <p:cNvGrpSpPr/>
                <p:nvPr/>
              </p:nvGrpSpPr>
              <p:grpSpPr>
                <a:xfrm rot="0">
                  <a:off x="3465" y="3211"/>
                  <a:ext cx="4252" cy="1170"/>
                  <a:chOff x="3783" y="3465"/>
                  <a:chExt cx="4252" cy="1170"/>
                </a:xfrm>
              </p:grpSpPr>
              <p:sp>
                <p:nvSpPr>
                  <p:cNvPr id="20" name="矩形 19"/>
                  <p:cNvSpPr/>
                  <p:nvPr/>
                </p:nvSpPr>
                <p:spPr>
                  <a:xfrm>
                    <a:off x="3783" y="3465"/>
                    <a:ext cx="4252" cy="1170"/>
                  </a:xfrm>
                  <a:prstGeom prst="rect">
                    <a:avLst/>
                  </a:prstGeom>
                  <a:ln w="12700" cap="flat" cmpd="sng" algn="ctr">
                    <a:solidFill>
                      <a:schemeClr val="tx1"/>
                    </a:solidFill>
                    <a:prstDash val="sysDot"/>
                    <a:miter lim="800000"/>
                  </a:ln>
                </p:spPr>
                <p:style>
                  <a:lnRef idx="0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2" name="文本框 21"/>
                  <p:cNvSpPr txBox="1"/>
                  <p:nvPr/>
                </p:nvSpPr>
                <p:spPr>
                  <a:xfrm>
                    <a:off x="3809" y="3480"/>
                    <a:ext cx="4226" cy="454"/>
                  </a:xfrm>
                  <a:prstGeom prst="rect">
                    <a:avLst/>
                  </a:prstGeom>
                  <a:noFill/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zh-CN" altLang="en-US" sz="1200">
                        <a:latin typeface="宋体" charset="0"/>
                        <a:ea typeface="宋体" charset="0"/>
                      </a:rPr>
                      <a:t>根因分析</a:t>
                    </a:r>
                    <a:r>
                      <a:rPr lang="en-US" altLang="zh-CN" sz="1200">
                        <a:latin typeface="宋体" charset="0"/>
                        <a:ea typeface="宋体" charset="0"/>
                      </a:rPr>
                      <a:t> - </a:t>
                    </a:r>
                    <a:r>
                      <a:rPr lang="zh-CN" altLang="en-US" sz="1200">
                        <a:latin typeface="宋体" charset="0"/>
                        <a:ea typeface="宋体" charset="0"/>
                      </a:rPr>
                      <a:t>模型预训练</a:t>
                    </a:r>
                    <a:endParaRPr lang="zh-CN" altLang="en-US" sz="1200">
                      <a:latin typeface="宋体" charset="0"/>
                      <a:ea typeface="宋体" charset="0"/>
                    </a:endParaRPr>
                  </a:p>
                </p:txBody>
              </p:sp>
            </p:grpSp>
            <p:sp>
              <p:nvSpPr>
                <p:cNvPr id="29" name="矩形 28"/>
                <p:cNvSpPr/>
                <p:nvPr/>
              </p:nvSpPr>
              <p:spPr>
                <a:xfrm>
                  <a:off x="3825" y="3681"/>
                  <a:ext cx="1588" cy="55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200">
                      <a:latin typeface="Times New Roman Regular" panose="02020503050405090304" charset="0"/>
                      <a:ea typeface="宋体" charset="0"/>
                      <a:cs typeface="Times New Roman Regular" panose="02020503050405090304" charset="0"/>
                    </a:rPr>
                    <a:t>因果</a:t>
                  </a:r>
                  <a:r>
                    <a:rPr lang="zh-CN" altLang="en-US" sz="1200">
                      <a:latin typeface="Times New Roman Regular" panose="02020503050405090304" charset="0"/>
                      <a:ea typeface="宋体" charset="0"/>
                      <a:cs typeface="Times New Roman Regular" panose="02020503050405090304" charset="0"/>
                    </a:rPr>
                    <a:t>发现</a:t>
                  </a:r>
                  <a:endPara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endParaRPr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>
                  <a:off x="5800" y="3671"/>
                  <a:ext cx="1588" cy="55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200">
                      <a:latin typeface="Times New Roman Regular" panose="02020503050405090304" charset="0"/>
                      <a:ea typeface="宋体" charset="0"/>
                    </a:rPr>
                    <a:t>编码器</a:t>
                  </a:r>
                  <a:endParaRPr lang="zh-CN" altLang="en-US" sz="1200">
                    <a:latin typeface="Times New Roman Regular" panose="02020503050405090304" charset="0"/>
                    <a:ea typeface="宋体" charset="0"/>
                  </a:endParaRPr>
                </a:p>
              </p:txBody>
            </p:sp>
          </p:grpSp>
          <p:grpSp>
            <p:nvGrpSpPr>
              <p:cNvPr id="47" name="组合 46"/>
              <p:cNvGrpSpPr/>
              <p:nvPr/>
            </p:nvGrpSpPr>
            <p:grpSpPr>
              <a:xfrm>
                <a:off x="8068" y="3216"/>
                <a:ext cx="4252" cy="1162"/>
                <a:chOff x="8144" y="3216"/>
                <a:chExt cx="4252" cy="1162"/>
              </a:xfrm>
            </p:grpSpPr>
            <p:grpSp>
              <p:nvGrpSpPr>
                <p:cNvPr id="24" name="组合 23"/>
                <p:cNvGrpSpPr/>
                <p:nvPr/>
              </p:nvGrpSpPr>
              <p:grpSpPr>
                <a:xfrm rot="0">
                  <a:off x="8144" y="3216"/>
                  <a:ext cx="4252" cy="1162"/>
                  <a:chOff x="3739" y="3474"/>
                  <a:chExt cx="4252" cy="1162"/>
                </a:xfrm>
              </p:grpSpPr>
              <p:sp>
                <p:nvSpPr>
                  <p:cNvPr id="25" name="矩形 24"/>
                  <p:cNvSpPr/>
                  <p:nvPr/>
                </p:nvSpPr>
                <p:spPr>
                  <a:xfrm>
                    <a:off x="3739" y="3474"/>
                    <a:ext cx="4252" cy="1162"/>
                  </a:xfrm>
                  <a:prstGeom prst="rect">
                    <a:avLst/>
                  </a:prstGeom>
                  <a:ln w="12700" cap="flat" cmpd="sng" algn="ctr">
                    <a:solidFill>
                      <a:schemeClr val="tx1"/>
                    </a:solidFill>
                    <a:prstDash val="sysDot"/>
                    <a:miter lim="800000"/>
                  </a:ln>
                </p:spPr>
                <p:style>
                  <a:lnRef idx="0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6" name="文本框 25"/>
                  <p:cNvSpPr txBox="1"/>
                  <p:nvPr/>
                </p:nvSpPr>
                <p:spPr>
                  <a:xfrm>
                    <a:off x="3783" y="3480"/>
                    <a:ext cx="4207" cy="434"/>
                  </a:xfrm>
                  <a:prstGeom prst="rect">
                    <a:avLst/>
                  </a:prstGeom>
                  <a:noFill/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zh-CN" altLang="en-US" sz="1200">
                        <a:latin typeface="宋体" charset="0"/>
                        <a:ea typeface="宋体" charset="0"/>
                      </a:rPr>
                      <a:t>迁移学习</a:t>
                    </a:r>
                    <a:endParaRPr lang="zh-CN" altLang="en-US" sz="1200">
                      <a:latin typeface="宋体" charset="0"/>
                      <a:ea typeface="宋体" charset="0"/>
                    </a:endParaRPr>
                  </a:p>
                </p:txBody>
              </p:sp>
            </p:grpSp>
            <p:sp>
              <p:nvSpPr>
                <p:cNvPr id="30" name="矩形 29"/>
                <p:cNvSpPr/>
                <p:nvPr/>
              </p:nvSpPr>
              <p:spPr>
                <a:xfrm>
                  <a:off x="8488" y="3676"/>
                  <a:ext cx="1588" cy="55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200">
                      <a:latin typeface="Times New Roman Regular" panose="02020503050405090304" charset="0"/>
                      <a:ea typeface="宋体" charset="0"/>
                      <a:cs typeface="Times New Roman Regular" panose="02020503050405090304" charset="0"/>
                    </a:rPr>
                    <a:t>适配器</a:t>
                  </a:r>
                  <a:endPara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endParaRPr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>
                  <a:off x="10448" y="3673"/>
                  <a:ext cx="1588" cy="55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200">
                      <a:latin typeface="Times New Roman Regular" panose="02020503050405090304" charset="0"/>
                      <a:ea typeface="宋体" charset="0"/>
                      <a:cs typeface="Times New Roman Regular" panose="02020503050405090304" charset="0"/>
                    </a:rPr>
                    <a:t>参数微调</a:t>
                  </a:r>
                  <a:endPara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endParaRPr>
                </a:p>
              </p:txBody>
            </p:sp>
          </p:grpSp>
          <p:cxnSp>
            <p:nvCxnSpPr>
              <p:cNvPr id="34" name="直接箭头连接符 33"/>
              <p:cNvCxnSpPr/>
              <p:nvPr/>
            </p:nvCxnSpPr>
            <p:spPr>
              <a:xfrm flipH="1">
                <a:off x="7888" y="4630"/>
                <a:ext cx="17" cy="37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pSp>
            <p:nvGrpSpPr>
              <p:cNvPr id="36" name="组合 35"/>
              <p:cNvGrpSpPr/>
              <p:nvPr/>
            </p:nvGrpSpPr>
            <p:grpSpPr>
              <a:xfrm rot="0">
                <a:off x="3123" y="4981"/>
                <a:ext cx="9528" cy="2628"/>
                <a:chOff x="5005" y="2182"/>
                <a:chExt cx="9528" cy="3300"/>
              </a:xfr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37" name="矩形 36"/>
                <p:cNvSpPr/>
                <p:nvPr/>
              </p:nvSpPr>
              <p:spPr>
                <a:xfrm>
                  <a:off x="5005" y="2182"/>
                  <a:ext cx="9528" cy="3300"/>
                </a:xfrm>
                <a:prstGeom prst="rect">
                  <a:avLst/>
                </a:prstGeom>
                <a:ln w="12700" cap="flat" cmpd="sng" algn="ctr">
                  <a:solidFill>
                    <a:schemeClr val="tx1"/>
                  </a:solidFill>
                  <a:prstDash val="dash"/>
                  <a:miter lim="800000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38" name="文本框 37"/>
                <p:cNvSpPr txBox="1"/>
                <p:nvPr/>
              </p:nvSpPr>
              <p:spPr>
                <a:xfrm>
                  <a:off x="6569" y="2225"/>
                  <a:ext cx="6400" cy="5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zh-CN" altLang="en-US" sz="1200">
                      <a:latin typeface="宋体" charset="0"/>
                      <a:ea typeface="宋体" charset="0"/>
                    </a:rPr>
                    <a:t>根因分析增强的</a:t>
                  </a:r>
                  <a:r>
                    <a:rPr lang="zh-CN" altLang="en-US" sz="1200">
                      <a:latin typeface="宋体" charset="0"/>
                      <a:ea typeface="宋体" charset="0"/>
                    </a:rPr>
                    <a:t>时间序列异常检测</a:t>
                  </a:r>
                  <a:endParaRPr lang="zh-CN" altLang="en-US" sz="1200">
                    <a:latin typeface="宋体" charset="0"/>
                    <a:ea typeface="宋体" charset="0"/>
                  </a:endParaRPr>
                </a:p>
              </p:txBody>
            </p:sp>
          </p:grpSp>
          <p:grpSp>
            <p:nvGrpSpPr>
              <p:cNvPr id="56" name="组合 55"/>
              <p:cNvGrpSpPr/>
              <p:nvPr/>
            </p:nvGrpSpPr>
            <p:grpSpPr>
              <a:xfrm rot="0">
                <a:off x="3123" y="7944"/>
                <a:ext cx="9528" cy="1792"/>
                <a:chOff x="5005" y="2182"/>
                <a:chExt cx="9528" cy="2250"/>
              </a:xfrm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grpSpPr>
            <p:sp>
              <p:nvSpPr>
                <p:cNvPr id="57" name="矩形 56"/>
                <p:cNvSpPr/>
                <p:nvPr/>
              </p:nvSpPr>
              <p:spPr>
                <a:xfrm>
                  <a:off x="5005" y="2182"/>
                  <a:ext cx="9528" cy="2250"/>
                </a:xfrm>
                <a:prstGeom prst="rect">
                  <a:avLst/>
                </a:prstGeom>
                <a:ln w="12700" cap="flat" cmpd="sng" algn="ctr">
                  <a:solidFill>
                    <a:schemeClr val="tx1"/>
                  </a:solidFill>
                  <a:prstDash val="dash"/>
                  <a:miter lim="800000"/>
                </a:ln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58" name="文本框 57"/>
                <p:cNvSpPr txBox="1"/>
                <p:nvPr/>
              </p:nvSpPr>
              <p:spPr>
                <a:xfrm>
                  <a:off x="5005" y="2225"/>
                  <a:ext cx="9528" cy="54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p>
                  <a:pPr algn="ctr"/>
                  <a:r>
                    <a:rPr lang="zh-CN" altLang="en-US" sz="1200">
                      <a:latin typeface="宋体" charset="0"/>
                      <a:ea typeface="宋体" charset="0"/>
                    </a:rPr>
                    <a:t>实验</a:t>
                  </a:r>
                  <a:r>
                    <a:rPr lang="zh-CN" altLang="en-US" sz="1200">
                      <a:latin typeface="宋体" charset="0"/>
                      <a:ea typeface="宋体" charset="0"/>
                    </a:rPr>
                    <a:t>设计</a:t>
                  </a:r>
                  <a:endParaRPr lang="zh-CN" altLang="en-US" sz="1200">
                    <a:latin typeface="宋体" charset="0"/>
                    <a:ea typeface="宋体" charset="0"/>
                  </a:endParaRPr>
                </a:p>
              </p:txBody>
            </p:sp>
          </p:grpSp>
          <p:cxnSp>
            <p:nvCxnSpPr>
              <p:cNvPr id="66" name="直接箭头连接符 65"/>
              <p:cNvCxnSpPr/>
              <p:nvPr/>
            </p:nvCxnSpPr>
            <p:spPr>
              <a:xfrm flipH="1">
                <a:off x="7889" y="7606"/>
                <a:ext cx="17" cy="37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69" name="矩形 68"/>
              <p:cNvSpPr/>
              <p:nvPr/>
            </p:nvSpPr>
            <p:spPr>
              <a:xfrm>
                <a:off x="9184" y="8388"/>
                <a:ext cx="1588" cy="55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对比</a:t>
                </a:r>
                <a:r>
                  <a: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实验</a:t>
                </a:r>
                <a:endParaRPr lang="zh-CN" altLang="en-US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endParaRPr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9184" y="9032"/>
                <a:ext cx="1588" cy="550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rPr>
                  <a:t>消融实验</a:t>
                </a:r>
                <a:endParaRPr lang="zh-CN" altLang="en-US" sz="1200">
                  <a:latin typeface="Times New Roman Regular" panose="02020503050405090304" charset="0"/>
                  <a:ea typeface="宋体" charset="0"/>
                  <a:cs typeface="Times New Roman Regular" panose="02020503050405090304" charset="0"/>
                </a:endParaRPr>
              </a:p>
            </p:txBody>
          </p:sp>
          <p:grpSp>
            <p:nvGrpSpPr>
              <p:cNvPr id="65" name="组合 64"/>
              <p:cNvGrpSpPr/>
              <p:nvPr/>
            </p:nvGrpSpPr>
            <p:grpSpPr>
              <a:xfrm>
                <a:off x="4795" y="8412"/>
                <a:ext cx="4252" cy="1170"/>
                <a:chOff x="560" y="7435"/>
                <a:chExt cx="4252" cy="1170"/>
              </a:xfrm>
            </p:grpSpPr>
            <p:grpSp>
              <p:nvGrpSpPr>
                <p:cNvPr id="55" name="组合 54"/>
                <p:cNvGrpSpPr/>
                <p:nvPr/>
              </p:nvGrpSpPr>
              <p:grpSpPr>
                <a:xfrm rot="0">
                  <a:off x="560" y="7435"/>
                  <a:ext cx="4252" cy="1170"/>
                  <a:chOff x="3783" y="3465"/>
                  <a:chExt cx="4252" cy="1170"/>
                </a:xfrm>
              </p:grpSpPr>
              <p:sp>
                <p:nvSpPr>
                  <p:cNvPr id="59" name="矩形 58"/>
                  <p:cNvSpPr/>
                  <p:nvPr/>
                </p:nvSpPr>
                <p:spPr>
                  <a:xfrm>
                    <a:off x="3783" y="3465"/>
                    <a:ext cx="4252" cy="1170"/>
                  </a:xfrm>
                  <a:prstGeom prst="rect">
                    <a:avLst/>
                  </a:prstGeom>
                  <a:ln w="12700" cap="flat" cmpd="sng" algn="ctr">
                    <a:solidFill>
                      <a:schemeClr val="tx1"/>
                    </a:solidFill>
                    <a:prstDash val="sysDot"/>
                    <a:miter lim="800000"/>
                  </a:ln>
                </p:spPr>
                <p:style>
                  <a:lnRef idx="0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0" name="文本框 59"/>
                  <p:cNvSpPr txBox="1"/>
                  <p:nvPr/>
                </p:nvSpPr>
                <p:spPr>
                  <a:xfrm>
                    <a:off x="3809" y="3480"/>
                    <a:ext cx="4226" cy="454"/>
                  </a:xfrm>
                  <a:prstGeom prst="rect">
                    <a:avLst/>
                  </a:prstGeom>
                  <a:noFill/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zh-CN" altLang="en-US" sz="1200">
                        <a:latin typeface="宋体" charset="0"/>
                        <a:ea typeface="宋体" charset="0"/>
                      </a:rPr>
                      <a:t>评估指标</a:t>
                    </a:r>
                    <a:endParaRPr lang="zh-CN" altLang="en-US" sz="1200">
                      <a:latin typeface="宋体" charset="0"/>
                      <a:ea typeface="宋体" charset="0"/>
                    </a:endParaRPr>
                  </a:p>
                </p:txBody>
              </p:sp>
            </p:grpSp>
            <p:sp>
              <p:nvSpPr>
                <p:cNvPr id="61" name="矩形 60"/>
                <p:cNvSpPr/>
                <p:nvPr/>
              </p:nvSpPr>
              <p:spPr>
                <a:xfrm>
                  <a:off x="776" y="7905"/>
                  <a:ext cx="989" cy="55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latin typeface="Times New Roman Regular" panose="02020503050405090304" charset="0"/>
                      <a:ea typeface="宋体" charset="0"/>
                      <a:cs typeface="Times New Roman Regular" panose="02020503050405090304" charset="0"/>
                    </a:rPr>
                    <a:t>Recall</a:t>
                  </a:r>
                  <a:endPara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endParaRPr>
                </a:p>
              </p:txBody>
            </p:sp>
            <p:sp>
              <p:nvSpPr>
                <p:cNvPr id="63" name="矩形 62"/>
                <p:cNvSpPr/>
                <p:nvPr/>
              </p:nvSpPr>
              <p:spPr>
                <a:xfrm>
                  <a:off x="1965" y="7905"/>
                  <a:ext cx="1294" cy="55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latin typeface="Times New Roman Regular" panose="02020503050405090304" charset="0"/>
                      <a:ea typeface="宋体" charset="0"/>
                      <a:cs typeface="Times New Roman Regular" panose="02020503050405090304" charset="0"/>
                    </a:rPr>
                    <a:t>Precision</a:t>
                  </a:r>
                  <a:endPara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endParaRPr>
                </a:p>
              </p:txBody>
            </p:sp>
            <p:sp>
              <p:nvSpPr>
                <p:cNvPr id="64" name="矩形 63"/>
                <p:cNvSpPr/>
                <p:nvPr/>
              </p:nvSpPr>
              <p:spPr>
                <a:xfrm>
                  <a:off x="3485" y="7905"/>
                  <a:ext cx="1182" cy="55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r>
                    <a:rPr lang="en-US" altLang="zh-CN" sz="1200">
                      <a:latin typeface="Times New Roman Regular" panose="02020503050405090304" charset="0"/>
                      <a:ea typeface="宋体" charset="0"/>
                      <a:cs typeface="Times New Roman Regular" panose="02020503050405090304" charset="0"/>
                    </a:rPr>
                    <a:t>F1-score</a:t>
                  </a:r>
                  <a:endParaRPr lang="en-US" altLang="zh-CN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endParaRPr>
                </a:p>
              </p:txBody>
            </p:sp>
          </p:grpSp>
          <p:grpSp>
            <p:nvGrpSpPr>
              <p:cNvPr id="4" name="组合 3"/>
              <p:cNvGrpSpPr/>
              <p:nvPr/>
            </p:nvGrpSpPr>
            <p:grpSpPr>
              <a:xfrm>
                <a:off x="3413" y="5525"/>
                <a:ext cx="2835" cy="1309"/>
                <a:chOff x="3413" y="5430"/>
                <a:chExt cx="2835" cy="1986"/>
              </a:xfrm>
            </p:grpSpPr>
            <p:grpSp>
              <p:nvGrpSpPr>
                <p:cNvPr id="96" name="组合 95"/>
                <p:cNvGrpSpPr/>
                <p:nvPr/>
              </p:nvGrpSpPr>
              <p:grpSpPr>
                <a:xfrm rot="0">
                  <a:off x="3413" y="5430"/>
                  <a:ext cx="2835" cy="1986"/>
                  <a:chOff x="3783" y="3465"/>
                  <a:chExt cx="2963" cy="1872"/>
                </a:xfrm>
              </p:grpSpPr>
              <p:sp>
                <p:nvSpPr>
                  <p:cNvPr id="97" name="矩形 96"/>
                  <p:cNvSpPr/>
                  <p:nvPr/>
                </p:nvSpPr>
                <p:spPr>
                  <a:xfrm>
                    <a:off x="3783" y="3465"/>
                    <a:ext cx="2963" cy="1872"/>
                  </a:xfrm>
                  <a:prstGeom prst="rect">
                    <a:avLst/>
                  </a:prstGeom>
                  <a:ln w="12700" cap="flat" cmpd="sng" algn="ctr">
                    <a:solidFill>
                      <a:schemeClr val="tx1"/>
                    </a:solidFill>
                    <a:prstDash val="sysDot"/>
                    <a:miter lim="800000"/>
                  </a:ln>
                </p:spPr>
                <p:style>
                  <a:lnRef idx="0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8" name="文本框 97"/>
                  <p:cNvSpPr txBox="1"/>
                  <p:nvPr/>
                </p:nvSpPr>
                <p:spPr>
                  <a:xfrm>
                    <a:off x="3809" y="3479"/>
                    <a:ext cx="2912" cy="672"/>
                  </a:xfrm>
                  <a:prstGeom prst="rect">
                    <a:avLst/>
                  </a:prstGeom>
                  <a:noFill/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zh-CN" altLang="en-US" sz="1200">
                        <a:latin typeface="宋体" charset="0"/>
                        <a:ea typeface="宋体" charset="0"/>
                      </a:rPr>
                      <a:t>输入层</a:t>
                    </a:r>
                    <a:r>
                      <a:rPr lang="en-US" altLang="zh-CN" sz="1200">
                        <a:latin typeface="宋体" charset="0"/>
                        <a:ea typeface="宋体" charset="0"/>
                      </a:rPr>
                      <a:t> - </a:t>
                    </a:r>
                    <a:r>
                      <a:rPr lang="zh-CN" altLang="en-US" sz="1200">
                        <a:latin typeface="宋体" charset="0"/>
                        <a:ea typeface="宋体" charset="0"/>
                      </a:rPr>
                      <a:t>特征重</a:t>
                    </a:r>
                    <a:r>
                      <a:rPr lang="zh-CN" altLang="en-US" sz="1200">
                        <a:latin typeface="宋体" charset="0"/>
                        <a:ea typeface="宋体" charset="0"/>
                      </a:rPr>
                      <a:t>标定</a:t>
                    </a:r>
                    <a:endParaRPr lang="zh-CN" altLang="en-US" sz="1200">
                      <a:latin typeface="宋体" charset="0"/>
                      <a:ea typeface="宋体" charset="0"/>
                    </a:endParaRPr>
                  </a:p>
                </p:txBody>
              </p:sp>
            </p:grpSp>
            <p:sp>
              <p:nvSpPr>
                <p:cNvPr id="99" name="矩形 98"/>
                <p:cNvSpPr/>
                <p:nvPr/>
              </p:nvSpPr>
              <p:spPr>
                <a:xfrm>
                  <a:off x="3843" y="6307"/>
                  <a:ext cx="2000" cy="889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200">
                      <a:latin typeface="Times New Roman Regular" panose="02020503050405090304" charset="0"/>
                      <a:ea typeface="宋体" charset="0"/>
                      <a:cs typeface="Times New Roman Regular" panose="02020503050405090304" charset="0"/>
                    </a:rPr>
                    <a:t>通道注意力机制</a:t>
                  </a:r>
                  <a:endPara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endParaRPr>
                </a:p>
              </p:txBody>
            </p:sp>
          </p:grpSp>
          <p:sp>
            <p:nvSpPr>
              <p:cNvPr id="100" name="矩形 99"/>
              <p:cNvSpPr/>
              <p:nvPr/>
            </p:nvSpPr>
            <p:spPr>
              <a:xfrm>
                <a:off x="5494" y="6909"/>
                <a:ext cx="2000" cy="586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 Regular" panose="02020503050405090304" charset="0"/>
                    <a:ea typeface="宋体" charset="0"/>
                  </a:rPr>
                  <a:t>先验</a:t>
                </a:r>
                <a:r>
                  <a:rPr lang="zh-CN" altLang="en-US" sz="1200">
                    <a:latin typeface="Times New Roman Regular" panose="02020503050405090304" charset="0"/>
                    <a:ea typeface="宋体" charset="0"/>
                  </a:rPr>
                  <a:t>信息注入</a:t>
                </a:r>
                <a:endParaRPr lang="zh-CN" altLang="en-US" sz="1200">
                  <a:latin typeface="Times New Roman Regular" panose="02020503050405090304" charset="0"/>
                  <a:ea typeface="宋体" charset="0"/>
                </a:endParaRPr>
              </a:p>
            </p:txBody>
          </p:sp>
          <p:grpSp>
            <p:nvGrpSpPr>
              <p:cNvPr id="13" name="组合 12"/>
              <p:cNvGrpSpPr/>
              <p:nvPr/>
            </p:nvGrpSpPr>
            <p:grpSpPr>
              <a:xfrm>
                <a:off x="6486" y="5514"/>
                <a:ext cx="2835" cy="1321"/>
                <a:chOff x="6486" y="5433"/>
                <a:chExt cx="2835" cy="1986"/>
              </a:xfrm>
            </p:grpSpPr>
            <p:grpSp>
              <p:nvGrpSpPr>
                <p:cNvPr id="110" name="组合 109"/>
                <p:cNvGrpSpPr/>
                <p:nvPr/>
              </p:nvGrpSpPr>
              <p:grpSpPr>
                <a:xfrm rot="0">
                  <a:off x="6486" y="5433"/>
                  <a:ext cx="2835" cy="1986"/>
                  <a:chOff x="3783" y="3465"/>
                  <a:chExt cx="2963" cy="1872"/>
                </a:xfrm>
              </p:grpSpPr>
              <p:sp>
                <p:nvSpPr>
                  <p:cNvPr id="111" name="矩形 110"/>
                  <p:cNvSpPr/>
                  <p:nvPr/>
                </p:nvSpPr>
                <p:spPr>
                  <a:xfrm>
                    <a:off x="3783" y="3465"/>
                    <a:ext cx="2963" cy="1872"/>
                  </a:xfrm>
                  <a:prstGeom prst="rect">
                    <a:avLst/>
                  </a:prstGeom>
                  <a:ln w="12700" cap="flat" cmpd="sng" algn="ctr">
                    <a:solidFill>
                      <a:schemeClr val="tx1"/>
                    </a:solidFill>
                    <a:prstDash val="sysDot"/>
                    <a:miter lim="800000"/>
                  </a:ln>
                </p:spPr>
                <p:style>
                  <a:lnRef idx="0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2" name="文本框 111"/>
                  <p:cNvSpPr txBox="1"/>
                  <p:nvPr/>
                </p:nvSpPr>
                <p:spPr>
                  <a:xfrm>
                    <a:off x="3809" y="3481"/>
                    <a:ext cx="2912" cy="666"/>
                  </a:xfrm>
                  <a:prstGeom prst="rect">
                    <a:avLst/>
                  </a:prstGeom>
                  <a:noFill/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zh-CN" altLang="en-US" sz="1200">
                        <a:latin typeface="宋体" charset="0"/>
                        <a:ea typeface="宋体" charset="0"/>
                      </a:rPr>
                      <a:t>隐藏层</a:t>
                    </a:r>
                    <a:r>
                      <a:rPr lang="en-US" altLang="zh-CN" sz="1200">
                        <a:latin typeface="宋体" charset="0"/>
                        <a:ea typeface="宋体" charset="0"/>
                      </a:rPr>
                      <a:t> - </a:t>
                    </a:r>
                    <a:r>
                      <a:rPr lang="zh-CN" altLang="en-US" sz="1200">
                        <a:latin typeface="宋体" charset="0"/>
                        <a:ea typeface="宋体" charset="0"/>
                      </a:rPr>
                      <a:t>特征</a:t>
                    </a:r>
                    <a:r>
                      <a:rPr lang="zh-CN" altLang="en-US" sz="1200">
                        <a:latin typeface="宋体" charset="0"/>
                        <a:ea typeface="宋体" charset="0"/>
                      </a:rPr>
                      <a:t>融合</a:t>
                    </a:r>
                    <a:endParaRPr lang="zh-CN" altLang="en-US" sz="1200">
                      <a:latin typeface="宋体" charset="0"/>
                      <a:ea typeface="宋体" charset="0"/>
                    </a:endParaRPr>
                  </a:p>
                </p:txBody>
              </p:sp>
            </p:grpSp>
            <p:sp>
              <p:nvSpPr>
                <p:cNvPr id="113" name="矩形 112"/>
                <p:cNvSpPr/>
                <p:nvPr/>
              </p:nvSpPr>
              <p:spPr>
                <a:xfrm>
                  <a:off x="6916" y="6319"/>
                  <a:ext cx="2000" cy="881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200">
                      <a:latin typeface="Times New Roman Regular" panose="02020503050405090304" charset="0"/>
                      <a:ea typeface="宋体" charset="0"/>
                      <a:cs typeface="Times New Roman Regular" panose="02020503050405090304" charset="0"/>
                    </a:rPr>
                    <a:t>隐空间</a:t>
                  </a:r>
                  <a:r>
                    <a:rPr lang="zh-CN" altLang="en-US" sz="1200">
                      <a:latin typeface="Times New Roman Regular" panose="02020503050405090304" charset="0"/>
                      <a:ea typeface="宋体" charset="0"/>
                      <a:cs typeface="Times New Roman Regular" panose="02020503050405090304" charset="0"/>
                    </a:rPr>
                    <a:t>拼接</a:t>
                  </a:r>
                  <a:endPara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endParaRPr>
                </a:p>
              </p:txBody>
            </p:sp>
          </p:grpSp>
          <p:sp>
            <p:nvSpPr>
              <p:cNvPr id="114" name="矩形 113"/>
              <p:cNvSpPr/>
              <p:nvPr/>
            </p:nvSpPr>
            <p:spPr>
              <a:xfrm>
                <a:off x="8296" y="6909"/>
                <a:ext cx="2000" cy="586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 Regular" panose="02020503050405090304" charset="0"/>
                    <a:ea typeface="宋体" charset="0"/>
                  </a:rPr>
                  <a:t>模型训练</a:t>
                </a:r>
                <a:endParaRPr lang="zh-CN" altLang="en-US" sz="1200">
                  <a:latin typeface="Times New Roman Regular" panose="02020503050405090304" charset="0"/>
                  <a:ea typeface="宋体" charset="0"/>
                </a:endParaRPr>
              </a:p>
            </p:txBody>
          </p:sp>
          <p:grpSp>
            <p:nvGrpSpPr>
              <p:cNvPr id="116" name="组合 115"/>
              <p:cNvGrpSpPr/>
              <p:nvPr/>
            </p:nvGrpSpPr>
            <p:grpSpPr>
              <a:xfrm>
                <a:off x="9535" y="5513"/>
                <a:ext cx="2835" cy="1323"/>
                <a:chOff x="3465" y="3499"/>
                <a:chExt cx="2963" cy="1247"/>
              </a:xfrm>
            </p:grpSpPr>
            <p:grpSp>
              <p:nvGrpSpPr>
                <p:cNvPr id="117" name="组合 116"/>
                <p:cNvGrpSpPr/>
                <p:nvPr/>
              </p:nvGrpSpPr>
              <p:grpSpPr>
                <a:xfrm rot="0">
                  <a:off x="3465" y="3499"/>
                  <a:ext cx="2963" cy="1247"/>
                  <a:chOff x="3783" y="3753"/>
                  <a:chExt cx="2963" cy="1247"/>
                </a:xfrm>
              </p:grpSpPr>
              <p:sp>
                <p:nvSpPr>
                  <p:cNvPr id="118" name="矩形 117"/>
                  <p:cNvSpPr/>
                  <p:nvPr/>
                </p:nvSpPr>
                <p:spPr>
                  <a:xfrm>
                    <a:off x="3783" y="3753"/>
                    <a:ext cx="2963" cy="1247"/>
                  </a:xfrm>
                  <a:prstGeom prst="rect">
                    <a:avLst/>
                  </a:prstGeom>
                  <a:ln w="12700" cap="flat" cmpd="sng" algn="ctr">
                    <a:solidFill>
                      <a:schemeClr val="tx1"/>
                    </a:solidFill>
                    <a:prstDash val="sysDot"/>
                    <a:miter lim="800000"/>
                  </a:ln>
                </p:spPr>
                <p:style>
                  <a:lnRef idx="0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9" name="文本框 118"/>
                  <p:cNvSpPr txBox="1"/>
                  <p:nvPr/>
                </p:nvSpPr>
                <p:spPr>
                  <a:xfrm>
                    <a:off x="3809" y="3753"/>
                    <a:ext cx="2912" cy="454"/>
                  </a:xfrm>
                  <a:prstGeom prst="rect">
                    <a:avLst/>
                  </a:prstGeom>
                  <a:noFill/>
                  <a:effectLst>
                    <a:outerShdw blurRad="63500" sx="102000" sy="102000" algn="ctr" rotWithShape="0">
                      <a:prstClr val="black">
                        <a:alpha val="40000"/>
                      </a:prstClr>
                    </a:outerShdw>
                  </a:effectLst>
                </p:spPr>
                <p:txBody>
                  <a:bodyPr wrap="square" rtlCol="0">
                    <a:noAutofit/>
                  </a:bodyPr>
                  <a:p>
                    <a:pPr algn="ctr"/>
                    <a:r>
                      <a:rPr lang="zh-CN" altLang="en-US" sz="1200">
                        <a:latin typeface="宋体" charset="0"/>
                        <a:ea typeface="宋体" charset="0"/>
                      </a:rPr>
                      <a:t>输出层</a:t>
                    </a:r>
                    <a:r>
                      <a:rPr lang="en-US" altLang="zh-CN" sz="1200">
                        <a:latin typeface="宋体" charset="0"/>
                        <a:ea typeface="宋体" charset="0"/>
                      </a:rPr>
                      <a:t> - </a:t>
                    </a:r>
                    <a:r>
                      <a:rPr lang="zh-CN" altLang="en-US" sz="1200">
                        <a:latin typeface="宋体" charset="0"/>
                        <a:ea typeface="宋体" charset="0"/>
                      </a:rPr>
                      <a:t>动态决策</a:t>
                    </a:r>
                    <a:endParaRPr lang="zh-CN" altLang="en-US" sz="1200">
                      <a:latin typeface="宋体" charset="0"/>
                      <a:ea typeface="宋体" charset="0"/>
                    </a:endParaRPr>
                  </a:p>
                </p:txBody>
              </p:sp>
            </p:grpSp>
            <p:sp>
              <p:nvSpPr>
                <p:cNvPr id="120" name="矩形 119"/>
                <p:cNvSpPr/>
                <p:nvPr/>
              </p:nvSpPr>
              <p:spPr>
                <a:xfrm>
                  <a:off x="3914" y="4056"/>
                  <a:ext cx="2091" cy="552"/>
                </a:xfrm>
                <a:prstGeom prst="rec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1200">
                      <a:latin typeface="Times New Roman Regular" panose="02020503050405090304" charset="0"/>
                      <a:ea typeface="宋体" charset="0"/>
                      <a:cs typeface="Times New Roman Regular" panose="02020503050405090304" charset="0"/>
                    </a:rPr>
                    <a:t>自动</a:t>
                  </a:r>
                  <a:r>
                    <a:rPr lang="zh-CN" altLang="en-US" sz="1200">
                      <a:latin typeface="Times New Roman Regular" panose="02020503050405090304" charset="0"/>
                      <a:ea typeface="宋体" charset="0"/>
                      <a:cs typeface="Times New Roman Regular" panose="02020503050405090304" charset="0"/>
                    </a:rPr>
                    <a:t>调整阈值</a:t>
                  </a:r>
                  <a:endParaRPr lang="zh-CN" altLang="en-US" sz="1200">
                    <a:latin typeface="Times New Roman Regular" panose="02020503050405090304" charset="0"/>
                    <a:ea typeface="宋体" charset="0"/>
                    <a:cs typeface="Times New Roman Regular" panose="02020503050405090304" charset="0"/>
                  </a:endParaRPr>
                </a:p>
              </p:txBody>
            </p:sp>
          </p:grpSp>
          <p:cxnSp>
            <p:nvCxnSpPr>
              <p:cNvPr id="122" name="直接箭头连接符 121"/>
              <p:cNvCxnSpPr>
                <a:stCxn id="20" idx="3"/>
                <a:endCxn id="25" idx="1"/>
              </p:cNvCxnSpPr>
              <p:nvPr/>
            </p:nvCxnSpPr>
            <p:spPr>
              <a:xfrm>
                <a:off x="7717" y="3796"/>
                <a:ext cx="351" cy="1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4" name="直接箭头连接符 123"/>
              <p:cNvCxnSpPr/>
              <p:nvPr/>
            </p:nvCxnSpPr>
            <p:spPr>
              <a:xfrm flipV="1">
                <a:off x="6248" y="6175"/>
                <a:ext cx="238" cy="5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25" name="直接箭头连接符 124"/>
              <p:cNvCxnSpPr/>
              <p:nvPr/>
            </p:nvCxnSpPr>
            <p:spPr>
              <a:xfrm>
                <a:off x="9321" y="6175"/>
                <a:ext cx="214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arrow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77" name="矩形 76"/>
            <p:cNvSpPr/>
            <p:nvPr/>
          </p:nvSpPr>
          <p:spPr>
            <a:xfrm>
              <a:off x="12987" y="1008"/>
              <a:ext cx="2666" cy="8728"/>
            </a:xfrm>
            <a:prstGeom prst="rect">
              <a:avLst/>
            </a:prstGeom>
            <a:ln w="12700" cap="flat" cmpd="sng" algn="ctr">
              <a:solidFill>
                <a:schemeClr val="tx1"/>
              </a:solidFill>
              <a:prstDash val="dash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 rot="0">
              <a:off x="13234" y="7435"/>
              <a:ext cx="2169" cy="2068"/>
              <a:chOff x="13283" y="5191"/>
              <a:chExt cx="2618" cy="2068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13592" y="5743"/>
                <a:ext cx="2000" cy="55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宋体" charset="0"/>
                    <a:ea typeface="宋体" charset="0"/>
                  </a:rPr>
                  <a:t>对比</a:t>
                </a:r>
                <a:r>
                  <a:rPr lang="zh-CN" altLang="en-US" sz="1200">
                    <a:latin typeface="宋体" charset="0"/>
                    <a:ea typeface="宋体" charset="0"/>
                  </a:rPr>
                  <a:t>实验</a:t>
                </a:r>
                <a:endParaRPr lang="zh-CN" altLang="en-US" sz="1200">
                  <a:latin typeface="宋体" charset="0"/>
                  <a:ea typeface="宋体" charset="0"/>
                </a:endParaRPr>
              </a:p>
            </p:txBody>
          </p:sp>
          <p:sp>
            <p:nvSpPr>
              <p:cNvPr id="78" name="矩形 77"/>
              <p:cNvSpPr/>
              <p:nvPr/>
            </p:nvSpPr>
            <p:spPr>
              <a:xfrm>
                <a:off x="13283" y="5191"/>
                <a:ext cx="2619" cy="2068"/>
              </a:xfrm>
              <a:prstGeom prst="rect">
                <a:avLst/>
              </a:prstGeom>
              <a:ln w="12700" cap="flat" cmpd="sng" algn="ctr">
                <a:solidFill>
                  <a:schemeClr val="tx1"/>
                </a:solidFill>
                <a:prstDash val="sysDot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t" anchorCtr="0"/>
              <a:p>
                <a:pPr algn="ctr"/>
                <a:r>
                  <a:rPr lang="zh-CN" altLang="en-US" sz="1200">
                    <a:latin typeface="宋体" charset="0"/>
                    <a:ea typeface="宋体" charset="0"/>
                  </a:rPr>
                  <a:t>实验研究</a:t>
                </a:r>
                <a:endParaRPr lang="zh-CN" altLang="en-US" sz="1200">
                  <a:latin typeface="宋体" charset="0"/>
                  <a:ea typeface="宋体" charset="0"/>
                </a:endParaRPr>
              </a:p>
            </p:txBody>
          </p:sp>
          <p:sp>
            <p:nvSpPr>
              <p:cNvPr id="80" name="矩形 79"/>
              <p:cNvSpPr/>
              <p:nvPr/>
            </p:nvSpPr>
            <p:spPr>
              <a:xfrm>
                <a:off x="13592" y="6495"/>
                <a:ext cx="2000" cy="55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宋体" charset="0"/>
                    <a:ea typeface="宋体" charset="0"/>
                  </a:rPr>
                  <a:t>消融实验</a:t>
                </a:r>
                <a:endParaRPr lang="zh-CN" altLang="en-US" sz="1200">
                  <a:latin typeface="宋体" charset="0"/>
                  <a:ea typeface="宋体" charset="0"/>
                </a:endParaRPr>
              </a:p>
            </p:txBody>
          </p:sp>
        </p:grpSp>
        <p:sp>
          <p:nvSpPr>
            <p:cNvPr id="82" name="矩形 81"/>
            <p:cNvSpPr/>
            <p:nvPr/>
          </p:nvSpPr>
          <p:spPr>
            <a:xfrm>
              <a:off x="13232" y="3020"/>
              <a:ext cx="2170" cy="55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宋体" charset="0"/>
                  <a:ea typeface="宋体" charset="0"/>
                </a:rPr>
                <a:t>模型训练</a:t>
              </a:r>
              <a:endParaRPr lang="zh-CN" altLang="en-US" sz="1200">
                <a:latin typeface="宋体" charset="0"/>
                <a:ea typeface="宋体" charset="0"/>
              </a:endParaRPr>
            </a:p>
          </p:txBody>
        </p:sp>
        <p:sp>
          <p:nvSpPr>
            <p:cNvPr id="83" name="矩形 82"/>
            <p:cNvSpPr/>
            <p:nvPr/>
          </p:nvSpPr>
          <p:spPr>
            <a:xfrm>
              <a:off x="13232" y="3773"/>
              <a:ext cx="2170" cy="55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宋体" charset="0"/>
                  <a:ea typeface="宋体" charset="0"/>
                </a:rPr>
                <a:t>迁移学习</a:t>
              </a:r>
              <a:endParaRPr lang="zh-CN" altLang="en-US" sz="1200">
                <a:latin typeface="宋体" charset="0"/>
                <a:ea typeface="宋体" charset="0"/>
              </a:endParaRPr>
            </a:p>
          </p:txBody>
        </p:sp>
        <p:sp>
          <p:nvSpPr>
            <p:cNvPr id="127" name="矩形 126"/>
            <p:cNvSpPr/>
            <p:nvPr/>
          </p:nvSpPr>
          <p:spPr>
            <a:xfrm>
              <a:off x="13234" y="5215"/>
              <a:ext cx="2170" cy="55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宋体" charset="0"/>
                  <a:ea typeface="宋体" charset="0"/>
                </a:rPr>
                <a:t>通道注意力</a:t>
              </a:r>
              <a:r>
                <a:rPr lang="zh-CN" altLang="en-US" sz="1200">
                  <a:latin typeface="宋体" charset="0"/>
                  <a:ea typeface="宋体" charset="0"/>
                </a:rPr>
                <a:t>机制</a:t>
              </a:r>
              <a:endParaRPr lang="zh-CN" altLang="en-US" sz="1200">
                <a:latin typeface="宋体" charset="0"/>
                <a:ea typeface="宋体" charset="0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13234" y="5995"/>
              <a:ext cx="2170" cy="55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宋体" charset="0"/>
                  <a:ea typeface="宋体" charset="0"/>
                </a:rPr>
                <a:t>特征</a:t>
              </a:r>
              <a:r>
                <a:rPr lang="zh-CN" altLang="en-US" sz="1200">
                  <a:latin typeface="宋体" charset="0"/>
                  <a:ea typeface="宋体" charset="0"/>
                </a:rPr>
                <a:t>融合</a:t>
              </a:r>
              <a:endParaRPr lang="zh-CN" altLang="en-US" sz="1200">
                <a:latin typeface="宋体" charset="0"/>
                <a:ea typeface="宋体" charset="0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594" y="117"/>
              <a:ext cx="2619" cy="55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宋体" charset="0"/>
                  <a:ea typeface="宋体" charset="0"/>
                </a:rPr>
                <a:t>文献梳理与问题提出</a:t>
              </a:r>
              <a:endParaRPr lang="zh-CN" altLang="en-US" sz="1200">
                <a:latin typeface="宋体" charset="0"/>
                <a:ea typeface="宋体" charset="0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725" y="1580"/>
              <a:ext cx="8288" cy="552"/>
              <a:chOff x="5607" y="2697"/>
              <a:chExt cx="8288" cy="552"/>
            </a:xfrm>
          </p:grpSpPr>
          <p:sp>
            <p:nvSpPr>
              <p:cNvPr id="9" name="矩形 8"/>
              <p:cNvSpPr/>
              <p:nvPr/>
            </p:nvSpPr>
            <p:spPr>
              <a:xfrm>
                <a:off x="8476" y="2697"/>
                <a:ext cx="2551" cy="55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宋体" charset="0"/>
                    <a:ea typeface="宋体" charset="0"/>
                  </a:rPr>
                  <a:t>时间序列</a:t>
                </a:r>
                <a:r>
                  <a:rPr lang="zh-CN" altLang="en-US" sz="1200">
                    <a:latin typeface="宋体" charset="0"/>
                    <a:ea typeface="宋体" charset="0"/>
                  </a:rPr>
                  <a:t>异常检测</a:t>
                </a:r>
                <a:endParaRPr lang="zh-CN" altLang="en-US" sz="1200">
                  <a:latin typeface="宋体" charset="0"/>
                  <a:ea typeface="宋体" charset="0"/>
                </a:endParaRPr>
              </a:p>
            </p:txBody>
          </p:sp>
          <p:sp>
            <p:nvSpPr>
              <p:cNvPr id="10" name="矩形 9"/>
              <p:cNvSpPr/>
              <p:nvPr/>
            </p:nvSpPr>
            <p:spPr>
              <a:xfrm>
                <a:off x="11345" y="2697"/>
                <a:ext cx="2551" cy="55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宋体" charset="0"/>
                    <a:ea typeface="宋体" charset="0"/>
                  </a:rPr>
                  <a:t>根因分析</a:t>
                </a:r>
                <a:endParaRPr lang="zh-CN" altLang="en-US" sz="1200">
                  <a:latin typeface="宋体" charset="0"/>
                  <a:ea typeface="宋体" charset="0"/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5607" y="2697"/>
                <a:ext cx="2551" cy="552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宋体" charset="0"/>
                    <a:ea typeface="宋体" charset="0"/>
                  </a:rPr>
                  <a:t>深度</a:t>
                </a:r>
                <a:r>
                  <a:rPr lang="zh-CN" altLang="en-US" sz="1200">
                    <a:latin typeface="宋体" charset="0"/>
                    <a:ea typeface="宋体" charset="0"/>
                  </a:rPr>
                  <a:t>神经网络</a:t>
                </a:r>
                <a:endParaRPr lang="zh-CN" altLang="en-US" sz="1200">
                  <a:latin typeface="宋体" charset="0"/>
                  <a:ea typeface="宋体" charset="0"/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>
              <a:off x="3123" y="1008"/>
              <a:ext cx="9528" cy="1322"/>
              <a:chOff x="5005" y="2182"/>
              <a:chExt cx="9528" cy="1660"/>
            </a:xfrm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grpSpPr>
          <p:sp>
            <p:nvSpPr>
              <p:cNvPr id="21" name="矩形 20"/>
              <p:cNvSpPr/>
              <p:nvPr/>
            </p:nvSpPr>
            <p:spPr>
              <a:xfrm>
                <a:off x="5005" y="2182"/>
                <a:ext cx="9528" cy="1660"/>
              </a:xfrm>
              <a:prstGeom prst="rect">
                <a:avLst/>
              </a:prstGeom>
              <a:ln w="12700" cap="flat" cmpd="sng" algn="ctr">
                <a:solidFill>
                  <a:schemeClr val="tx1"/>
                </a:solidFill>
                <a:prstDash val="dash"/>
                <a:miter lim="800000"/>
              </a:ln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6569" y="2225"/>
                <a:ext cx="6400" cy="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sz="1200">
                    <a:latin typeface="宋体" charset="0"/>
                    <a:ea typeface="宋体" charset="0"/>
                  </a:rPr>
                  <a:t>方法和</a:t>
                </a:r>
                <a:r>
                  <a:rPr lang="zh-CN" altLang="en-US" sz="1200">
                    <a:latin typeface="宋体" charset="0"/>
                    <a:ea typeface="宋体" charset="0"/>
                  </a:rPr>
                  <a:t>理论基础</a:t>
                </a:r>
                <a:endParaRPr lang="zh-CN" altLang="en-US" sz="1200">
                  <a:latin typeface="宋体" charset="0"/>
                  <a:ea typeface="宋体" charset="0"/>
                </a:endParaRPr>
              </a:p>
            </p:txBody>
          </p:sp>
        </p:grpSp>
        <p:cxnSp>
          <p:nvCxnSpPr>
            <p:cNvPr id="28" name="直接箭头连接符 27"/>
            <p:cNvCxnSpPr>
              <a:stCxn id="8" idx="2"/>
            </p:cNvCxnSpPr>
            <p:nvPr/>
          </p:nvCxnSpPr>
          <p:spPr>
            <a:xfrm flipH="1">
              <a:off x="7887" y="669"/>
              <a:ext cx="17" cy="37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/>
            <p:nvPr/>
          </p:nvCxnSpPr>
          <p:spPr>
            <a:xfrm flipH="1">
              <a:off x="7887" y="2332"/>
              <a:ext cx="17" cy="37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35" name="矩形 34"/>
            <p:cNvSpPr/>
            <p:nvPr/>
          </p:nvSpPr>
          <p:spPr>
            <a:xfrm>
              <a:off x="13232" y="1192"/>
              <a:ext cx="2170" cy="55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宋体" charset="0"/>
                  <a:ea typeface="宋体" charset="0"/>
                </a:rPr>
                <a:t>文献</a:t>
              </a:r>
              <a:r>
                <a:rPr lang="zh-CN" altLang="en-US" sz="1200">
                  <a:latin typeface="宋体" charset="0"/>
                  <a:ea typeface="宋体" charset="0"/>
                </a:rPr>
                <a:t>调研</a:t>
              </a:r>
              <a:endParaRPr lang="zh-CN" altLang="en-US" sz="1200">
                <a:latin typeface="宋体" charset="0"/>
                <a:ea typeface="宋体" charset="0"/>
              </a:endParaRPr>
            </a:p>
          </p:txBody>
        </p:sp>
        <p:sp>
          <p:nvSpPr>
            <p:cNvPr id="73" name="矩形 72"/>
            <p:cNvSpPr/>
            <p:nvPr/>
          </p:nvSpPr>
          <p:spPr>
            <a:xfrm>
              <a:off x="6594" y="10110"/>
              <a:ext cx="2619" cy="55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r>
                <a:rPr lang="zh-CN" altLang="en-US" sz="1200">
                  <a:latin typeface="宋体" charset="0"/>
                  <a:ea typeface="宋体" charset="0"/>
                </a:rPr>
                <a:t>总结与</a:t>
              </a:r>
              <a:r>
                <a:rPr lang="zh-CN" altLang="en-US" sz="1200">
                  <a:latin typeface="宋体" charset="0"/>
                  <a:ea typeface="宋体" charset="0"/>
                </a:rPr>
                <a:t>展望</a:t>
              </a:r>
              <a:endParaRPr lang="zh-CN" altLang="en-US" sz="1200">
                <a:latin typeface="宋体" charset="0"/>
                <a:ea typeface="宋体" charset="0"/>
              </a:endParaRPr>
            </a:p>
          </p:txBody>
        </p:sp>
        <p:cxnSp>
          <p:nvCxnSpPr>
            <p:cNvPr id="74" name="直接箭头连接符 73"/>
            <p:cNvCxnSpPr/>
            <p:nvPr/>
          </p:nvCxnSpPr>
          <p:spPr>
            <a:xfrm flipH="1">
              <a:off x="7889" y="9737"/>
              <a:ext cx="17" cy="37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37" name="矩形 236"/>
          <p:cNvSpPr/>
          <p:nvPr/>
        </p:nvSpPr>
        <p:spPr>
          <a:xfrm>
            <a:off x="964565" y="0"/>
            <a:ext cx="9511030" cy="6857365"/>
          </a:xfrm>
          <a:prstGeom prst="rect">
            <a:avLst/>
          </a:prstGeom>
          <a:solidFill>
            <a:schemeClr val="accent4">
              <a:lumMod val="50000"/>
              <a:alpha val="10000"/>
            </a:schemeClr>
          </a:solidFill>
          <a:ln w="12700" cap="flat" cmpd="sng" algn="ctr">
            <a:solidFill>
              <a:schemeClr val="accent4">
                <a:lumMod val="50000"/>
              </a:schemeClr>
            </a:solidFill>
            <a:prstDash val="dash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2" name="组合 21"/>
          <p:cNvGrpSpPr/>
          <p:nvPr/>
        </p:nvGrpSpPr>
        <p:grpSpPr>
          <a:xfrm>
            <a:off x="2338070" y="2062480"/>
            <a:ext cx="5114290" cy="2599690"/>
            <a:chOff x="3682" y="3248"/>
            <a:chExt cx="8054" cy="4094"/>
          </a:xfrm>
        </p:grpSpPr>
        <p:grpSp>
          <p:nvGrpSpPr>
            <p:cNvPr id="11" name="组合 10"/>
            <p:cNvGrpSpPr/>
            <p:nvPr/>
          </p:nvGrpSpPr>
          <p:grpSpPr>
            <a:xfrm>
              <a:off x="3682" y="3248"/>
              <a:ext cx="8054" cy="1197"/>
              <a:chOff x="3682" y="3248"/>
              <a:chExt cx="8054" cy="1197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3682" y="3248"/>
                <a:ext cx="8054" cy="55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微服务系统场景</a:t>
                </a:r>
                <a:endParaRPr lang="zh-CN" altLang="en-US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6400" y="3893"/>
                <a:ext cx="2619" cy="55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商品交易系统</a:t>
                </a:r>
                <a:r>
                  <a:rPr lang="en-US" altLang="zh-CN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 SS</a:t>
                </a:r>
                <a:endParaRPr lang="en-US" altLang="zh-CN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3682" y="3893"/>
                <a:ext cx="2619" cy="55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电商应用</a:t>
                </a:r>
                <a:r>
                  <a:rPr lang="en-US" altLang="zh-CN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 OB</a:t>
                </a:r>
                <a:endParaRPr lang="en-US" altLang="zh-CN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  <p:sp>
            <p:nvSpPr>
              <p:cNvPr id="8" name="矩形 7"/>
              <p:cNvSpPr/>
              <p:nvPr/>
            </p:nvSpPr>
            <p:spPr>
              <a:xfrm>
                <a:off x="9118" y="3893"/>
                <a:ext cx="2619" cy="55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火车票预订系统</a:t>
                </a:r>
                <a:r>
                  <a:rPr lang="en-US" altLang="zh-CN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 TT</a:t>
                </a:r>
                <a:endParaRPr lang="en-US" altLang="zh-CN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3682" y="4690"/>
              <a:ext cx="8054" cy="1197"/>
              <a:chOff x="3682" y="3248"/>
              <a:chExt cx="8054" cy="1197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3682" y="3248"/>
                <a:ext cx="8054" cy="55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异常类型</a:t>
                </a:r>
                <a:endParaRPr lang="zh-CN" altLang="en-US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  <p:sp>
            <p:nvSpPr>
              <p:cNvPr id="14" name="矩形 13"/>
              <p:cNvSpPr/>
              <p:nvPr/>
            </p:nvSpPr>
            <p:spPr>
              <a:xfrm>
                <a:off x="6400" y="3893"/>
                <a:ext cx="2619" cy="55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网络异常</a:t>
                </a:r>
                <a:endParaRPr lang="zh-CN" altLang="en-US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  <p:sp>
            <p:nvSpPr>
              <p:cNvPr id="15" name="矩形 14"/>
              <p:cNvSpPr/>
              <p:nvPr/>
            </p:nvSpPr>
            <p:spPr>
              <a:xfrm>
                <a:off x="3682" y="3893"/>
                <a:ext cx="2619" cy="55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计算资源异常</a:t>
                </a:r>
                <a:endParaRPr lang="zh-CN" altLang="en-US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9118" y="3893"/>
                <a:ext cx="2619" cy="55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代码级异常</a:t>
                </a:r>
                <a:endParaRPr lang="zh-CN" altLang="en-US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</p:grpSp>
        <p:grpSp>
          <p:nvGrpSpPr>
            <p:cNvPr id="17" name="组合 16"/>
            <p:cNvGrpSpPr/>
            <p:nvPr/>
          </p:nvGrpSpPr>
          <p:grpSpPr>
            <a:xfrm>
              <a:off x="3682" y="6146"/>
              <a:ext cx="8054" cy="1197"/>
              <a:chOff x="3682" y="3248"/>
              <a:chExt cx="8054" cy="1197"/>
            </a:xfrm>
          </p:grpSpPr>
          <p:sp>
            <p:nvSpPr>
              <p:cNvPr id="18" name="矩形 17"/>
              <p:cNvSpPr/>
              <p:nvPr/>
            </p:nvSpPr>
            <p:spPr>
              <a:xfrm>
                <a:off x="3682" y="3248"/>
                <a:ext cx="8054" cy="5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数据模态</a:t>
                </a:r>
                <a:endParaRPr lang="zh-CN" altLang="en-US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  <p:sp>
            <p:nvSpPr>
              <p:cNvPr id="19" name="矩形 18"/>
              <p:cNvSpPr/>
              <p:nvPr/>
            </p:nvSpPr>
            <p:spPr>
              <a:xfrm>
                <a:off x="6400" y="3893"/>
                <a:ext cx="2619" cy="5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日志</a:t>
                </a:r>
                <a:r>
                  <a:rPr lang="en-US" altLang="zh-CN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 Logs</a:t>
                </a:r>
                <a:endParaRPr lang="en-US" altLang="zh-CN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  <p:sp>
            <p:nvSpPr>
              <p:cNvPr id="20" name="矩形 19"/>
              <p:cNvSpPr/>
              <p:nvPr/>
            </p:nvSpPr>
            <p:spPr>
              <a:xfrm>
                <a:off x="3682" y="3893"/>
                <a:ext cx="2619" cy="5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时间序列</a:t>
                </a:r>
                <a:r>
                  <a:rPr lang="en-US" altLang="zh-CN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 Metrics</a:t>
                </a:r>
                <a:endParaRPr lang="en-US" altLang="zh-CN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9118" y="3893"/>
                <a:ext cx="2619" cy="55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  <p:txBody>
              <a:bodyPr rtlCol="0" anchor="ctr"/>
              <a:p>
                <a:pPr algn="ctr"/>
                <a:r>
                  <a:rPr lang="zh-CN" altLang="en-US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调用链</a:t>
                </a:r>
                <a:r>
                  <a:rPr lang="en-US" altLang="zh-CN" sz="1200">
                    <a:latin typeface="Times New Roman" panose="02020503050405090304" charset="0"/>
                    <a:ea typeface="宋体" charset="0"/>
                    <a:cs typeface="Times New Roman" panose="02020503050405090304" charset="0"/>
                  </a:rPr>
                  <a:t> Traces</a:t>
                </a:r>
                <a:endParaRPr lang="en-US" altLang="zh-CN" sz="1200">
                  <a:latin typeface="Times New Roman" panose="02020503050405090304" charset="0"/>
                  <a:ea typeface="宋体" charset="0"/>
                  <a:cs typeface="Times New Roman" panose="02020503050405090304" charset="0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82" name="组合 81"/>
          <p:cNvGrpSpPr/>
          <p:nvPr/>
        </p:nvGrpSpPr>
        <p:grpSpPr>
          <a:xfrm>
            <a:off x="6182995" y="2827655"/>
            <a:ext cx="894080" cy="828040"/>
            <a:chOff x="9737" y="4453"/>
            <a:chExt cx="1408" cy="1304"/>
          </a:xfrm>
        </p:grpSpPr>
        <p:sp>
          <p:nvSpPr>
            <p:cNvPr id="67" name="梯形 66"/>
            <p:cNvSpPr/>
            <p:nvPr/>
          </p:nvSpPr>
          <p:spPr>
            <a:xfrm rot="16200000">
              <a:off x="9779" y="4511"/>
              <a:ext cx="1304" cy="1188"/>
            </a:xfrm>
            <a:prstGeom prst="trapezoid">
              <a:avLst/>
            </a:prstGeom>
            <a:solidFill>
              <a:schemeClr val="accent1">
                <a:lumMod val="50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81" name="文本框 80"/>
            <p:cNvSpPr txBox="1"/>
            <p:nvPr/>
          </p:nvSpPr>
          <p:spPr>
            <a:xfrm>
              <a:off x="9737" y="4803"/>
              <a:ext cx="140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rPr>
                <a:t>解码器</a:t>
              </a:r>
              <a:endParaRPr lang="zh-CN" altLang="en-US" b="1">
                <a:solidFill>
                  <a:schemeClr val="bg1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grpSp>
        <p:nvGrpSpPr>
          <p:cNvPr id="102" name="组合 101"/>
          <p:cNvGrpSpPr/>
          <p:nvPr/>
        </p:nvGrpSpPr>
        <p:grpSpPr>
          <a:xfrm>
            <a:off x="2466975" y="299720"/>
            <a:ext cx="6186170" cy="3336925"/>
            <a:chOff x="3885" y="472"/>
            <a:chExt cx="9742" cy="5255"/>
          </a:xfrm>
        </p:grpSpPr>
        <p:pic>
          <p:nvPicPr>
            <p:cNvPr id="51" name="图片 50" descr="截屏2026-04-07 19.22.34"/>
            <p:cNvPicPr>
              <a:picLocks noChangeAspect="1"/>
            </p:cNvPicPr>
            <p:nvPr/>
          </p:nvPicPr>
          <p:blipFill>
            <a:blip r:embed="rId1"/>
            <a:srcRect r="1037"/>
            <a:stretch>
              <a:fillRect/>
            </a:stretch>
          </p:blipFill>
          <p:spPr>
            <a:xfrm>
              <a:off x="7574" y="3343"/>
              <a:ext cx="715" cy="2385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perspectiveContrastingRightFacing"/>
              <a:lightRig rig="threePt" dir="t"/>
            </a:scene3d>
          </p:spPr>
        </p:pic>
        <p:pic>
          <p:nvPicPr>
            <p:cNvPr id="52" name="图片 51" descr="截屏2026-04-07 19.23.2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10" y="607"/>
              <a:ext cx="672" cy="2268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perspectiveContrastingRightFacing"/>
              <a:lightRig rig="threePt" dir="t"/>
            </a:scene3d>
          </p:spPr>
        </p:pic>
        <p:cxnSp>
          <p:nvCxnSpPr>
            <p:cNvPr id="56" name="肘形连接符 55"/>
            <p:cNvCxnSpPr/>
            <p:nvPr/>
          </p:nvCxnSpPr>
          <p:spPr>
            <a:xfrm>
              <a:off x="5970" y="4803"/>
              <a:ext cx="1548" cy="299"/>
            </a:xfrm>
            <a:prstGeom prst="bentConnector3">
              <a:avLst>
                <a:gd name="adj1" fmla="val 775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lgDashDot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8" name="肘形连接符 57"/>
            <p:cNvCxnSpPr/>
            <p:nvPr/>
          </p:nvCxnSpPr>
          <p:spPr>
            <a:xfrm flipV="1">
              <a:off x="6303" y="876"/>
              <a:ext cx="1215" cy="451"/>
            </a:xfrm>
            <a:prstGeom prst="bentConnector3">
              <a:avLst>
                <a:gd name="adj1" fmla="val 658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lgDashDot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61" name="组合 60"/>
            <p:cNvGrpSpPr/>
            <p:nvPr/>
          </p:nvGrpSpPr>
          <p:grpSpPr>
            <a:xfrm>
              <a:off x="8530" y="1101"/>
              <a:ext cx="1216" cy="1505"/>
              <a:chOff x="8632" y="1163"/>
              <a:chExt cx="1216" cy="1505"/>
            </a:xfrm>
          </p:grpSpPr>
          <p:cxnSp>
            <p:nvCxnSpPr>
              <p:cNvPr id="59" name="肘形连接符 58"/>
              <p:cNvCxnSpPr/>
              <p:nvPr/>
            </p:nvCxnSpPr>
            <p:spPr>
              <a:xfrm flipV="1">
                <a:off x="8632" y="1163"/>
                <a:ext cx="1214" cy="735"/>
              </a:xfrm>
              <a:prstGeom prst="bentConnector3">
                <a:avLst>
                  <a:gd name="adj1" fmla="val 50082"/>
                </a:avLst>
              </a:prstGeom>
              <a:ln w="12700" cmpd="sng">
                <a:solidFill>
                  <a:schemeClr val="accent1">
                    <a:shade val="50000"/>
                  </a:schemeClr>
                </a:solidFill>
                <a:prstDash val="lgDashDotDot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0" name="肘形连接符 59"/>
              <p:cNvCxnSpPr/>
              <p:nvPr/>
            </p:nvCxnSpPr>
            <p:spPr>
              <a:xfrm>
                <a:off x="8632" y="1898"/>
                <a:ext cx="1216" cy="770"/>
              </a:xfrm>
              <a:prstGeom prst="bentConnector3">
                <a:avLst>
                  <a:gd name="adj1" fmla="val 50082"/>
                </a:avLst>
              </a:prstGeom>
              <a:ln w="12700" cmpd="sng">
                <a:solidFill>
                  <a:schemeClr val="accent1">
                    <a:shade val="50000"/>
                  </a:schemeClr>
                </a:solidFill>
                <a:prstDash val="lgDashDotDot"/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65" name="肘形连接符 64"/>
            <p:cNvCxnSpPr/>
            <p:nvPr/>
          </p:nvCxnSpPr>
          <p:spPr>
            <a:xfrm>
              <a:off x="8532" y="5102"/>
              <a:ext cx="1164" cy="5"/>
            </a:xfrm>
            <a:prstGeom prst="bentConnector3">
              <a:avLst>
                <a:gd name="adj1" fmla="val 50086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lgDashDot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87" name="组合 86"/>
            <p:cNvGrpSpPr/>
            <p:nvPr/>
          </p:nvGrpSpPr>
          <p:grpSpPr>
            <a:xfrm>
              <a:off x="13125" y="1668"/>
              <a:ext cx="502" cy="3229"/>
              <a:chOff x="13423" y="1729"/>
              <a:chExt cx="502" cy="3229"/>
            </a:xfrm>
          </p:grpSpPr>
          <p:cxnSp>
            <p:nvCxnSpPr>
              <p:cNvPr id="69" name="直接连接符 68"/>
              <p:cNvCxnSpPr/>
              <p:nvPr/>
            </p:nvCxnSpPr>
            <p:spPr>
              <a:xfrm>
                <a:off x="13697" y="2356"/>
                <a:ext cx="0" cy="2603"/>
              </a:xfrm>
              <a:prstGeom prst="line">
                <a:avLst/>
              </a:prstGeom>
              <a:ln w="12700" cap="flat" cmpd="sng" algn="ctr">
                <a:solidFill>
                  <a:schemeClr val="accent1"/>
                </a:solidFill>
                <a:prstDash val="dash"/>
                <a:miter lim="800000"/>
              </a:ln>
              <a:scene3d>
                <a:camera prst="perspectiveContrastingRightFacing"/>
                <a:lightRig rig="threePt" dir="t"/>
              </a:scene3d>
              <a:sp3d prstMaterial="metal"/>
            </p:spPr>
            <p:style>
              <a:lnRef idx="0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72" name="334E55B0-647D-440b-865C-3EC943EB4CBC-3" descr="wpsoffice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423" y="1729"/>
                <a:ext cx="502" cy="510"/>
              </a:xfrm>
              <a:prstGeom prst="rect">
                <a:avLst/>
              </a:prstGeom>
              <a:scene3d>
                <a:camera prst="perspectiveContrastingRightFacing"/>
                <a:lightRig rig="threePt" dir="t"/>
              </a:scene3d>
            </p:spPr>
          </p:pic>
        </p:grpSp>
        <p:grpSp>
          <p:nvGrpSpPr>
            <p:cNvPr id="76" name="组合 75"/>
            <p:cNvGrpSpPr/>
            <p:nvPr/>
          </p:nvGrpSpPr>
          <p:grpSpPr>
            <a:xfrm>
              <a:off x="4610" y="1534"/>
              <a:ext cx="3214" cy="3136"/>
              <a:chOff x="4610" y="1534"/>
              <a:chExt cx="3214" cy="3136"/>
            </a:xfrm>
          </p:grpSpPr>
          <p:grpSp>
            <p:nvGrpSpPr>
              <p:cNvPr id="53" name="组合 52"/>
              <p:cNvGrpSpPr/>
              <p:nvPr/>
            </p:nvGrpSpPr>
            <p:grpSpPr>
              <a:xfrm>
                <a:off x="4610" y="1686"/>
                <a:ext cx="3214" cy="2984"/>
                <a:chOff x="5219" y="1686"/>
                <a:chExt cx="3214" cy="2984"/>
              </a:xfrm>
              <a:scene3d>
                <a:camera prst="perspectiveContrastingRightFacing"/>
                <a:lightRig rig="threePt" dir="t"/>
              </a:scene3d>
            </p:grpSpPr>
            <p:grpSp>
              <p:nvGrpSpPr>
                <p:cNvPr id="15" name="组合 14"/>
                <p:cNvGrpSpPr/>
                <p:nvPr/>
              </p:nvGrpSpPr>
              <p:grpSpPr>
                <a:xfrm>
                  <a:off x="5219" y="2192"/>
                  <a:ext cx="3214" cy="1433"/>
                  <a:chOff x="5646" y="2192"/>
                  <a:chExt cx="3214" cy="1433"/>
                </a:xfrm>
              </p:grpSpPr>
              <p:sp>
                <p:nvSpPr>
                  <p:cNvPr id="6" name="任意多边形 5"/>
                  <p:cNvSpPr/>
                  <p:nvPr/>
                </p:nvSpPr>
                <p:spPr>
                  <a:xfrm>
                    <a:off x="5646" y="3069"/>
                    <a:ext cx="3215" cy="556"/>
                  </a:xfrm>
                  <a:custGeom>
                    <a:avLst/>
                    <a:gdLst>
                      <a:gd name="connisteX0" fmla="*/ 0 w 2041525"/>
                      <a:gd name="connsiteY0" fmla="*/ 182966 h 353308"/>
                      <a:gd name="connisteX1" fmla="*/ 372745 w 2041525"/>
                      <a:gd name="connsiteY1" fmla="*/ 4531 h 353308"/>
                      <a:gd name="connisteX2" fmla="*/ 769620 w 2041525"/>
                      <a:gd name="connsiteY2" fmla="*/ 353146 h 353308"/>
                      <a:gd name="connisteX3" fmla="*/ 1256030 w 2041525"/>
                      <a:gd name="connsiteY3" fmla="*/ 45171 h 353308"/>
                      <a:gd name="connisteX4" fmla="*/ 1644650 w 2041525"/>
                      <a:gd name="connsiteY4" fmla="*/ 328381 h 353308"/>
                      <a:gd name="connisteX5" fmla="*/ 2041525 w 2041525"/>
                      <a:gd name="connsiteY5" fmla="*/ 36916 h 353308"/>
                    </a:gdLst>
                    <a:ahLst/>
                    <a:cxnLst>
                      <a:cxn ang="0">
                        <a:pos x="connisteX0" y="connsiteY0"/>
                      </a:cxn>
                      <a:cxn ang="0">
                        <a:pos x="connisteX1" y="connsiteY1"/>
                      </a:cxn>
                      <a:cxn ang="0">
                        <a:pos x="connisteX2" y="connsiteY2"/>
                      </a:cxn>
                      <a:cxn ang="0">
                        <a:pos x="connisteX3" y="connsiteY3"/>
                      </a:cxn>
                      <a:cxn ang="0">
                        <a:pos x="connisteX4" y="connsiteY4"/>
                      </a:cxn>
                      <a:cxn ang="0">
                        <a:pos x="connisteX5" y="connsiteY5"/>
                      </a:cxn>
                    </a:cxnLst>
                    <a:rect l="l" t="t" r="r" b="b"/>
                    <a:pathLst>
                      <a:path w="2041525" h="353308">
                        <a:moveTo>
                          <a:pt x="0" y="182967"/>
                        </a:moveTo>
                        <a:cubicBezTo>
                          <a:pt x="66675" y="140422"/>
                          <a:pt x="219075" y="-29758"/>
                          <a:pt x="372745" y="4532"/>
                        </a:cubicBezTo>
                        <a:cubicBezTo>
                          <a:pt x="526415" y="38822"/>
                          <a:pt x="593090" y="344892"/>
                          <a:pt x="769620" y="353147"/>
                        </a:cubicBezTo>
                        <a:cubicBezTo>
                          <a:pt x="946150" y="361402"/>
                          <a:pt x="1080770" y="50252"/>
                          <a:pt x="1256030" y="45172"/>
                        </a:cubicBezTo>
                        <a:cubicBezTo>
                          <a:pt x="1431290" y="40092"/>
                          <a:pt x="1487805" y="330287"/>
                          <a:pt x="1644650" y="328382"/>
                        </a:cubicBezTo>
                        <a:cubicBezTo>
                          <a:pt x="1801495" y="326477"/>
                          <a:pt x="1969770" y="101052"/>
                          <a:pt x="2041525" y="36917"/>
                        </a:cubicBezTo>
                      </a:path>
                    </a:pathLst>
                  </a:custGeom>
                  <a:noFill/>
                  <a:ln w="25400"/>
                  <a:sp3d prstMaterial="metal"/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" name="任意多边形 10"/>
                  <p:cNvSpPr/>
                  <p:nvPr/>
                </p:nvSpPr>
                <p:spPr>
                  <a:xfrm>
                    <a:off x="5646" y="2192"/>
                    <a:ext cx="3100" cy="231"/>
                  </a:xfrm>
                  <a:custGeom>
                    <a:avLst/>
                    <a:gdLst>
                      <a:gd name="connisteX0" fmla="*/ 0 w 1968500"/>
                      <a:gd name="connsiteY0" fmla="*/ 97507 h 146412"/>
                      <a:gd name="connisteX1" fmla="*/ 170180 w 1968500"/>
                      <a:gd name="connsiteY1" fmla="*/ 352 h 146412"/>
                      <a:gd name="connisteX2" fmla="*/ 372745 w 1968500"/>
                      <a:gd name="connsiteY2" fmla="*/ 129892 h 146412"/>
                      <a:gd name="connisteX3" fmla="*/ 664210 w 1968500"/>
                      <a:gd name="connsiteY3" fmla="*/ 16862 h 146412"/>
                      <a:gd name="connisteX4" fmla="*/ 890905 w 1968500"/>
                      <a:gd name="connsiteY4" fmla="*/ 146402 h 146412"/>
                      <a:gd name="connisteX5" fmla="*/ 1109980 w 1968500"/>
                      <a:gd name="connsiteY5" fmla="*/ 24482 h 146412"/>
                      <a:gd name="connisteX6" fmla="*/ 1393190 w 1968500"/>
                      <a:gd name="connsiteY6" fmla="*/ 121637 h 146412"/>
                      <a:gd name="connisteX7" fmla="*/ 1628140 w 1968500"/>
                      <a:gd name="connsiteY7" fmla="*/ 16862 h 146412"/>
                      <a:gd name="connisteX8" fmla="*/ 1879600 w 1968500"/>
                      <a:gd name="connsiteY8" fmla="*/ 138147 h 146412"/>
                      <a:gd name="connisteX9" fmla="*/ 1968500 w 1968500"/>
                      <a:gd name="connsiteY9" fmla="*/ 56867 h 146412"/>
                      <a:gd name="connisteX10" fmla="*/ 1976755 w 1968500"/>
                      <a:gd name="connsiteY10" fmla="*/ -32032 h 146412"/>
                    </a:gdLst>
                    <a:ahLst/>
                    <a:cxnLst>
                      <a:cxn ang="0">
                        <a:pos x="connisteX0" y="connsiteY0"/>
                      </a:cxn>
                      <a:cxn ang="0">
                        <a:pos x="connisteX1" y="connsiteY1"/>
                      </a:cxn>
                      <a:cxn ang="0">
                        <a:pos x="connisteX2" y="connsiteY2"/>
                      </a:cxn>
                      <a:cxn ang="0">
                        <a:pos x="connisteX3" y="connsiteY3"/>
                      </a:cxn>
                      <a:cxn ang="0">
                        <a:pos x="connisteX4" y="connsiteY4"/>
                      </a:cxn>
                      <a:cxn ang="0">
                        <a:pos x="connisteX5" y="connsiteY5"/>
                      </a:cxn>
                      <a:cxn ang="0">
                        <a:pos x="connisteX6" y="connsiteY6"/>
                      </a:cxn>
                      <a:cxn ang="0">
                        <a:pos x="connisteX7" y="connsiteY7"/>
                      </a:cxn>
                      <a:cxn ang="0">
                        <a:pos x="connisteX8" y="connsiteY8"/>
                      </a:cxn>
                      <a:cxn ang="0">
                        <a:pos x="connisteX9" y="connsiteY9"/>
                      </a:cxn>
                      <a:cxn ang="0">
                        <a:pos x="connisteX10" y="connsiteY10"/>
                      </a:cxn>
                    </a:cxnLst>
                    <a:rect l="l" t="t" r="r" b="b"/>
                    <a:pathLst>
                      <a:path w="1968500" h="146413">
                        <a:moveTo>
                          <a:pt x="0" y="97507"/>
                        </a:moveTo>
                        <a:cubicBezTo>
                          <a:pt x="29845" y="75282"/>
                          <a:pt x="95885" y="-5998"/>
                          <a:pt x="170180" y="352"/>
                        </a:cubicBezTo>
                        <a:cubicBezTo>
                          <a:pt x="244475" y="6702"/>
                          <a:pt x="273685" y="126717"/>
                          <a:pt x="372745" y="129892"/>
                        </a:cubicBezTo>
                        <a:cubicBezTo>
                          <a:pt x="471805" y="133067"/>
                          <a:pt x="560705" y="13687"/>
                          <a:pt x="664210" y="16862"/>
                        </a:cubicBezTo>
                        <a:cubicBezTo>
                          <a:pt x="767715" y="20037"/>
                          <a:pt x="802005" y="145132"/>
                          <a:pt x="890905" y="146402"/>
                        </a:cubicBezTo>
                        <a:cubicBezTo>
                          <a:pt x="979805" y="147672"/>
                          <a:pt x="1009650" y="29562"/>
                          <a:pt x="1109980" y="24482"/>
                        </a:cubicBezTo>
                        <a:cubicBezTo>
                          <a:pt x="1210310" y="19402"/>
                          <a:pt x="1289685" y="122907"/>
                          <a:pt x="1393190" y="121637"/>
                        </a:cubicBezTo>
                        <a:cubicBezTo>
                          <a:pt x="1496695" y="120367"/>
                          <a:pt x="1530985" y="13687"/>
                          <a:pt x="1628140" y="16862"/>
                        </a:cubicBezTo>
                        <a:cubicBezTo>
                          <a:pt x="1725295" y="20037"/>
                          <a:pt x="1811655" y="129892"/>
                          <a:pt x="1879600" y="138147"/>
                        </a:cubicBezTo>
                        <a:cubicBezTo>
                          <a:pt x="1947545" y="146402"/>
                          <a:pt x="1948815" y="91157"/>
                          <a:pt x="1968500" y="56867"/>
                        </a:cubicBezTo>
                      </a:path>
                    </a:pathLst>
                  </a:custGeom>
                  <a:noFill/>
                  <a:ln w="38100">
                    <a:solidFill>
                      <a:schemeClr val="accent5">
                        <a:lumMod val="40000"/>
                        <a:lumOff val="60000"/>
                      </a:schemeClr>
                    </a:solidFill>
                  </a:ln>
                  <a:sp3d prstMaterial="metal"/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3" name="任意多边形 12"/>
                  <p:cNvSpPr/>
                  <p:nvPr/>
                </p:nvSpPr>
                <p:spPr>
                  <a:xfrm>
                    <a:off x="5774" y="2609"/>
                    <a:ext cx="2972" cy="357"/>
                  </a:xfrm>
                  <a:custGeom>
                    <a:avLst/>
                    <a:gdLst>
                      <a:gd name="connisteX0" fmla="*/ 0 w 1887220"/>
                      <a:gd name="connsiteY0" fmla="*/ 219081 h 226746"/>
                      <a:gd name="connisteX1" fmla="*/ 469900 w 1887220"/>
                      <a:gd name="connsiteY1" fmla="*/ 6 h 226746"/>
                      <a:gd name="connisteX2" fmla="*/ 1255395 w 1887220"/>
                      <a:gd name="connsiteY2" fmla="*/ 226701 h 226746"/>
                      <a:gd name="connisteX3" fmla="*/ 1887220 w 1887220"/>
                      <a:gd name="connsiteY3" fmla="*/ 16516 h 226746"/>
                    </a:gdLst>
                    <a:ahLst/>
                    <a:cxnLst>
                      <a:cxn ang="0">
                        <a:pos x="connisteX0" y="connsiteY0"/>
                      </a:cxn>
                      <a:cxn ang="0">
                        <a:pos x="connisteX1" y="connsiteY1"/>
                      </a:cxn>
                      <a:cxn ang="0">
                        <a:pos x="connisteX2" y="connsiteY2"/>
                      </a:cxn>
                      <a:cxn ang="0">
                        <a:pos x="connisteX3" y="connsiteY3"/>
                      </a:cxn>
                    </a:cxnLst>
                    <a:rect l="l" t="t" r="r" b="b"/>
                    <a:pathLst>
                      <a:path w="1887220" h="226747">
                        <a:moveTo>
                          <a:pt x="0" y="219082"/>
                        </a:moveTo>
                        <a:cubicBezTo>
                          <a:pt x="78105" y="170822"/>
                          <a:pt x="219075" y="-1263"/>
                          <a:pt x="469900" y="7"/>
                        </a:cubicBezTo>
                        <a:cubicBezTo>
                          <a:pt x="720725" y="1277"/>
                          <a:pt x="972185" y="223527"/>
                          <a:pt x="1255395" y="226702"/>
                        </a:cubicBezTo>
                        <a:cubicBezTo>
                          <a:pt x="1538605" y="229877"/>
                          <a:pt x="1776730" y="62872"/>
                          <a:pt x="1887220" y="16517"/>
                        </a:cubicBezTo>
                      </a:path>
                    </a:pathLst>
                  </a:custGeom>
                  <a:noFill/>
                  <a:ln w="25400">
                    <a:solidFill>
                      <a:schemeClr val="accent5"/>
                    </a:solidFill>
                  </a:ln>
                  <a:sp3d prstMaterial="metal"/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/>
                  </a:p>
                </p:txBody>
              </p:sp>
            </p:grpSp>
            <p:cxnSp>
              <p:nvCxnSpPr>
                <p:cNvPr id="36" name="直接连接符 35"/>
                <p:cNvCxnSpPr/>
                <p:nvPr/>
              </p:nvCxnSpPr>
              <p:spPr>
                <a:xfrm>
                  <a:off x="7400" y="1686"/>
                  <a:ext cx="0" cy="2603"/>
                </a:xfrm>
                <a:prstGeom prst="line">
                  <a:avLst/>
                </a:prstGeom>
                <a:ln w="12700" cap="flat" cmpd="sng" algn="ctr">
                  <a:solidFill>
                    <a:schemeClr val="accent1"/>
                  </a:solidFill>
                  <a:prstDash val="dash"/>
                  <a:miter lim="800000"/>
                </a:ln>
                <a:sp3d prstMaterial="metal"/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接连接符 36"/>
                <p:cNvCxnSpPr/>
                <p:nvPr/>
              </p:nvCxnSpPr>
              <p:spPr>
                <a:xfrm>
                  <a:off x="6692" y="1686"/>
                  <a:ext cx="0" cy="2603"/>
                </a:xfrm>
                <a:prstGeom prst="line">
                  <a:avLst/>
                </a:prstGeom>
                <a:ln w="12700" cap="flat" cmpd="sng" algn="ctr">
                  <a:solidFill>
                    <a:schemeClr val="accent1"/>
                  </a:solidFill>
                  <a:prstDash val="dash"/>
                  <a:miter lim="800000"/>
                </a:ln>
                <a:sp3d prstMaterial="metal"/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接连接符 38"/>
                <p:cNvCxnSpPr/>
                <p:nvPr/>
              </p:nvCxnSpPr>
              <p:spPr>
                <a:xfrm>
                  <a:off x="5984" y="1686"/>
                  <a:ext cx="0" cy="2603"/>
                </a:xfrm>
                <a:prstGeom prst="line">
                  <a:avLst/>
                </a:prstGeom>
                <a:ln w="12700" cap="flat" cmpd="sng" algn="ctr">
                  <a:solidFill>
                    <a:schemeClr val="accent1"/>
                  </a:solidFill>
                  <a:prstDash val="dash"/>
                  <a:miter lim="800000"/>
                </a:ln>
                <a:sp3d prstMaterial="metal"/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接箭头连接符 39"/>
                <p:cNvCxnSpPr/>
                <p:nvPr/>
              </p:nvCxnSpPr>
              <p:spPr>
                <a:xfrm>
                  <a:off x="6695" y="4087"/>
                  <a:ext cx="711" cy="0"/>
                </a:xfrm>
                <a:prstGeom prst="straightConnector1">
                  <a:avLst/>
                </a:prstGeom>
                <a:ln w="12700" cmpd="sng">
                  <a:solidFill>
                    <a:schemeClr val="accent1">
                      <a:shade val="50000"/>
                    </a:schemeClr>
                  </a:solidFill>
                  <a:prstDash val="sysDot"/>
                  <a:headEnd type="arrow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接箭头连接符 40"/>
                <p:cNvCxnSpPr/>
                <p:nvPr/>
              </p:nvCxnSpPr>
              <p:spPr>
                <a:xfrm>
                  <a:off x="5984" y="4084"/>
                  <a:ext cx="711" cy="0"/>
                </a:xfrm>
                <a:prstGeom prst="straightConnector1">
                  <a:avLst/>
                </a:prstGeom>
                <a:ln w="12700" cmpd="sng">
                  <a:solidFill>
                    <a:schemeClr val="accent1">
                      <a:shade val="50000"/>
                    </a:schemeClr>
                  </a:solidFill>
                  <a:prstDash val="sysDot"/>
                  <a:headEnd type="arrow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46" name="文本框 45"/>
                <p:cNvSpPr txBox="1"/>
                <p:nvPr/>
              </p:nvSpPr>
              <p:spPr>
                <a:xfrm>
                  <a:off x="6675" y="4090"/>
                  <a:ext cx="71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503050405090304" charset="0"/>
                      <a:cs typeface="Times New Roman" panose="02020503050405090304" charset="0"/>
                    </a:rPr>
                    <a:t>K</a:t>
                  </a:r>
                  <a:endParaRPr lang="en-US" altLang="zh-CN">
                    <a:solidFill>
                      <a:schemeClr val="accent1">
                        <a:lumMod val="50000"/>
                      </a:schemeClr>
                    </a:solidFill>
                    <a:latin typeface="Times New Roman" panose="02020503050405090304" charset="0"/>
                    <a:cs typeface="Times New Roman" panose="02020503050405090304" charset="0"/>
                  </a:endParaRPr>
                </a:p>
              </p:txBody>
            </p:sp>
            <p:sp>
              <p:nvSpPr>
                <p:cNvPr id="48" name="文本框 47"/>
                <p:cNvSpPr txBox="1"/>
                <p:nvPr/>
              </p:nvSpPr>
              <p:spPr>
                <a:xfrm>
                  <a:off x="5984" y="4084"/>
                  <a:ext cx="71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503050405090304" charset="0"/>
                      <a:cs typeface="Times New Roman" panose="02020503050405090304" charset="0"/>
                    </a:rPr>
                    <a:t>K</a:t>
                  </a:r>
                  <a:endParaRPr lang="en-US" altLang="zh-CN">
                    <a:solidFill>
                      <a:schemeClr val="accent1">
                        <a:lumMod val="50000"/>
                      </a:schemeClr>
                    </a:solidFill>
                    <a:latin typeface="Times New Roman" panose="02020503050405090304" charset="0"/>
                    <a:cs typeface="Times New Roman" panose="02020503050405090304" charset="0"/>
                  </a:endParaRPr>
                </a:p>
              </p:txBody>
            </p:sp>
          </p:grpSp>
          <p:pic>
            <p:nvPicPr>
              <p:cNvPr id="73" name="334E55B0-647D-440b-865C-3EC943EB4CBC-2" descr="wpsoffice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551" y="1534"/>
                <a:ext cx="505" cy="357"/>
              </a:xfrm>
              <a:prstGeom prst="rect">
                <a:avLst/>
              </a:prstGeom>
              <a:scene3d>
                <a:camera prst="perspectiveContrastingRightFacing"/>
                <a:lightRig rig="threePt" dir="t"/>
              </a:scene3d>
            </p:spPr>
          </p:pic>
        </p:grpSp>
        <p:grpSp>
          <p:nvGrpSpPr>
            <p:cNvPr id="78" name="组合 77"/>
            <p:cNvGrpSpPr/>
            <p:nvPr/>
          </p:nvGrpSpPr>
          <p:grpSpPr>
            <a:xfrm>
              <a:off x="9722" y="472"/>
              <a:ext cx="1408" cy="1304"/>
              <a:chOff x="9722" y="472"/>
              <a:chExt cx="1408" cy="1304"/>
            </a:xfrm>
          </p:grpSpPr>
          <p:sp>
            <p:nvSpPr>
              <p:cNvPr id="62" name="梯形 61"/>
              <p:cNvSpPr/>
              <p:nvPr/>
            </p:nvSpPr>
            <p:spPr>
              <a:xfrm rot="5400000">
                <a:off x="9782" y="530"/>
                <a:ext cx="1304" cy="1188"/>
              </a:xfrm>
              <a:prstGeom prst="trapezoid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9722" y="820"/>
                <a:ext cx="140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>
                    <a:solidFill>
                      <a:schemeClr val="bg1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编码器</a:t>
                </a:r>
                <a:endParaRPr lang="zh-CN" altLang="en-US" b="1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9712" y="1956"/>
              <a:ext cx="1408" cy="1304"/>
              <a:chOff x="9712" y="1956"/>
              <a:chExt cx="1408" cy="1304"/>
            </a:xfrm>
          </p:grpSpPr>
          <p:sp>
            <p:nvSpPr>
              <p:cNvPr id="63" name="梯形 62"/>
              <p:cNvSpPr/>
              <p:nvPr/>
            </p:nvSpPr>
            <p:spPr>
              <a:xfrm rot="16200000">
                <a:off x="9781" y="2014"/>
                <a:ext cx="1304" cy="1188"/>
              </a:xfrm>
              <a:prstGeom prst="trapezoid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9712" y="2295"/>
                <a:ext cx="140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>
                    <a:solidFill>
                      <a:schemeClr val="bg1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解码器</a:t>
                </a:r>
                <a:endParaRPr lang="zh-CN" altLang="en-US" b="1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</p:grpSp>
        <p:cxnSp>
          <p:nvCxnSpPr>
            <p:cNvPr id="92" name="肘形连接符 91"/>
            <p:cNvCxnSpPr/>
            <p:nvPr/>
          </p:nvCxnSpPr>
          <p:spPr>
            <a:xfrm rot="5400000" flipV="1">
              <a:off x="11396" y="1644"/>
              <a:ext cx="1464" cy="378"/>
            </a:xfrm>
            <a:prstGeom prst="bentConnector3">
              <a:avLst>
                <a:gd name="adj1" fmla="val 956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lgDashDot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3" name="直接箭头连接符 92"/>
            <p:cNvCxnSpPr>
              <a:stCxn id="79" idx="3"/>
            </p:cNvCxnSpPr>
            <p:nvPr/>
          </p:nvCxnSpPr>
          <p:spPr>
            <a:xfrm>
              <a:off x="11120" y="2585"/>
              <a:ext cx="1562" cy="0"/>
            </a:xfrm>
            <a:prstGeom prst="straightConnector1">
              <a:avLst/>
            </a:prstGeom>
            <a:ln w="12700" cmpd="sng">
              <a:solidFill>
                <a:schemeClr val="accent1">
                  <a:shade val="50000"/>
                </a:schemeClr>
              </a:solidFill>
              <a:prstDash val="lgDashDot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4" name="肘形连接符 93"/>
            <p:cNvCxnSpPr/>
            <p:nvPr/>
          </p:nvCxnSpPr>
          <p:spPr>
            <a:xfrm flipV="1">
              <a:off x="11152" y="2561"/>
              <a:ext cx="1165" cy="2532"/>
            </a:xfrm>
            <a:prstGeom prst="bentConnector2">
              <a:avLst/>
            </a:prstGeom>
            <a:ln w="12700" cmpd="sng">
              <a:solidFill>
                <a:schemeClr val="accent1">
                  <a:shade val="50000"/>
                </a:schemeClr>
              </a:solidFill>
              <a:prstDash val="lgDashDotDot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95" name="334E55B0-647D-440b-865C-3EC943EB4CBC-5" descr="wpsoffic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18" y="812"/>
              <a:ext cx="505" cy="505"/>
            </a:xfrm>
            <a:prstGeom prst="rect">
              <a:avLst/>
            </a:prstGeom>
          </p:spPr>
        </p:pic>
        <p:sp>
          <p:nvSpPr>
            <p:cNvPr id="99" name="文本框 98"/>
            <p:cNvSpPr txBox="1"/>
            <p:nvPr/>
          </p:nvSpPr>
          <p:spPr>
            <a:xfrm>
              <a:off x="3885" y="1836"/>
              <a:ext cx="715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>
                  <a:solidFill>
                    <a:schemeClr val="tx1"/>
                  </a:solidFill>
                  <a:latin typeface="华文仿宋" panose="02010600040101010101" charset="-122"/>
                  <a:ea typeface="华文仿宋" panose="02010600040101010101" charset="-122"/>
                </a:rPr>
                <a:t>正常数据</a:t>
              </a:r>
              <a:endParaRPr lang="zh-CN" altLang="en-US" sz="2400" b="1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2466975" y="3572510"/>
            <a:ext cx="6974205" cy="2569845"/>
            <a:chOff x="3885" y="6058"/>
            <a:chExt cx="10983" cy="4047"/>
          </a:xfrm>
        </p:grpSpPr>
        <p:pic>
          <p:nvPicPr>
            <p:cNvPr id="54" name="图片 53" descr="截屏2026-04-07 19.24.3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610" y="7235"/>
              <a:ext cx="691" cy="2870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perspectiveContrastingRightFacing"/>
              <a:lightRig rig="threePt" dir="t"/>
            </a:scene3d>
          </p:spPr>
        </p:pic>
        <p:cxnSp>
          <p:nvCxnSpPr>
            <p:cNvPr id="57" name="肘形连接符 56"/>
            <p:cNvCxnSpPr/>
            <p:nvPr/>
          </p:nvCxnSpPr>
          <p:spPr>
            <a:xfrm>
              <a:off x="6162" y="9515"/>
              <a:ext cx="1188" cy="309"/>
            </a:xfrm>
            <a:prstGeom prst="bentConnector3">
              <a:avLst>
                <a:gd name="adj1" fmla="val 589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lgDashDot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5" name="组合 74"/>
            <p:cNvGrpSpPr/>
            <p:nvPr/>
          </p:nvGrpSpPr>
          <p:grpSpPr>
            <a:xfrm>
              <a:off x="4341" y="6125"/>
              <a:ext cx="3228" cy="3394"/>
              <a:chOff x="4341" y="6125"/>
              <a:chExt cx="3228" cy="3394"/>
            </a:xfrm>
          </p:grpSpPr>
          <p:grpSp>
            <p:nvGrpSpPr>
              <p:cNvPr id="55" name="组合 54"/>
              <p:cNvGrpSpPr/>
              <p:nvPr/>
            </p:nvGrpSpPr>
            <p:grpSpPr>
              <a:xfrm>
                <a:off x="4341" y="6125"/>
                <a:ext cx="3228" cy="3394"/>
                <a:chOff x="5206" y="5613"/>
                <a:chExt cx="3228" cy="3394"/>
              </a:xfrm>
              <a:scene3d>
                <a:camera prst="perspectiveContrastingRightFacing"/>
                <a:lightRig rig="threePt" dir="t"/>
              </a:scene3d>
            </p:grpSpPr>
            <p:sp>
              <p:nvSpPr>
                <p:cNvPr id="8" name="任意多边形 7"/>
                <p:cNvSpPr/>
                <p:nvPr/>
              </p:nvSpPr>
              <p:spPr>
                <a:xfrm>
                  <a:off x="5206" y="6527"/>
                  <a:ext cx="3177" cy="1496"/>
                </a:xfrm>
                <a:custGeom>
                  <a:avLst/>
                  <a:gdLst>
                    <a:gd name="connisteX0" fmla="*/ 0 w 2017395"/>
                    <a:gd name="connsiteY0" fmla="*/ 228833 h 950203"/>
                    <a:gd name="connisteX1" fmla="*/ 372745 w 2017395"/>
                    <a:gd name="connsiteY1" fmla="*/ 34523 h 950203"/>
                    <a:gd name="connisteX2" fmla="*/ 721360 w 2017395"/>
                    <a:gd name="connsiteY2" fmla="*/ 374883 h 950203"/>
                    <a:gd name="connisteX3" fmla="*/ 1150620 w 2017395"/>
                    <a:gd name="connsiteY3" fmla="*/ 66908 h 950203"/>
                    <a:gd name="connisteX4" fmla="*/ 1393825 w 2017395"/>
                    <a:gd name="connsiteY4" fmla="*/ 950193 h 950203"/>
                    <a:gd name="connisteX5" fmla="*/ 1685290 w 2017395"/>
                    <a:gd name="connsiteY5" fmla="*/ 51033 h 950203"/>
                    <a:gd name="connisteX6" fmla="*/ 2017395 w 2017395"/>
                    <a:gd name="connsiteY6" fmla="*/ 164063 h 950203"/>
                    <a:gd name="connisteX7" fmla="*/ 2252345 w 2017395"/>
                    <a:gd name="connsiteY7" fmla="*/ 123423 h 950203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  <a:cxn ang="0">
                      <a:pos x="connisteX5" y="connsiteY5"/>
                    </a:cxn>
                    <a:cxn ang="0">
                      <a:pos x="connisteX6" y="connsiteY6"/>
                    </a:cxn>
                    <a:cxn ang="0">
                      <a:pos x="connisteX7" y="connsiteY7"/>
                    </a:cxn>
                  </a:cxnLst>
                  <a:rect l="l" t="t" r="r" b="b"/>
                  <a:pathLst>
                    <a:path w="2017395" h="950203">
                      <a:moveTo>
                        <a:pt x="0" y="228834"/>
                      </a:moveTo>
                      <a:cubicBezTo>
                        <a:pt x="67310" y="183114"/>
                        <a:pt x="228600" y="5314"/>
                        <a:pt x="372745" y="34524"/>
                      </a:cubicBezTo>
                      <a:cubicBezTo>
                        <a:pt x="516890" y="63734"/>
                        <a:pt x="565785" y="368534"/>
                        <a:pt x="721360" y="374884"/>
                      </a:cubicBezTo>
                      <a:cubicBezTo>
                        <a:pt x="876935" y="381234"/>
                        <a:pt x="1016000" y="-48026"/>
                        <a:pt x="1150620" y="66909"/>
                      </a:cubicBezTo>
                      <a:cubicBezTo>
                        <a:pt x="1285240" y="181844"/>
                        <a:pt x="1287145" y="953369"/>
                        <a:pt x="1393825" y="950194"/>
                      </a:cubicBezTo>
                      <a:cubicBezTo>
                        <a:pt x="1500505" y="947019"/>
                        <a:pt x="1560830" y="208514"/>
                        <a:pt x="1685290" y="51034"/>
                      </a:cubicBezTo>
                      <a:cubicBezTo>
                        <a:pt x="1809750" y="-106446"/>
                        <a:pt x="1903730" y="149459"/>
                        <a:pt x="2017395" y="164064"/>
                      </a:cubicBezTo>
                    </a:path>
                  </a:pathLst>
                </a:custGeom>
                <a:noFill/>
                <a:ln w="25400"/>
                <a:sp3d prstMaterial="metal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9" name="直接连接符 8"/>
                <p:cNvCxnSpPr/>
                <p:nvPr/>
              </p:nvCxnSpPr>
              <p:spPr>
                <a:xfrm>
                  <a:off x="7387" y="6007"/>
                  <a:ext cx="0" cy="2603"/>
                </a:xfrm>
                <a:prstGeom prst="line">
                  <a:avLst/>
                </a:prstGeom>
                <a:ln w="12700" cap="flat" cmpd="sng" algn="ctr">
                  <a:solidFill>
                    <a:schemeClr val="accent1"/>
                  </a:solidFill>
                  <a:prstDash val="dash"/>
                  <a:miter lim="800000"/>
                </a:ln>
                <a:sp3d prstMaterial="metal"/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6" name="任意多边形 15"/>
                <p:cNvSpPr/>
                <p:nvPr/>
              </p:nvSpPr>
              <p:spPr>
                <a:xfrm>
                  <a:off x="5334" y="6007"/>
                  <a:ext cx="2972" cy="357"/>
                </a:xfrm>
                <a:custGeom>
                  <a:avLst/>
                  <a:gdLst>
                    <a:gd name="connisteX0" fmla="*/ 0 w 1887220"/>
                    <a:gd name="connsiteY0" fmla="*/ 219081 h 226746"/>
                    <a:gd name="connisteX1" fmla="*/ 469900 w 1887220"/>
                    <a:gd name="connsiteY1" fmla="*/ 6 h 226746"/>
                    <a:gd name="connisteX2" fmla="*/ 1255395 w 1887220"/>
                    <a:gd name="connsiteY2" fmla="*/ 226701 h 226746"/>
                    <a:gd name="connisteX3" fmla="*/ 1887220 w 1887220"/>
                    <a:gd name="connsiteY3" fmla="*/ 16516 h 226746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</a:cxnLst>
                  <a:rect l="l" t="t" r="r" b="b"/>
                  <a:pathLst>
                    <a:path w="1887220" h="226747">
                      <a:moveTo>
                        <a:pt x="0" y="219082"/>
                      </a:moveTo>
                      <a:cubicBezTo>
                        <a:pt x="78105" y="170822"/>
                        <a:pt x="219075" y="-1263"/>
                        <a:pt x="469900" y="7"/>
                      </a:cubicBezTo>
                      <a:cubicBezTo>
                        <a:pt x="720725" y="1277"/>
                        <a:pt x="972185" y="223527"/>
                        <a:pt x="1255395" y="226702"/>
                      </a:cubicBezTo>
                      <a:cubicBezTo>
                        <a:pt x="1538605" y="229877"/>
                        <a:pt x="1776730" y="62872"/>
                        <a:pt x="1887220" y="16517"/>
                      </a:cubicBezTo>
                    </a:path>
                  </a:pathLst>
                </a:custGeom>
                <a:noFill/>
                <a:ln w="25400">
                  <a:solidFill>
                    <a:schemeClr val="accent5"/>
                  </a:solidFill>
                </a:ln>
                <a:sp3d prstMaterial="metal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sp>
              <p:nvSpPr>
                <p:cNvPr id="17" name="任意多边形 16"/>
                <p:cNvSpPr/>
                <p:nvPr/>
              </p:nvSpPr>
              <p:spPr>
                <a:xfrm>
                  <a:off x="5334" y="5613"/>
                  <a:ext cx="3100" cy="231"/>
                </a:xfrm>
                <a:custGeom>
                  <a:avLst/>
                  <a:gdLst>
                    <a:gd name="connisteX0" fmla="*/ 0 w 1968500"/>
                    <a:gd name="connsiteY0" fmla="*/ 97507 h 146412"/>
                    <a:gd name="connisteX1" fmla="*/ 170180 w 1968500"/>
                    <a:gd name="connsiteY1" fmla="*/ 352 h 146412"/>
                    <a:gd name="connisteX2" fmla="*/ 372745 w 1968500"/>
                    <a:gd name="connsiteY2" fmla="*/ 129892 h 146412"/>
                    <a:gd name="connisteX3" fmla="*/ 664210 w 1968500"/>
                    <a:gd name="connsiteY3" fmla="*/ 16862 h 146412"/>
                    <a:gd name="connisteX4" fmla="*/ 890905 w 1968500"/>
                    <a:gd name="connsiteY4" fmla="*/ 146402 h 146412"/>
                    <a:gd name="connisteX5" fmla="*/ 1109980 w 1968500"/>
                    <a:gd name="connsiteY5" fmla="*/ 24482 h 146412"/>
                    <a:gd name="connisteX6" fmla="*/ 1393190 w 1968500"/>
                    <a:gd name="connsiteY6" fmla="*/ 121637 h 146412"/>
                    <a:gd name="connisteX7" fmla="*/ 1628140 w 1968500"/>
                    <a:gd name="connsiteY7" fmla="*/ 16862 h 146412"/>
                    <a:gd name="connisteX8" fmla="*/ 1879600 w 1968500"/>
                    <a:gd name="connsiteY8" fmla="*/ 138147 h 146412"/>
                    <a:gd name="connisteX9" fmla="*/ 1968500 w 1968500"/>
                    <a:gd name="connsiteY9" fmla="*/ 56867 h 146412"/>
                    <a:gd name="connisteX10" fmla="*/ 1976755 w 1968500"/>
                    <a:gd name="connsiteY10" fmla="*/ -32032 h 146412"/>
                  </a:gdLst>
                  <a:ahLst/>
                  <a:cxnLst>
                    <a:cxn ang="0">
                      <a:pos x="connisteX0" y="connsiteY0"/>
                    </a:cxn>
                    <a:cxn ang="0">
                      <a:pos x="connisteX1" y="connsiteY1"/>
                    </a:cxn>
                    <a:cxn ang="0">
                      <a:pos x="connisteX2" y="connsiteY2"/>
                    </a:cxn>
                    <a:cxn ang="0">
                      <a:pos x="connisteX3" y="connsiteY3"/>
                    </a:cxn>
                    <a:cxn ang="0">
                      <a:pos x="connisteX4" y="connsiteY4"/>
                    </a:cxn>
                    <a:cxn ang="0">
                      <a:pos x="connisteX5" y="connsiteY5"/>
                    </a:cxn>
                    <a:cxn ang="0">
                      <a:pos x="connisteX6" y="connsiteY6"/>
                    </a:cxn>
                    <a:cxn ang="0">
                      <a:pos x="connisteX7" y="connsiteY7"/>
                    </a:cxn>
                    <a:cxn ang="0">
                      <a:pos x="connisteX8" y="connsiteY8"/>
                    </a:cxn>
                    <a:cxn ang="0">
                      <a:pos x="connisteX9" y="connsiteY9"/>
                    </a:cxn>
                    <a:cxn ang="0">
                      <a:pos x="connisteX10" y="connsiteY10"/>
                    </a:cxn>
                  </a:cxnLst>
                  <a:rect l="l" t="t" r="r" b="b"/>
                  <a:pathLst>
                    <a:path w="1968500" h="146413">
                      <a:moveTo>
                        <a:pt x="0" y="97507"/>
                      </a:moveTo>
                      <a:cubicBezTo>
                        <a:pt x="29845" y="75282"/>
                        <a:pt x="95885" y="-5998"/>
                        <a:pt x="170180" y="352"/>
                      </a:cubicBezTo>
                      <a:cubicBezTo>
                        <a:pt x="244475" y="6702"/>
                        <a:pt x="273685" y="126717"/>
                        <a:pt x="372745" y="129892"/>
                      </a:cubicBezTo>
                      <a:cubicBezTo>
                        <a:pt x="471805" y="133067"/>
                        <a:pt x="560705" y="13687"/>
                        <a:pt x="664210" y="16862"/>
                      </a:cubicBezTo>
                      <a:cubicBezTo>
                        <a:pt x="767715" y="20037"/>
                        <a:pt x="802005" y="145132"/>
                        <a:pt x="890905" y="146402"/>
                      </a:cubicBezTo>
                      <a:cubicBezTo>
                        <a:pt x="979805" y="147672"/>
                        <a:pt x="1009650" y="29562"/>
                        <a:pt x="1109980" y="24482"/>
                      </a:cubicBezTo>
                      <a:cubicBezTo>
                        <a:pt x="1210310" y="19402"/>
                        <a:pt x="1289685" y="122907"/>
                        <a:pt x="1393190" y="121637"/>
                      </a:cubicBezTo>
                      <a:cubicBezTo>
                        <a:pt x="1496695" y="120367"/>
                        <a:pt x="1530985" y="13687"/>
                        <a:pt x="1628140" y="16862"/>
                      </a:cubicBezTo>
                      <a:cubicBezTo>
                        <a:pt x="1725295" y="20037"/>
                        <a:pt x="1811655" y="129892"/>
                        <a:pt x="1879600" y="138147"/>
                      </a:cubicBezTo>
                      <a:cubicBezTo>
                        <a:pt x="1947545" y="146402"/>
                        <a:pt x="1948815" y="91157"/>
                        <a:pt x="1968500" y="56867"/>
                      </a:cubicBezTo>
                    </a:path>
                  </a:pathLst>
                </a:custGeom>
                <a:noFill/>
                <a:ln w="38100">
                  <a:solidFill>
                    <a:schemeClr val="accent5">
                      <a:lumMod val="40000"/>
                      <a:lumOff val="60000"/>
                    </a:schemeClr>
                  </a:solidFill>
                </a:ln>
                <a:sp3d prstMaterial="metal"/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/>
                </a:p>
              </p:txBody>
            </p:sp>
            <p:cxnSp>
              <p:nvCxnSpPr>
                <p:cNvPr id="38" name="直接连接符 37"/>
                <p:cNvCxnSpPr/>
                <p:nvPr/>
              </p:nvCxnSpPr>
              <p:spPr>
                <a:xfrm>
                  <a:off x="6679" y="6007"/>
                  <a:ext cx="0" cy="2603"/>
                </a:xfrm>
                <a:prstGeom prst="line">
                  <a:avLst/>
                </a:prstGeom>
                <a:ln w="12700" cap="flat" cmpd="sng" algn="ctr">
                  <a:solidFill>
                    <a:schemeClr val="accent1"/>
                  </a:solidFill>
                  <a:prstDash val="dash"/>
                  <a:miter lim="800000"/>
                </a:ln>
                <a:sp3d prstMaterial="metal"/>
              </p:spPr>
              <p:style>
                <a:lnRef idx="0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直接箭头连接符 41"/>
                <p:cNvCxnSpPr/>
                <p:nvPr/>
              </p:nvCxnSpPr>
              <p:spPr>
                <a:xfrm>
                  <a:off x="6676" y="8416"/>
                  <a:ext cx="711" cy="0"/>
                </a:xfrm>
                <a:prstGeom prst="straightConnector1">
                  <a:avLst/>
                </a:prstGeom>
                <a:ln w="12700" cmpd="sng">
                  <a:solidFill>
                    <a:schemeClr val="accent1">
                      <a:shade val="50000"/>
                    </a:schemeClr>
                  </a:solidFill>
                  <a:prstDash val="sysDot"/>
                  <a:headEnd type="arrow"/>
                  <a:tailEnd type="arrow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49" name="文本框 48"/>
                <p:cNvSpPr txBox="1"/>
                <p:nvPr/>
              </p:nvSpPr>
              <p:spPr>
                <a:xfrm>
                  <a:off x="6675" y="8427"/>
                  <a:ext cx="712" cy="58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p>
                  <a:pPr algn="ctr"/>
                  <a:r>
                    <a:rPr lang="en-US" altLang="zh-CN">
                      <a:solidFill>
                        <a:schemeClr val="accent1">
                          <a:lumMod val="50000"/>
                        </a:schemeClr>
                      </a:solidFill>
                      <a:latin typeface="Times New Roman" panose="02020503050405090304" charset="0"/>
                      <a:cs typeface="Times New Roman" panose="02020503050405090304" charset="0"/>
                    </a:rPr>
                    <a:t>K</a:t>
                  </a:r>
                  <a:endParaRPr lang="en-US" altLang="zh-CN">
                    <a:solidFill>
                      <a:schemeClr val="accent1">
                        <a:lumMod val="50000"/>
                      </a:schemeClr>
                    </a:solidFill>
                    <a:latin typeface="Times New Roman" panose="02020503050405090304" charset="0"/>
                    <a:cs typeface="Times New Roman" panose="02020503050405090304" charset="0"/>
                  </a:endParaRPr>
                </a:p>
              </p:txBody>
            </p:sp>
          </p:grpSp>
          <p:pic>
            <p:nvPicPr>
              <p:cNvPr id="74" name="334E55B0-647D-440b-865C-3EC943EB4CBC-1" descr="wpsoffice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03" y="6278"/>
                <a:ext cx="505" cy="357"/>
              </a:xfrm>
              <a:prstGeom prst="rect">
                <a:avLst/>
              </a:prstGeom>
              <a:scene3d>
                <a:camera prst="perspectiveContrastingRightFacing"/>
                <a:lightRig rig="threePt" dir="t"/>
              </a:scene3d>
            </p:spPr>
          </p:pic>
        </p:grpSp>
        <p:cxnSp>
          <p:nvCxnSpPr>
            <p:cNvPr id="83" name="肘形连接符 82"/>
            <p:cNvCxnSpPr/>
            <p:nvPr/>
          </p:nvCxnSpPr>
          <p:spPr>
            <a:xfrm>
              <a:off x="8519" y="8535"/>
              <a:ext cx="1164" cy="5"/>
            </a:xfrm>
            <a:prstGeom prst="bentConnector3">
              <a:avLst>
                <a:gd name="adj1" fmla="val 50086"/>
              </a:avLst>
            </a:prstGeom>
            <a:ln w="12700" cmpd="sng">
              <a:solidFill>
                <a:schemeClr val="accent1">
                  <a:shade val="50000"/>
                </a:schemeClr>
              </a:solidFill>
              <a:prstDash val="lgDashDot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84" name="组合 83"/>
            <p:cNvGrpSpPr/>
            <p:nvPr/>
          </p:nvGrpSpPr>
          <p:grpSpPr>
            <a:xfrm>
              <a:off x="9746" y="7886"/>
              <a:ext cx="1408" cy="1304"/>
              <a:chOff x="9722" y="472"/>
              <a:chExt cx="1408" cy="1304"/>
            </a:xfrm>
          </p:grpSpPr>
          <p:sp>
            <p:nvSpPr>
              <p:cNvPr id="85" name="梯形 84"/>
              <p:cNvSpPr/>
              <p:nvPr/>
            </p:nvSpPr>
            <p:spPr>
              <a:xfrm rot="5400000">
                <a:off x="9782" y="530"/>
                <a:ext cx="1304" cy="1188"/>
              </a:xfrm>
              <a:prstGeom prst="trapezoid">
                <a:avLst/>
              </a:prstGeom>
              <a:solidFill>
                <a:schemeClr val="accent1">
                  <a:lumMod val="50000"/>
                </a:schemeClr>
              </a:solidFill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  <p:sp>
            <p:nvSpPr>
              <p:cNvPr id="86" name="文本框 85"/>
              <p:cNvSpPr txBox="1"/>
              <p:nvPr/>
            </p:nvSpPr>
            <p:spPr>
              <a:xfrm>
                <a:off x="9722" y="820"/>
                <a:ext cx="1408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>
                    <a:solidFill>
                      <a:schemeClr val="bg1"/>
                    </a:solidFill>
                    <a:latin typeface="华文仿宋" panose="02010600040101010101" charset="-122"/>
                    <a:ea typeface="华文仿宋" panose="02010600040101010101" charset="-122"/>
                  </a:rPr>
                  <a:t>编码器</a:t>
                </a:r>
                <a:endParaRPr lang="zh-CN" altLang="en-US" b="1">
                  <a:solidFill>
                    <a:schemeClr val="bg1"/>
                  </a:solidFill>
                  <a:latin typeface="华文仿宋" panose="02010600040101010101" charset="-122"/>
                  <a:ea typeface="华文仿宋" panose="02010600040101010101" charset="-122"/>
                </a:endParaRPr>
              </a:p>
            </p:txBody>
          </p:sp>
        </p:grpSp>
        <p:pic>
          <p:nvPicPr>
            <p:cNvPr id="96" name="334E55B0-647D-440b-865C-3EC943EB4CBC-4" descr="wpsoffic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218" y="8309"/>
              <a:ext cx="505" cy="505"/>
            </a:xfrm>
            <a:prstGeom prst="rect">
              <a:avLst/>
            </a:prstGeom>
          </p:spPr>
        </p:pic>
        <p:cxnSp>
          <p:nvCxnSpPr>
            <p:cNvPr id="97" name="直接箭头连接符 96"/>
            <p:cNvCxnSpPr/>
            <p:nvPr/>
          </p:nvCxnSpPr>
          <p:spPr>
            <a:xfrm>
              <a:off x="11841" y="8540"/>
              <a:ext cx="575" cy="0"/>
            </a:xfrm>
            <a:prstGeom prst="straightConnector1">
              <a:avLst/>
            </a:prstGeom>
            <a:ln w="12700" cmpd="sng">
              <a:solidFill>
                <a:schemeClr val="accent1">
                  <a:shade val="50000"/>
                </a:schemeClr>
              </a:solidFill>
              <a:prstDash val="lgDashDot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8" name="文本框 97"/>
            <p:cNvSpPr txBox="1"/>
            <p:nvPr/>
          </p:nvSpPr>
          <p:spPr>
            <a:xfrm>
              <a:off x="12416" y="8203"/>
              <a:ext cx="2452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>
                  <a:solidFill>
                    <a:schemeClr val="tx1"/>
                  </a:solidFill>
                  <a:latin typeface="华文仿宋" panose="02010600040101010101" charset="-122"/>
                  <a:ea typeface="华文仿宋" panose="02010600040101010101" charset="-122"/>
                </a:rPr>
                <a:t>根因得分</a:t>
              </a:r>
              <a:endParaRPr lang="zh-CN" altLang="en-US" sz="2400" b="1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  <p:sp>
          <p:nvSpPr>
            <p:cNvPr id="100" name="文本框 99"/>
            <p:cNvSpPr txBox="1"/>
            <p:nvPr/>
          </p:nvSpPr>
          <p:spPr>
            <a:xfrm>
              <a:off x="3885" y="6058"/>
              <a:ext cx="715" cy="24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sz="2400" b="1">
                  <a:solidFill>
                    <a:schemeClr val="tx1"/>
                  </a:solidFill>
                  <a:latin typeface="华文仿宋" panose="02010600040101010101" charset="-122"/>
                  <a:ea typeface="华文仿宋" panose="02010600040101010101" charset="-122"/>
                </a:rPr>
                <a:t>异常数据</a:t>
              </a:r>
              <a:endParaRPr lang="zh-CN" altLang="en-US" sz="2400" b="1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9191625" y="1139825"/>
            <a:ext cx="320675" cy="1953260"/>
            <a:chOff x="13971" y="1821"/>
            <a:chExt cx="504" cy="3076"/>
          </a:xfrm>
        </p:grpSpPr>
        <p:cxnSp>
          <p:nvCxnSpPr>
            <p:cNvPr id="103" name="直接连接符 102"/>
            <p:cNvCxnSpPr/>
            <p:nvPr/>
          </p:nvCxnSpPr>
          <p:spPr>
            <a:xfrm>
              <a:off x="14299" y="2295"/>
              <a:ext cx="0" cy="2603"/>
            </a:xfrm>
            <a:prstGeom prst="line">
              <a:avLst/>
            </a:prstGeom>
            <a:ln w="12700" cap="flat" cmpd="sng" algn="ctr">
              <a:solidFill>
                <a:schemeClr val="accent1"/>
              </a:solidFill>
              <a:prstDash val="dash"/>
              <a:miter lim="800000"/>
            </a:ln>
            <a:scene3d>
              <a:camera prst="perspectiveContrastingRightFacing"/>
              <a:lightRig rig="threePt" dir="t"/>
            </a:scene3d>
            <a:sp3d prstMaterial="metal"/>
          </p:spPr>
          <p:style>
            <a:lnRef idx="0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104" name="334E55B0-647D-440b-865C-3EC943EB4CBC-6" descr="wpsoffic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971" y="1821"/>
              <a:ext cx="505" cy="357"/>
            </a:xfrm>
            <a:prstGeom prst="rect">
              <a:avLst/>
            </a:prstGeom>
            <a:scene3d>
              <a:camera prst="perspectiveContrastingRightFacing"/>
              <a:lightRig rig="threePt" dir="t"/>
            </a:scene3d>
          </p:spPr>
        </p:pic>
      </p:grpSp>
      <p:cxnSp>
        <p:nvCxnSpPr>
          <p:cNvPr id="107" name="曲线连接符 106"/>
          <p:cNvCxnSpPr/>
          <p:nvPr/>
        </p:nvCxnSpPr>
        <p:spPr>
          <a:xfrm rot="10800000" flipV="1">
            <a:off x="6676390" y="3711575"/>
            <a:ext cx="1598930" cy="947420"/>
          </a:xfrm>
          <a:prstGeom prst="curvedConnector2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lgDashDotDot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9" name="文本框 108"/>
          <p:cNvSpPr txBox="1"/>
          <p:nvPr/>
        </p:nvSpPr>
        <p:spPr>
          <a:xfrm>
            <a:off x="8305800" y="3207385"/>
            <a:ext cx="1440815" cy="7670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2400" b="1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</a:rPr>
              <a:t>最小化</a:t>
            </a:r>
            <a:endParaRPr lang="zh-CN" altLang="en-US" sz="2400" b="1">
              <a:solidFill>
                <a:schemeClr val="tx1"/>
              </a:solidFill>
              <a:latin typeface="华文仿宋" panose="02010600040101010101" charset="-122"/>
              <a:ea typeface="华文仿宋" panose="02010600040101010101" charset="-122"/>
            </a:endParaRPr>
          </a:p>
          <a:p>
            <a:pPr algn="ctr"/>
            <a:r>
              <a:rPr lang="zh-CN" altLang="en-US" sz="2400" b="1">
                <a:solidFill>
                  <a:schemeClr val="tx1"/>
                </a:solidFill>
                <a:latin typeface="华文仿宋" panose="02010600040101010101" charset="-122"/>
                <a:ea typeface="华文仿宋" panose="02010600040101010101" charset="-122"/>
              </a:rPr>
              <a:t>重构误差</a:t>
            </a:r>
            <a:endParaRPr lang="zh-CN" altLang="en-US" sz="2400" b="1">
              <a:solidFill>
                <a:schemeClr val="tx1"/>
              </a:solidFill>
              <a:latin typeface="华文仿宋" panose="02010600040101010101" charset="-122"/>
              <a:ea typeface="华文仿宋" panose="02010600040101010101" charset="-122"/>
            </a:endParaRPr>
          </a:p>
        </p:txBody>
      </p:sp>
      <p:cxnSp>
        <p:nvCxnSpPr>
          <p:cNvPr id="112" name="直接箭头连接符 111"/>
          <p:cNvCxnSpPr/>
          <p:nvPr/>
        </p:nvCxnSpPr>
        <p:spPr>
          <a:xfrm>
            <a:off x="8695690" y="3049905"/>
            <a:ext cx="632460" cy="0"/>
          </a:xfrm>
          <a:prstGeom prst="straightConnector1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ysDot"/>
            <a:headEnd type="arrow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7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8" name="组合 17"/>
          <p:cNvGrpSpPr/>
          <p:nvPr/>
        </p:nvGrpSpPr>
        <p:grpSpPr>
          <a:xfrm>
            <a:off x="2532380" y="416560"/>
            <a:ext cx="8097520" cy="5981065"/>
            <a:chOff x="3988" y="656"/>
            <a:chExt cx="12752" cy="9419"/>
          </a:xfrm>
        </p:grpSpPr>
        <p:grpSp>
          <p:nvGrpSpPr>
            <p:cNvPr id="43" name="组合 42"/>
            <p:cNvGrpSpPr/>
            <p:nvPr/>
          </p:nvGrpSpPr>
          <p:grpSpPr>
            <a:xfrm>
              <a:off x="5476" y="656"/>
              <a:ext cx="11264" cy="6643"/>
              <a:chOff x="3667" y="1350"/>
              <a:chExt cx="11264" cy="6643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7688" y="3405"/>
                <a:ext cx="3222" cy="1190"/>
              </a:xfrm>
              <a:prstGeom prst="roundRect">
                <a:avLst/>
              </a:prstGeom>
              <a:solidFill>
                <a:schemeClr val="tx2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共享骨干网络</a:t>
                </a:r>
                <a:endParaRPr lang="zh-CN" altLang="en-US" sz="2000" b="1">
                  <a:solidFill>
                    <a:schemeClr val="tx1"/>
                  </a:solidFill>
                  <a:latin typeface="PingFang SC Semibold" panose="020B0400000000000000" charset="-122"/>
                  <a:ea typeface="PingFang SC Semibold" panose="020B0400000000000000" charset="-122"/>
                </a:endParaRPr>
              </a:p>
            </p:txBody>
          </p:sp>
          <p:sp>
            <p:nvSpPr>
              <p:cNvPr id="3" name="圆角矩形 2"/>
              <p:cNvSpPr/>
              <p:nvPr/>
            </p:nvSpPr>
            <p:spPr>
              <a:xfrm>
                <a:off x="3667" y="5324"/>
                <a:ext cx="3222" cy="1056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OB </a:t>
                </a:r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输入映射</a:t>
                </a:r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层</a:t>
                </a:r>
                <a:endParaRPr lang="zh-CN" altLang="en-US" sz="2000" b="1">
                  <a:solidFill>
                    <a:schemeClr val="tx1"/>
                  </a:solidFill>
                  <a:latin typeface="PingFang SC Semibold" panose="020B0400000000000000" charset="-122"/>
                  <a:ea typeface="PingFang SC Semibold" panose="020B0400000000000000" charset="-122"/>
                </a:endParaRPr>
              </a:p>
            </p:txBody>
          </p:sp>
          <p:sp>
            <p:nvSpPr>
              <p:cNvPr id="4" name="圆角矩形 3"/>
              <p:cNvSpPr/>
              <p:nvPr/>
            </p:nvSpPr>
            <p:spPr>
              <a:xfrm>
                <a:off x="7688" y="5574"/>
                <a:ext cx="3222" cy="1056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SS </a:t>
                </a:r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输入映射</a:t>
                </a:r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层</a:t>
                </a:r>
                <a:endParaRPr lang="zh-CN" altLang="en-US" sz="2000" b="1">
                  <a:solidFill>
                    <a:schemeClr val="tx1"/>
                  </a:solidFill>
                  <a:latin typeface="PingFang SC Semibold" panose="020B0400000000000000" charset="-122"/>
                  <a:ea typeface="PingFang SC Semibold" panose="020B0400000000000000" charset="-122"/>
                </a:endParaRPr>
              </a:p>
            </p:txBody>
          </p:sp>
          <p:sp>
            <p:nvSpPr>
              <p:cNvPr id="5" name="圆角矩形 4"/>
              <p:cNvSpPr/>
              <p:nvPr/>
            </p:nvSpPr>
            <p:spPr>
              <a:xfrm>
                <a:off x="11709" y="5324"/>
                <a:ext cx="3222" cy="1056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TT </a:t>
                </a:r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输入映射</a:t>
                </a:r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层</a:t>
                </a:r>
                <a:endParaRPr lang="zh-CN" altLang="en-US" sz="2000" b="1">
                  <a:solidFill>
                    <a:schemeClr val="tx1"/>
                  </a:solidFill>
                  <a:latin typeface="PingFang SC Semibold" panose="020B0400000000000000" charset="-122"/>
                  <a:ea typeface="PingFang SC Semibold" panose="020B0400000000000000" charset="-122"/>
                </a:endParaRPr>
              </a:p>
            </p:txBody>
          </p:sp>
          <p:cxnSp>
            <p:nvCxnSpPr>
              <p:cNvPr id="6" name="直接箭头连接符 5"/>
              <p:cNvCxnSpPr>
                <a:stCxn id="4" idx="0"/>
                <a:endCxn id="2" idx="2"/>
              </p:cNvCxnSpPr>
              <p:nvPr/>
            </p:nvCxnSpPr>
            <p:spPr>
              <a:xfrm flipV="1">
                <a:off x="9299" y="4595"/>
                <a:ext cx="0" cy="97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7" name="肘形连接符 6"/>
              <p:cNvCxnSpPr>
                <a:stCxn id="3" idx="0"/>
              </p:cNvCxnSpPr>
              <p:nvPr/>
            </p:nvCxnSpPr>
            <p:spPr>
              <a:xfrm rot="16200000">
                <a:off x="7152" y="3172"/>
                <a:ext cx="277" cy="4027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" name="肘形连接符 7"/>
              <p:cNvCxnSpPr>
                <a:stCxn id="5" idx="0"/>
              </p:cNvCxnSpPr>
              <p:nvPr/>
            </p:nvCxnSpPr>
            <p:spPr>
              <a:xfrm rot="16200000" flipV="1">
                <a:off x="11164" y="3169"/>
                <a:ext cx="285" cy="4025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" name="圆角矩形 8"/>
              <p:cNvSpPr/>
              <p:nvPr/>
            </p:nvSpPr>
            <p:spPr>
              <a:xfrm>
                <a:off x="3667" y="1632"/>
                <a:ext cx="3617" cy="1056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OB </a:t>
                </a:r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输出系数</a:t>
                </a:r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矩阵</a:t>
                </a:r>
                <a:endParaRPr lang="zh-CN" altLang="en-US" sz="2000" b="1">
                  <a:solidFill>
                    <a:schemeClr val="tx1"/>
                  </a:solidFill>
                  <a:latin typeface="PingFang SC Semibold" panose="020B0400000000000000" charset="-122"/>
                  <a:ea typeface="PingFang SC Semibold" panose="020B0400000000000000" charset="-122"/>
                </a:endParaRPr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7497" y="1350"/>
                <a:ext cx="3617" cy="1056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SS </a:t>
                </a:r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输出系数</a:t>
                </a:r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矩阵</a:t>
                </a:r>
                <a:endParaRPr lang="zh-CN" altLang="en-US" sz="2000" b="1">
                  <a:solidFill>
                    <a:schemeClr val="tx1"/>
                  </a:solidFill>
                  <a:latin typeface="PingFang SC Semibold" panose="020B0400000000000000" charset="-122"/>
                  <a:ea typeface="PingFang SC Semibold" panose="020B0400000000000000" charset="-122"/>
                </a:endParaRPr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11301" y="1632"/>
                <a:ext cx="3617" cy="1056"/>
              </a:xfrm>
              <a:prstGeom prst="round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TT </a:t>
                </a:r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输出系数</a:t>
                </a:r>
                <a:r>
                  <a:rPr lang="zh-CN" altLang="en-US" sz="2000" b="1">
                    <a:solidFill>
                      <a:schemeClr val="tx1"/>
                    </a:solidFill>
                    <a:latin typeface="PingFang SC Semibold" panose="020B0400000000000000" charset="-122"/>
                    <a:ea typeface="PingFang SC Semibold" panose="020B0400000000000000" charset="-122"/>
                  </a:rPr>
                  <a:t>矩阵</a:t>
                </a:r>
                <a:endParaRPr lang="zh-CN" altLang="en-US" sz="2000" b="1">
                  <a:solidFill>
                    <a:schemeClr val="tx1"/>
                  </a:solidFill>
                  <a:latin typeface="PingFang SC Semibold" panose="020B0400000000000000" charset="-122"/>
                  <a:ea typeface="PingFang SC Semibold" panose="020B0400000000000000" charset="-122"/>
                </a:endParaRPr>
              </a:p>
            </p:txBody>
          </p:sp>
          <p:cxnSp>
            <p:nvCxnSpPr>
              <p:cNvPr id="12" name="直接箭头连接符 11"/>
              <p:cNvCxnSpPr>
                <a:stCxn id="2" idx="0"/>
                <a:endCxn id="10" idx="2"/>
              </p:cNvCxnSpPr>
              <p:nvPr/>
            </p:nvCxnSpPr>
            <p:spPr>
              <a:xfrm flipV="1">
                <a:off x="9299" y="2406"/>
                <a:ext cx="7" cy="999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  <a:tailEnd type="arrow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" name="肘形连接符 12"/>
              <p:cNvCxnSpPr>
                <a:stCxn id="9" idx="2"/>
              </p:cNvCxnSpPr>
              <p:nvPr/>
            </p:nvCxnSpPr>
            <p:spPr>
              <a:xfrm rot="5400000" flipV="1">
                <a:off x="7205" y="958"/>
                <a:ext cx="333" cy="3791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4" name="肘形连接符 13"/>
              <p:cNvCxnSpPr>
                <a:stCxn id="11" idx="2"/>
              </p:cNvCxnSpPr>
              <p:nvPr/>
            </p:nvCxnSpPr>
            <p:spPr>
              <a:xfrm rot="5400000">
                <a:off x="11041" y="947"/>
                <a:ext cx="329" cy="3809"/>
              </a:xfrm>
              <a:prstGeom prst="bentConnector2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5" name="文本框 14"/>
              <p:cNvSpPr txBox="1"/>
              <p:nvPr/>
            </p:nvSpPr>
            <p:spPr>
              <a:xfrm>
                <a:off x="3874" y="6602"/>
                <a:ext cx="2807" cy="111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:r>
                  <a:rPr lang="zh-CN" altLang="en-US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电子商务应用</a:t>
                </a:r>
                <a:endParaRPr lang="zh-CN" altLang="en-US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endParaRPr>
              </a:p>
              <a:p>
                <a:pPr algn="ctr"/>
                <a:r>
                  <a:rPr lang="zh-CN" altLang="en-US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数据</a:t>
                </a:r>
                <a:r>
                  <a:rPr lang="en-US" altLang="zh-CN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 </a:t>
                </a:r>
                <a:r>
                  <a:rPr lang="en-US" altLang="zh-CN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OB</a:t>
                </a:r>
                <a:endParaRPr lang="en-US" altLang="zh-CN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endParaRPr>
              </a:p>
            </p:txBody>
          </p:sp>
          <p:sp>
            <p:nvSpPr>
              <p:cNvPr id="16" name="文本框 15"/>
              <p:cNvSpPr txBox="1"/>
              <p:nvPr/>
            </p:nvSpPr>
            <p:spPr>
              <a:xfrm>
                <a:off x="7895" y="6880"/>
                <a:ext cx="2807" cy="111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:r>
                  <a:rPr lang="zh-CN" altLang="en-US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在线商品交易</a:t>
                </a:r>
                <a:endParaRPr lang="zh-CN" altLang="en-US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endParaRPr>
              </a:p>
              <a:p>
                <a:pPr algn="ctr"/>
                <a:r>
                  <a:rPr lang="zh-CN" altLang="en-US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数据</a:t>
                </a:r>
                <a:r>
                  <a:rPr lang="en-US" altLang="zh-CN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 </a:t>
                </a:r>
                <a:r>
                  <a:rPr lang="en-US" altLang="zh-CN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SS</a:t>
                </a:r>
                <a:endParaRPr lang="en-US" altLang="zh-CN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endParaRPr>
              </a:p>
            </p:txBody>
          </p:sp>
          <p:sp>
            <p:nvSpPr>
              <p:cNvPr id="17" name="文本框 16"/>
              <p:cNvSpPr txBox="1"/>
              <p:nvPr/>
            </p:nvSpPr>
            <p:spPr>
              <a:xfrm>
                <a:off x="11690" y="6602"/>
                <a:ext cx="3221" cy="111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ctr"/>
                <a:r>
                  <a:rPr lang="zh-CN" altLang="en-US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火车票预定</a:t>
                </a:r>
                <a:r>
                  <a:rPr lang="zh-CN" altLang="en-US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系统</a:t>
                </a:r>
                <a:endParaRPr lang="zh-CN" altLang="en-US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endParaRPr>
              </a:p>
              <a:p>
                <a:pPr algn="ctr"/>
                <a:r>
                  <a:rPr lang="zh-CN" altLang="en-US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数据</a:t>
                </a:r>
                <a:r>
                  <a:rPr lang="en-US" altLang="zh-CN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 </a:t>
                </a:r>
                <a:r>
                  <a:rPr lang="en-US" altLang="zh-CN" sz="2000" b="1">
                    <a:latin typeface="PingFang SC Semibold" panose="020B0400000000000000" charset="-122"/>
                    <a:ea typeface="PingFang SC Semibold" panose="020B0400000000000000" charset="-122"/>
                    <a:sym typeface="+mn-ea"/>
                  </a:rPr>
                  <a:t>TT</a:t>
                </a:r>
                <a:endParaRPr lang="en-US" altLang="zh-CN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endParaRPr>
              </a:p>
            </p:txBody>
          </p:sp>
        </p:grpSp>
        <p:grpSp>
          <p:nvGrpSpPr>
            <p:cNvPr id="46" name="组合 45"/>
            <p:cNvGrpSpPr/>
            <p:nvPr/>
          </p:nvGrpSpPr>
          <p:grpSpPr>
            <a:xfrm>
              <a:off x="3988" y="8841"/>
              <a:ext cx="6382" cy="1235"/>
              <a:chOff x="3354" y="8699"/>
              <a:chExt cx="6382" cy="1235"/>
            </a:xfrm>
          </p:grpSpPr>
          <p:pic>
            <p:nvPicPr>
              <p:cNvPr id="42" name="图片 41" descr="截屏2026-04-07 20.27.0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3354" y="8705"/>
                <a:ext cx="2206" cy="120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perspectiveContrastingRightFacing"/>
                <a:lightRig rig="threePt" dir="t"/>
              </a:scene3d>
            </p:spPr>
          </p:pic>
          <p:pic>
            <p:nvPicPr>
              <p:cNvPr id="24" name="图片 23" descr="截屏2026-04-07 20.23.2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78" y="8705"/>
                <a:ext cx="2417" cy="120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perspectiveContrastingRightFacing"/>
                <a:lightRig rig="threePt" dir="t"/>
              </a:scene3d>
            </p:spPr>
          </p:pic>
          <p:pic>
            <p:nvPicPr>
              <p:cNvPr id="33" name="图片 32" descr="截屏2026-04-07 20.25.0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99" y="8713"/>
                <a:ext cx="2239" cy="120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perspectiveContrastingRightFacing"/>
                <a:lightRig rig="threePt" dir="t"/>
              </a:scene3d>
            </p:spPr>
          </p:pic>
          <p:pic>
            <p:nvPicPr>
              <p:cNvPr id="29" name="图片 28" descr="截屏2026-04-07 20.23.2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764" y="8699"/>
                <a:ext cx="2417" cy="120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perspectiveContrastingRightFacing"/>
                <a:lightRig rig="threePt" dir="t"/>
              </a:scene3d>
            </p:spPr>
          </p:pic>
          <p:pic>
            <p:nvPicPr>
              <p:cNvPr id="39" name="图片 38" descr="截屏2026-04-07 20.27.0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5279" y="8732"/>
                <a:ext cx="2206" cy="120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perspectiveContrastingRightFacing"/>
                <a:lightRig rig="threePt" dir="t"/>
              </a:scene3d>
            </p:spPr>
          </p:pic>
          <p:pic>
            <p:nvPicPr>
              <p:cNvPr id="26" name="图片 25" descr="截屏2026-04-07 20.23.2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730" y="8731"/>
                <a:ext cx="2417" cy="120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perspectiveContrastingRightFacing"/>
                <a:lightRig rig="threePt" dir="t"/>
              </a:scene3d>
            </p:spPr>
          </p:pic>
          <p:pic>
            <p:nvPicPr>
              <p:cNvPr id="28" name="图片 27" descr="截屏2026-04-07 20.23.22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190" y="8731"/>
                <a:ext cx="2417" cy="120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perspectiveContrastingRightFacing"/>
                <a:lightRig rig="threePt" dir="t"/>
              </a:scene3d>
            </p:spPr>
          </p:pic>
          <p:pic>
            <p:nvPicPr>
              <p:cNvPr id="34" name="图片 33" descr="截屏2026-04-07 20.25.0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5" y="8731"/>
                <a:ext cx="2239" cy="120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perspectiveContrastingRightFacing"/>
                <a:lightRig rig="threePt" dir="t"/>
              </a:scene3d>
            </p:spPr>
          </p:pic>
          <p:pic>
            <p:nvPicPr>
              <p:cNvPr id="41" name="图片 40" descr="截屏2026-04-07 20.27.0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113" y="8706"/>
                <a:ext cx="2206" cy="120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perspectiveContrastingRightFacing"/>
                <a:lightRig rig="threePt" dir="t"/>
              </a:scene3d>
            </p:spPr>
          </p:pic>
          <p:pic>
            <p:nvPicPr>
              <p:cNvPr id="40" name="图片 39" descr="截屏2026-04-07 20.27.08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7530" y="8713"/>
                <a:ext cx="2206" cy="120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scene3d>
                <a:camera prst="perspectiveContrastingRightFacing"/>
                <a:lightRig rig="threePt" dir="t"/>
              </a:scene3d>
            </p:spPr>
          </p:pic>
        </p:grpSp>
        <p:cxnSp>
          <p:nvCxnSpPr>
            <p:cNvPr id="44" name="直接箭头连接符 43"/>
            <p:cNvCxnSpPr/>
            <p:nvPr/>
          </p:nvCxnSpPr>
          <p:spPr>
            <a:xfrm flipV="1">
              <a:off x="11205" y="7296"/>
              <a:ext cx="11" cy="72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5" name="图片 34" descr="截屏2026-04-07 20.25.0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08" y="8281"/>
              <a:ext cx="2239" cy="1202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perspectiveContrastingRightFacing"/>
              <a:lightRig rig="threePt" dir="t"/>
            </a:scene3d>
          </p:spPr>
        </p:pic>
        <p:cxnSp>
          <p:nvCxnSpPr>
            <p:cNvPr id="47" name="直接箭头连接符 46"/>
            <p:cNvCxnSpPr/>
            <p:nvPr/>
          </p:nvCxnSpPr>
          <p:spPr>
            <a:xfrm flipV="1">
              <a:off x="12923" y="7384"/>
              <a:ext cx="834" cy="618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 flipH="1" flipV="1">
              <a:off x="8692" y="7384"/>
              <a:ext cx="805" cy="631"/>
            </a:xfrm>
            <a:prstGeom prst="straightConnector1">
              <a:avLst/>
            </a:prstGeom>
            <a:ln w="38100" cmpd="sng">
              <a:solidFill>
                <a:schemeClr val="tx1"/>
              </a:solidFill>
              <a:prstDash val="sysDot"/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4874260" y="1374775"/>
            <a:ext cx="3190240" cy="3571875"/>
            <a:chOff x="7676" y="2165"/>
            <a:chExt cx="5024" cy="5625"/>
          </a:xfrm>
        </p:grpSpPr>
        <p:sp>
          <p:nvSpPr>
            <p:cNvPr id="4" name="圆角矩形 3"/>
            <p:cNvSpPr/>
            <p:nvPr/>
          </p:nvSpPr>
          <p:spPr>
            <a:xfrm>
              <a:off x="7676" y="4383"/>
              <a:ext cx="3222" cy="1190"/>
            </a:xfrm>
            <a:prstGeom prst="round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 b="1">
                  <a:solidFill>
                    <a:schemeClr val="tx1"/>
                  </a:solidFill>
                  <a:latin typeface="PingFang SC Semibold" panose="020B0400000000000000" charset="-122"/>
                  <a:ea typeface="PingFang SC Semibold" panose="020B0400000000000000" charset="-122"/>
                </a:rPr>
                <a:t>共享骨干网络</a:t>
              </a:r>
              <a:endPara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sp>
          <p:nvSpPr>
            <p:cNvPr id="6" name="圆角矩形 5"/>
            <p:cNvSpPr/>
            <p:nvPr/>
          </p:nvSpPr>
          <p:spPr>
            <a:xfrm>
              <a:off x="7676" y="6148"/>
              <a:ext cx="3222" cy="105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 b="1">
                  <a:solidFill>
                    <a:schemeClr val="tx1"/>
                  </a:solidFill>
                  <a:latin typeface="PingFang SC Semibold" panose="020B0400000000000000" charset="-122"/>
                  <a:ea typeface="PingFang SC Semibold" panose="020B0400000000000000" charset="-122"/>
                </a:rPr>
                <a:t>输入映射</a:t>
              </a:r>
              <a:r>
                <a:rPr lang="zh-CN" altLang="en-US" sz="2000" b="1">
                  <a:solidFill>
                    <a:schemeClr val="tx1"/>
                  </a:solidFill>
                  <a:latin typeface="PingFang SC Semibold" panose="020B0400000000000000" charset="-122"/>
                  <a:ea typeface="PingFang SC Semibold" panose="020B0400000000000000" charset="-122"/>
                </a:rPr>
                <a:t>层</a:t>
              </a:r>
              <a:endPara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cxnSp>
          <p:nvCxnSpPr>
            <p:cNvPr id="8" name="直接箭头连接符 7"/>
            <p:cNvCxnSpPr>
              <a:stCxn id="6" idx="0"/>
              <a:endCxn id="4" idx="2"/>
            </p:cNvCxnSpPr>
            <p:nvPr/>
          </p:nvCxnSpPr>
          <p:spPr>
            <a:xfrm flipV="1">
              <a:off x="9287" y="5573"/>
              <a:ext cx="0" cy="5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" name="圆角矩形 11"/>
            <p:cNvSpPr/>
            <p:nvPr/>
          </p:nvSpPr>
          <p:spPr>
            <a:xfrm>
              <a:off x="7676" y="2743"/>
              <a:ext cx="3220" cy="1056"/>
            </a:xfrm>
            <a:prstGeom prst="round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2000" b="1">
                  <a:solidFill>
                    <a:schemeClr val="tx1"/>
                  </a:solidFill>
                  <a:latin typeface="PingFang SC Semibold" panose="020B0400000000000000" charset="-122"/>
                  <a:ea typeface="PingFang SC Semibold" panose="020B0400000000000000" charset="-122"/>
                </a:rPr>
                <a:t>输出系数</a:t>
              </a:r>
              <a:r>
                <a:rPr lang="zh-CN" altLang="en-US" sz="2000" b="1">
                  <a:solidFill>
                    <a:schemeClr val="tx1"/>
                  </a:solidFill>
                  <a:latin typeface="PingFang SC Semibold" panose="020B0400000000000000" charset="-122"/>
                  <a:ea typeface="PingFang SC Semibold" panose="020B0400000000000000" charset="-122"/>
                </a:rPr>
                <a:t>矩阵</a:t>
              </a:r>
              <a:endPara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endParaRPr>
            </a:p>
          </p:txBody>
        </p:sp>
        <p:cxnSp>
          <p:nvCxnSpPr>
            <p:cNvPr id="14" name="直接箭头连接符 13"/>
            <p:cNvCxnSpPr>
              <a:endCxn id="12" idx="2"/>
            </p:cNvCxnSpPr>
            <p:nvPr/>
          </p:nvCxnSpPr>
          <p:spPr>
            <a:xfrm flipV="1">
              <a:off x="9279" y="3799"/>
              <a:ext cx="7" cy="5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1" name="文本框 20"/>
            <p:cNvSpPr txBox="1"/>
            <p:nvPr/>
          </p:nvSpPr>
          <p:spPr>
            <a:xfrm>
              <a:off x="11102" y="4664"/>
              <a:ext cx="1598" cy="6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txBody>
            <a:bodyPr wrap="square" rtlCol="0" anchor="t">
              <a:spAutoFit/>
            </a:bodyPr>
            <a:p>
              <a:pPr algn="ctr"/>
              <a:r>
                <a:rPr lang="zh-CN" altLang="en-US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rPr>
                <a:t>冻结</a:t>
              </a:r>
              <a:endPara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V="1">
              <a:off x="9294" y="7216"/>
              <a:ext cx="0" cy="5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/>
            <p:nvPr/>
          </p:nvCxnSpPr>
          <p:spPr>
            <a:xfrm flipV="1">
              <a:off x="9294" y="2165"/>
              <a:ext cx="0" cy="57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圆角矩形 1"/>
          <p:cNvSpPr/>
          <p:nvPr/>
        </p:nvSpPr>
        <p:spPr>
          <a:xfrm>
            <a:off x="5006975" y="4843780"/>
            <a:ext cx="2045970" cy="75565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共享骨干网络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12" name="直接箭头连接符 11"/>
          <p:cNvCxnSpPr>
            <a:stCxn id="2" idx="0"/>
            <a:endCxn id="23" idx="2"/>
          </p:cNvCxnSpPr>
          <p:nvPr/>
        </p:nvCxnSpPr>
        <p:spPr>
          <a:xfrm flipV="1">
            <a:off x="6029960" y="4044950"/>
            <a:ext cx="0" cy="79883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124065" y="5022215"/>
            <a:ext cx="1014730" cy="3987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冻结</a:t>
            </a:r>
            <a:endParaRPr lang="zh-CN" altLang="en-US" sz="2000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4936490" y="1666875"/>
            <a:ext cx="2187575" cy="2745105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205345" y="2839720"/>
            <a:ext cx="1014730" cy="398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可</a:t>
            </a:r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训练</a:t>
            </a:r>
            <a:endParaRPr lang="zh-CN" altLang="en-US" sz="2000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23" name="梯形 22"/>
          <p:cNvSpPr/>
          <p:nvPr/>
        </p:nvSpPr>
        <p:spPr>
          <a:xfrm>
            <a:off x="5134610" y="3566795"/>
            <a:ext cx="1790065" cy="478155"/>
          </a:xfrm>
          <a:prstGeom prst="trapezoid">
            <a:avLst>
              <a:gd name="adj" fmla="val 93625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334E55B0-647D-440b-865C-3EC943EB4CBC-20" descr="wpsoffic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6570" y="3679190"/>
            <a:ext cx="905510" cy="253365"/>
          </a:xfrm>
          <a:prstGeom prst="rect">
            <a:avLst/>
          </a:prstGeom>
        </p:spPr>
      </p:pic>
      <p:cxnSp>
        <p:nvCxnSpPr>
          <p:cNvPr id="27" name="直接箭头连接符 26"/>
          <p:cNvCxnSpPr/>
          <p:nvPr/>
        </p:nvCxnSpPr>
        <p:spPr>
          <a:xfrm flipV="1">
            <a:off x="6029960" y="3218815"/>
            <a:ext cx="0" cy="36004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梯形 29"/>
          <p:cNvSpPr/>
          <p:nvPr/>
        </p:nvSpPr>
        <p:spPr>
          <a:xfrm rot="10800000">
            <a:off x="5134610" y="1852930"/>
            <a:ext cx="1790065" cy="478155"/>
          </a:xfrm>
          <a:prstGeom prst="trapezoid">
            <a:avLst>
              <a:gd name="adj" fmla="val 93625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箭头连接符 30"/>
          <p:cNvCxnSpPr/>
          <p:nvPr/>
        </p:nvCxnSpPr>
        <p:spPr>
          <a:xfrm flipV="1">
            <a:off x="6029960" y="794385"/>
            <a:ext cx="0" cy="105664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V="1">
            <a:off x="6029960" y="2331085"/>
            <a:ext cx="0" cy="36004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5576570" y="2692400"/>
            <a:ext cx="905510" cy="527050"/>
          </a:xfrm>
          <a:prstGeom prst="rect">
            <a:avLst/>
          </a:prstGeom>
          <a:solidFill>
            <a:srgbClr val="E6E6E6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334E55B0-647D-440b-865C-3EC943EB4CBC-19" descr="wpsoffic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530" y="1971040"/>
            <a:ext cx="528955" cy="252095"/>
          </a:xfrm>
          <a:prstGeom prst="rect">
            <a:avLst/>
          </a:prstGeom>
        </p:spPr>
      </p:pic>
      <p:pic>
        <p:nvPicPr>
          <p:cNvPr id="38" name="334E55B0-647D-440b-865C-3EC943EB4CBC-18" descr="wpsoffi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470" y="2865120"/>
            <a:ext cx="218440" cy="179705"/>
          </a:xfrm>
          <a:prstGeom prst="rect">
            <a:avLst/>
          </a:prstGeom>
        </p:spPr>
      </p:pic>
      <p:grpSp>
        <p:nvGrpSpPr>
          <p:cNvPr id="52" name="组合 51"/>
          <p:cNvGrpSpPr/>
          <p:nvPr/>
        </p:nvGrpSpPr>
        <p:grpSpPr>
          <a:xfrm rot="0">
            <a:off x="5848350" y="1142365"/>
            <a:ext cx="359410" cy="359410"/>
            <a:chOff x="3992" y="2019"/>
            <a:chExt cx="566" cy="566"/>
          </a:xfrm>
        </p:grpSpPr>
        <p:sp>
          <p:nvSpPr>
            <p:cNvPr id="49" name="椭圆 48"/>
            <p:cNvSpPr/>
            <p:nvPr/>
          </p:nvSpPr>
          <p:spPr>
            <a:xfrm>
              <a:off x="3992" y="2019"/>
              <a:ext cx="567" cy="56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>
                      <a:lumMod val="9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50" name="直接连接符 49"/>
            <p:cNvCxnSpPr>
              <a:stCxn id="49" idx="2"/>
              <a:endCxn id="49" idx="6"/>
            </p:cNvCxnSpPr>
            <p:nvPr/>
          </p:nvCxnSpPr>
          <p:spPr>
            <a:xfrm>
              <a:off x="3992" y="2303"/>
              <a:ext cx="56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49" idx="4"/>
              <a:endCxn id="49" idx="0"/>
            </p:cNvCxnSpPr>
            <p:nvPr/>
          </p:nvCxnSpPr>
          <p:spPr>
            <a:xfrm flipV="1">
              <a:off x="4276" y="2019"/>
              <a:ext cx="0" cy="56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53" name="肘形连接符 52"/>
          <p:cNvCxnSpPr/>
          <p:nvPr/>
        </p:nvCxnSpPr>
        <p:spPr>
          <a:xfrm rot="16200000" flipV="1">
            <a:off x="4280535" y="2890520"/>
            <a:ext cx="3309620" cy="174625"/>
          </a:xfrm>
          <a:prstGeom prst="bentConnector4">
            <a:avLst>
              <a:gd name="adj1" fmla="val 642"/>
              <a:gd name="adj2" fmla="val 861272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4069715" y="2331085"/>
            <a:ext cx="359410" cy="1343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algn="ctr"/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残差</a:t>
            </a:r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连接</a:t>
            </a:r>
            <a:endParaRPr lang="zh-CN" altLang="en-US" sz="2000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6022975" y="5599340"/>
            <a:ext cx="0" cy="36512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900430" y="-2637155"/>
            <a:ext cx="1258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任务描述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151505" y="-1900555"/>
            <a:ext cx="12585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Agent </a:t>
            </a:r>
            <a:r>
              <a:rPr lang="en-US" altLang="zh-CN"/>
              <a:t>Memory</a:t>
            </a:r>
            <a:endParaRPr lang="en-US" altLang="zh-CN"/>
          </a:p>
        </p:txBody>
      </p:sp>
      <p:sp>
        <p:nvSpPr>
          <p:cNvPr id="6" name="文本框 5"/>
          <p:cNvSpPr txBox="1"/>
          <p:nvPr/>
        </p:nvSpPr>
        <p:spPr>
          <a:xfrm>
            <a:off x="2747645" y="-2453005"/>
            <a:ext cx="1410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超参</a:t>
            </a:r>
            <a:r>
              <a:rPr lang="zh-CN" altLang="en-US"/>
              <a:t>元数据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040765" y="-3270885"/>
            <a:ext cx="1258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领域知识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783455" y="-3824605"/>
            <a:ext cx="125857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System </a:t>
            </a:r>
            <a:r>
              <a:rPr lang="en-US" altLang="zh-CN"/>
              <a:t>Prompt</a:t>
            </a:r>
            <a:endParaRPr lang="en-US" altLang="zh-CN"/>
          </a:p>
          <a:p>
            <a:pPr algn="ctr"/>
            <a:r>
              <a:rPr lang="en-US" altLang="zh-CN"/>
              <a:t>（</a:t>
            </a:r>
            <a:r>
              <a:rPr lang="en-US" altLang="zh-CN"/>
              <a:t>CoT）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783455" y="-2453005"/>
            <a:ext cx="1258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上下文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8865235" y="-2401570"/>
            <a:ext cx="1258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配置</a:t>
            </a:r>
            <a:r>
              <a:rPr lang="en-US" altLang="zh-CN"/>
              <a:t>JSON</a:t>
            </a:r>
            <a:endParaRPr lang="en-US" altLang="zh-CN"/>
          </a:p>
        </p:txBody>
      </p:sp>
      <p:sp>
        <p:nvSpPr>
          <p:cNvPr id="14" name="文本框 13"/>
          <p:cNvSpPr txBox="1"/>
          <p:nvPr/>
        </p:nvSpPr>
        <p:spPr>
          <a:xfrm>
            <a:off x="8865235" y="-1026160"/>
            <a:ext cx="1258570" cy="368300"/>
          </a:xfrm>
          <a:prstGeom prst="rect">
            <a:avLst/>
          </a:prstGeom>
          <a:solidFill>
            <a:srgbClr val="E6E6FA"/>
          </a:solidFill>
        </p:spPr>
        <p:txBody>
          <a:bodyPr wrap="square" rtlCol="0">
            <a:spAutoFit/>
          </a:bodyPr>
          <a:p>
            <a:pPr algn="ctr"/>
            <a:r>
              <a:rPr lang="en-US" altLang="zh-CN"/>
              <a:t>Validator</a:t>
            </a:r>
            <a:endParaRPr lang="en-US" altLang="zh-CN"/>
          </a:p>
        </p:txBody>
      </p:sp>
      <p:sp>
        <p:nvSpPr>
          <p:cNvPr id="15" name="文本框 14"/>
          <p:cNvSpPr txBox="1"/>
          <p:nvPr/>
        </p:nvSpPr>
        <p:spPr>
          <a:xfrm>
            <a:off x="1040765" y="-1851025"/>
            <a:ext cx="1588770" cy="368300"/>
          </a:xfrm>
          <a:prstGeom prst="rect">
            <a:avLst/>
          </a:prstGeom>
          <a:solidFill>
            <a:srgbClr val="E6E6FA"/>
          </a:solidFill>
        </p:spPr>
        <p:txBody>
          <a:bodyPr wrap="square" rtlCol="0">
            <a:spAutoFit/>
          </a:bodyPr>
          <a:p>
            <a:pPr algn="ctr"/>
            <a:r>
              <a:rPr lang="en-US" altLang="zh-CN"/>
              <a:t>SQLite </a:t>
            </a:r>
            <a:r>
              <a:rPr lang="en-US" altLang="zh-CN"/>
              <a:t>RAG</a:t>
            </a:r>
            <a:endParaRPr lang="en-US" altLang="zh-CN"/>
          </a:p>
        </p:txBody>
      </p:sp>
      <p:sp>
        <p:nvSpPr>
          <p:cNvPr id="16" name="文本框 15"/>
          <p:cNvSpPr txBox="1"/>
          <p:nvPr/>
        </p:nvSpPr>
        <p:spPr>
          <a:xfrm>
            <a:off x="725170" y="-4036695"/>
            <a:ext cx="1258570" cy="368300"/>
          </a:xfrm>
          <a:prstGeom prst="rect">
            <a:avLst/>
          </a:prstGeom>
          <a:solidFill>
            <a:srgbClr val="E6E6FA"/>
          </a:solidFill>
        </p:spPr>
        <p:txBody>
          <a:bodyPr wrap="square" rtlCol="0">
            <a:spAutoFit/>
          </a:bodyPr>
          <a:p>
            <a:pPr algn="ctr"/>
            <a:r>
              <a:rPr lang="zh-CN" altLang="en-US"/>
              <a:t>联网</a:t>
            </a:r>
            <a:r>
              <a:rPr lang="zh-CN" altLang="en-US"/>
              <a:t>搜索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666230" y="-2402840"/>
            <a:ext cx="1410970" cy="368300"/>
          </a:xfrm>
          <a:prstGeom prst="rect">
            <a:avLst/>
          </a:prstGeom>
          <a:solidFill>
            <a:srgbClr val="E6E6FA"/>
          </a:solidFill>
        </p:spPr>
        <p:txBody>
          <a:bodyPr wrap="square" rtlCol="0">
            <a:spAutoFit/>
          </a:bodyPr>
          <a:p>
            <a:pPr algn="ctr"/>
            <a:r>
              <a:rPr lang="en-US" altLang="zh-CN"/>
              <a:t>LLM </a:t>
            </a:r>
            <a:r>
              <a:rPr lang="en-US" altLang="zh-CN"/>
              <a:t>Agent</a:t>
            </a:r>
            <a:endParaRPr lang="en-US" altLang="zh-CN"/>
          </a:p>
        </p:txBody>
      </p:sp>
      <p:cxnSp>
        <p:nvCxnSpPr>
          <p:cNvPr id="18" name="直接箭头连接符 17"/>
          <p:cNvCxnSpPr/>
          <p:nvPr/>
        </p:nvCxnSpPr>
        <p:spPr>
          <a:xfrm>
            <a:off x="1529715" y="-3587750"/>
            <a:ext cx="0" cy="236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>
            <a:off x="1677670" y="-2202180"/>
            <a:ext cx="0" cy="2362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2747645" y="-1635125"/>
            <a:ext cx="2857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2303145" y="-2401570"/>
            <a:ext cx="2857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4528185" y="-1841500"/>
            <a:ext cx="333375" cy="2063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6120130" y="-2219325"/>
            <a:ext cx="2857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8328025" y="-2219325"/>
            <a:ext cx="2857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2546985" y="-3084195"/>
            <a:ext cx="2175510" cy="4813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>
            <a:off x="4344035" y="-2219325"/>
            <a:ext cx="2857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9494520" y="-1701800"/>
            <a:ext cx="0" cy="343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/>
          <p:nvPr/>
        </p:nvCxnSpPr>
        <p:spPr>
          <a:xfrm>
            <a:off x="10377805" y="-858520"/>
            <a:ext cx="2857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 flipV="1">
            <a:off x="7380605" y="-1739900"/>
            <a:ext cx="1087755" cy="8813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圆角矩形 32"/>
          <p:cNvSpPr/>
          <p:nvPr/>
        </p:nvSpPr>
        <p:spPr>
          <a:xfrm>
            <a:off x="1677670" y="2799715"/>
            <a:ext cx="1341755" cy="553085"/>
          </a:xfrm>
          <a:prstGeom prst="roundRect">
            <a:avLst/>
          </a:prstGeom>
          <a:solidFill>
            <a:srgbClr val="E6E6F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ML </a:t>
            </a:r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任务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3441700" y="1913255"/>
            <a:ext cx="1341755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领域</a:t>
            </a:r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知识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35" name="直接箭头连接符 34"/>
          <p:cNvCxnSpPr>
            <a:stCxn id="33" idx="3"/>
          </p:cNvCxnSpPr>
          <p:nvPr/>
        </p:nvCxnSpPr>
        <p:spPr>
          <a:xfrm>
            <a:off x="3019425" y="3076575"/>
            <a:ext cx="3683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圆角矩形 35"/>
          <p:cNvSpPr/>
          <p:nvPr/>
        </p:nvSpPr>
        <p:spPr>
          <a:xfrm>
            <a:off x="3387725" y="2799715"/>
            <a:ext cx="1548765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超参</a:t>
            </a:r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元数据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5304790" y="2799715"/>
            <a:ext cx="1258570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上下文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4936490" y="3076575"/>
            <a:ext cx="3683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1" name="组合 40"/>
          <p:cNvGrpSpPr/>
          <p:nvPr/>
        </p:nvGrpSpPr>
        <p:grpSpPr>
          <a:xfrm>
            <a:off x="3144520" y="3707130"/>
            <a:ext cx="1998345" cy="1165860"/>
            <a:chOff x="1605" y="9362"/>
            <a:chExt cx="3147" cy="1836"/>
          </a:xfrm>
        </p:grpSpPr>
        <p:pic>
          <p:nvPicPr>
            <p:cNvPr id="39" name="图片 38" descr="数据库,数据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650" y="9362"/>
              <a:ext cx="1134" cy="1134"/>
            </a:xfrm>
            <a:prstGeom prst="rect">
              <a:avLst/>
            </a:prstGeom>
          </p:spPr>
        </p:pic>
        <p:sp>
          <p:nvSpPr>
            <p:cNvPr id="40" name="文本框 39"/>
            <p:cNvSpPr txBox="1"/>
            <p:nvPr/>
          </p:nvSpPr>
          <p:spPr>
            <a:xfrm>
              <a:off x="1605" y="10570"/>
              <a:ext cx="3147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zh-CN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rPr>
                <a:t>Agent </a:t>
              </a:r>
              <a:r>
                <a:rPr lang="en-US" altLang="zh-CN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rPr>
                <a:t>Memory</a:t>
              </a:r>
              <a:endParaRPr lang="en-US" altLang="zh-CN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endParaRPr>
            </a:p>
          </p:txBody>
        </p:sp>
      </p:grpSp>
      <p:cxnSp>
        <p:nvCxnSpPr>
          <p:cNvPr id="42" name="肘形连接符 41"/>
          <p:cNvCxnSpPr>
            <a:stCxn id="33" idx="2"/>
          </p:cNvCxnSpPr>
          <p:nvPr/>
        </p:nvCxnSpPr>
        <p:spPr>
          <a:xfrm rot="5400000" flipV="1">
            <a:off x="2352040" y="3348990"/>
            <a:ext cx="873760" cy="880745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肘形连接符 42"/>
          <p:cNvCxnSpPr/>
          <p:nvPr/>
        </p:nvCxnSpPr>
        <p:spPr>
          <a:xfrm rot="16200000">
            <a:off x="5101590" y="3394075"/>
            <a:ext cx="873760" cy="791210"/>
          </a:xfrm>
          <a:prstGeom prst="bentConnector3">
            <a:avLst>
              <a:gd name="adj1" fmla="val 261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4948555" y="3695065"/>
            <a:ext cx="880745" cy="398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RAG</a:t>
            </a:r>
            <a:endParaRPr lang="en-US" altLang="zh-CN" sz="2000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pic>
        <p:nvPicPr>
          <p:cNvPr id="46" name="图片 45" descr="网络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61105" y="678180"/>
            <a:ext cx="720000" cy="720000"/>
          </a:xfrm>
          <a:prstGeom prst="rect">
            <a:avLst/>
          </a:prstGeom>
        </p:spPr>
      </p:pic>
      <p:cxnSp>
        <p:nvCxnSpPr>
          <p:cNvPr id="47" name="直接箭头连接符 46"/>
          <p:cNvCxnSpPr>
            <a:stCxn id="46" idx="2"/>
            <a:endCxn id="34" idx="0"/>
          </p:cNvCxnSpPr>
          <p:nvPr/>
        </p:nvCxnSpPr>
        <p:spPr>
          <a:xfrm flipH="1">
            <a:off x="4112895" y="1398270"/>
            <a:ext cx="8255" cy="51498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2446020" y="1152525"/>
            <a:ext cx="1341755" cy="398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联网搜索</a:t>
            </a:r>
            <a:endParaRPr lang="zh-CN" altLang="en-US" sz="2000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cxnSp>
        <p:nvCxnSpPr>
          <p:cNvPr id="50" name="直接箭头连接符 49"/>
          <p:cNvCxnSpPr/>
          <p:nvPr/>
        </p:nvCxnSpPr>
        <p:spPr>
          <a:xfrm>
            <a:off x="1102360" y="3076575"/>
            <a:ext cx="57531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圆角矩形 50"/>
          <p:cNvSpPr/>
          <p:nvPr/>
        </p:nvSpPr>
        <p:spPr>
          <a:xfrm>
            <a:off x="5304790" y="1581785"/>
            <a:ext cx="1258570" cy="7943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思维链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algn="ctr"/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CoT</a:t>
            </a:r>
            <a:endParaRPr lang="en-US" altLang="zh-CN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5829300" y="2486660"/>
            <a:ext cx="179070" cy="179070"/>
            <a:chOff x="9180" y="3961"/>
            <a:chExt cx="282" cy="282"/>
          </a:xfrm>
        </p:grpSpPr>
        <p:cxnSp>
          <p:nvCxnSpPr>
            <p:cNvPr id="54" name="直接连接符 53"/>
            <p:cNvCxnSpPr/>
            <p:nvPr/>
          </p:nvCxnSpPr>
          <p:spPr>
            <a:xfrm>
              <a:off x="9180" y="4103"/>
              <a:ext cx="2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V="1">
              <a:off x="9322" y="3961"/>
              <a:ext cx="0" cy="2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56" name="图片 55" descr="AI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11670" y="2694940"/>
            <a:ext cx="720725" cy="720725"/>
          </a:xfrm>
          <a:prstGeom prst="rect">
            <a:avLst/>
          </a:prstGeom>
        </p:spPr>
      </p:pic>
      <p:cxnSp>
        <p:nvCxnSpPr>
          <p:cNvPr id="57" name="直接箭头连接符 56"/>
          <p:cNvCxnSpPr/>
          <p:nvPr/>
        </p:nvCxnSpPr>
        <p:spPr>
          <a:xfrm>
            <a:off x="6563360" y="3076575"/>
            <a:ext cx="3683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4778375" y="2456815"/>
            <a:ext cx="528955" cy="35623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肘形连接符 58"/>
          <p:cNvCxnSpPr>
            <a:stCxn id="33" idx="0"/>
            <a:endCxn id="46" idx="1"/>
          </p:cNvCxnSpPr>
          <p:nvPr/>
        </p:nvCxnSpPr>
        <p:spPr>
          <a:xfrm rot="16200000">
            <a:off x="2174240" y="1212850"/>
            <a:ext cx="1761490" cy="141224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6656070" y="1570355"/>
            <a:ext cx="855345" cy="1014730"/>
          </a:xfrm>
          <a:prstGeom prst="rect">
            <a:avLst/>
          </a:prstGeom>
          <a:blipFill>
            <a:blip r:embed="rId7"/>
          </a:blipFill>
          <a:ln w="38100">
            <a:solidFill>
              <a:schemeClr val="tx1"/>
            </a:solidFill>
          </a:ln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识别超参</a:t>
            </a:r>
            <a:endParaRPr lang="zh-CN" altLang="en-US" sz="1200">
              <a:latin typeface="黑体" charset="0"/>
              <a:ea typeface="黑体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构造空间</a:t>
            </a:r>
            <a:endParaRPr lang="zh-CN" altLang="en-US" sz="1200">
              <a:latin typeface="黑体" charset="0"/>
              <a:ea typeface="黑体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选优化器</a:t>
            </a:r>
            <a:endParaRPr lang="zh-CN" altLang="en-US" sz="1200">
              <a:latin typeface="黑体" charset="0"/>
              <a:ea typeface="黑体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定预算</a:t>
            </a:r>
            <a:endParaRPr lang="zh-CN" altLang="en-US" sz="1200">
              <a:latin typeface="黑体" charset="0"/>
              <a:ea typeface="黑体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定评估</a:t>
            </a:r>
            <a:endParaRPr lang="zh-CN" altLang="en-US" sz="1200">
              <a:latin typeface="黑体" charset="0"/>
              <a:ea typeface="黑体" charset="0"/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>
            <a:off x="7805420" y="3076575"/>
            <a:ext cx="3568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圆角矩形 62"/>
          <p:cNvSpPr/>
          <p:nvPr/>
        </p:nvSpPr>
        <p:spPr>
          <a:xfrm>
            <a:off x="8162290" y="2799715"/>
            <a:ext cx="1410970" cy="553085"/>
          </a:xfrm>
          <a:prstGeom prst="roundRect">
            <a:avLst/>
          </a:prstGeom>
          <a:solidFill>
            <a:srgbClr val="E6E6F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HPO </a:t>
            </a:r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配置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5584825" y="1089660"/>
            <a:ext cx="1710055" cy="398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sys </a:t>
            </a: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prompt</a:t>
            </a:r>
            <a:endParaRPr lang="en-US" altLang="zh-CN" sz="2000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9573260" y="3076575"/>
            <a:ext cx="3568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" name="圆角矩形 33"/>
          <p:cNvSpPr/>
          <p:nvPr/>
        </p:nvSpPr>
        <p:spPr>
          <a:xfrm>
            <a:off x="1816735" y="2799715"/>
            <a:ext cx="1343660" cy="553085"/>
          </a:xfrm>
          <a:prstGeom prst="roundRect">
            <a:avLst/>
          </a:prstGeom>
          <a:solidFill>
            <a:srgbClr val="E6E6F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诊断</a:t>
            </a:r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结果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>
            <a:off x="3157220" y="3076575"/>
            <a:ext cx="3683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圆角矩形 35"/>
          <p:cNvSpPr/>
          <p:nvPr/>
        </p:nvSpPr>
        <p:spPr>
          <a:xfrm>
            <a:off x="3515995" y="2799715"/>
            <a:ext cx="1431290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RL </a:t>
            </a:r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Action</a:t>
            </a:r>
            <a:endParaRPr lang="en-US" altLang="zh-CN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5304790" y="2799715"/>
            <a:ext cx="1258570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上下文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38" name="直接箭头连接符 37"/>
          <p:cNvCxnSpPr/>
          <p:nvPr/>
        </p:nvCxnSpPr>
        <p:spPr>
          <a:xfrm>
            <a:off x="4936490" y="3076575"/>
            <a:ext cx="3683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1" name="组合 40"/>
          <p:cNvGrpSpPr/>
          <p:nvPr/>
        </p:nvGrpSpPr>
        <p:grpSpPr>
          <a:xfrm>
            <a:off x="3144520" y="3707130"/>
            <a:ext cx="1998345" cy="1165860"/>
            <a:chOff x="1605" y="9362"/>
            <a:chExt cx="3147" cy="1836"/>
          </a:xfrm>
        </p:grpSpPr>
        <p:pic>
          <p:nvPicPr>
            <p:cNvPr id="39" name="图片 38" descr="数据库,数据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650" y="9362"/>
              <a:ext cx="1134" cy="1134"/>
            </a:xfrm>
            <a:prstGeom prst="rect">
              <a:avLst/>
            </a:prstGeom>
          </p:spPr>
        </p:pic>
        <p:sp>
          <p:nvSpPr>
            <p:cNvPr id="40" name="文本框 39"/>
            <p:cNvSpPr txBox="1"/>
            <p:nvPr/>
          </p:nvSpPr>
          <p:spPr>
            <a:xfrm>
              <a:off x="1605" y="10570"/>
              <a:ext cx="3147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zh-CN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rPr>
                <a:t>Agent </a:t>
              </a:r>
              <a:r>
                <a:rPr lang="en-US" altLang="zh-CN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rPr>
                <a:t>Memory</a:t>
              </a:r>
              <a:endParaRPr lang="en-US" altLang="zh-CN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endParaRPr>
            </a:p>
          </p:txBody>
        </p:sp>
      </p:grpSp>
      <p:cxnSp>
        <p:nvCxnSpPr>
          <p:cNvPr id="43" name="肘形连接符 42"/>
          <p:cNvCxnSpPr/>
          <p:nvPr/>
        </p:nvCxnSpPr>
        <p:spPr>
          <a:xfrm rot="16200000">
            <a:off x="5101590" y="3394075"/>
            <a:ext cx="873760" cy="791210"/>
          </a:xfrm>
          <a:prstGeom prst="bentConnector3">
            <a:avLst>
              <a:gd name="adj1" fmla="val 261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4948555" y="3695065"/>
            <a:ext cx="880745" cy="398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RAG</a:t>
            </a:r>
            <a:endParaRPr lang="en-US" altLang="zh-CN" sz="2000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cxnSp>
        <p:nvCxnSpPr>
          <p:cNvPr id="50" name="直接箭头连接符 49"/>
          <p:cNvCxnSpPr/>
          <p:nvPr/>
        </p:nvCxnSpPr>
        <p:spPr>
          <a:xfrm>
            <a:off x="1241425" y="3076575"/>
            <a:ext cx="57531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圆角矩形 50"/>
          <p:cNvSpPr/>
          <p:nvPr/>
        </p:nvSpPr>
        <p:spPr>
          <a:xfrm>
            <a:off x="5304790" y="1581785"/>
            <a:ext cx="1258570" cy="7943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思维链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algn="ctr"/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CoT</a:t>
            </a:r>
            <a:endParaRPr lang="en-US" altLang="zh-CN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5829300" y="2486660"/>
            <a:ext cx="179070" cy="179070"/>
            <a:chOff x="9180" y="3961"/>
            <a:chExt cx="282" cy="282"/>
          </a:xfrm>
        </p:grpSpPr>
        <p:cxnSp>
          <p:nvCxnSpPr>
            <p:cNvPr id="54" name="直接连接符 53"/>
            <p:cNvCxnSpPr/>
            <p:nvPr/>
          </p:nvCxnSpPr>
          <p:spPr>
            <a:xfrm>
              <a:off x="9180" y="4103"/>
              <a:ext cx="283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/>
            <p:nvPr/>
          </p:nvCxnSpPr>
          <p:spPr>
            <a:xfrm flipV="1">
              <a:off x="9322" y="3961"/>
              <a:ext cx="0" cy="283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56" name="图片 55" descr="AI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1670" y="2694940"/>
            <a:ext cx="720725" cy="720725"/>
          </a:xfrm>
          <a:prstGeom prst="rect">
            <a:avLst/>
          </a:prstGeom>
        </p:spPr>
      </p:pic>
      <p:cxnSp>
        <p:nvCxnSpPr>
          <p:cNvPr id="57" name="直接箭头连接符 56"/>
          <p:cNvCxnSpPr/>
          <p:nvPr/>
        </p:nvCxnSpPr>
        <p:spPr>
          <a:xfrm>
            <a:off x="6563360" y="3076575"/>
            <a:ext cx="36830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4888865" y="2238375"/>
            <a:ext cx="418465" cy="57467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0" name="文本框 59"/>
          <p:cNvSpPr txBox="1"/>
          <p:nvPr/>
        </p:nvSpPr>
        <p:spPr>
          <a:xfrm>
            <a:off x="6656070" y="1570355"/>
            <a:ext cx="855345" cy="645160"/>
          </a:xfrm>
          <a:prstGeom prst="rect">
            <a:avLst/>
          </a:prstGeom>
          <a:blipFill>
            <a:blip r:embed="rId5"/>
          </a:blipFill>
          <a:ln w="38100">
            <a:solidFill>
              <a:schemeClr val="tx1"/>
            </a:solidFill>
          </a:ln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解读</a:t>
            </a:r>
            <a:r>
              <a:rPr lang="zh-CN" altLang="en-US" sz="1200">
                <a:latin typeface="黑体" charset="0"/>
                <a:ea typeface="黑体" charset="0"/>
              </a:rPr>
              <a:t>证据</a:t>
            </a:r>
            <a:endParaRPr lang="zh-CN" altLang="en-US" sz="1200">
              <a:latin typeface="黑体" charset="0"/>
              <a:ea typeface="黑体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定位</a:t>
            </a:r>
            <a:r>
              <a:rPr lang="zh-CN" altLang="en-US" sz="1200">
                <a:latin typeface="黑体" charset="0"/>
                <a:ea typeface="黑体" charset="0"/>
              </a:rPr>
              <a:t>对象</a:t>
            </a:r>
            <a:endParaRPr lang="zh-CN" altLang="en-US" sz="1200">
              <a:latin typeface="黑体" charset="0"/>
              <a:ea typeface="黑体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保守</a:t>
            </a:r>
            <a:r>
              <a:rPr lang="zh-CN" altLang="en-US" sz="1200">
                <a:latin typeface="黑体" charset="0"/>
                <a:ea typeface="黑体" charset="0"/>
              </a:rPr>
              <a:t>执行</a:t>
            </a:r>
            <a:endParaRPr lang="zh-CN" altLang="en-US" sz="1200">
              <a:latin typeface="黑体" charset="0"/>
              <a:ea typeface="黑体" charset="0"/>
            </a:endParaRPr>
          </a:p>
        </p:txBody>
      </p:sp>
      <p:cxnSp>
        <p:nvCxnSpPr>
          <p:cNvPr id="62" name="直接箭头连接符 61"/>
          <p:cNvCxnSpPr/>
          <p:nvPr/>
        </p:nvCxnSpPr>
        <p:spPr>
          <a:xfrm>
            <a:off x="7805420" y="3076575"/>
            <a:ext cx="3568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圆角矩形 62"/>
          <p:cNvSpPr/>
          <p:nvPr/>
        </p:nvSpPr>
        <p:spPr>
          <a:xfrm>
            <a:off x="8162290" y="2799715"/>
            <a:ext cx="1410970" cy="553085"/>
          </a:xfrm>
          <a:prstGeom prst="roundRect">
            <a:avLst/>
          </a:prstGeom>
          <a:solidFill>
            <a:srgbClr val="E6E6F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HPO </a:t>
            </a:r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配置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5584825" y="1089660"/>
            <a:ext cx="1710055" cy="398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sys </a:t>
            </a: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prompt</a:t>
            </a:r>
            <a:endParaRPr lang="en-US" altLang="zh-CN" sz="2000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cxnSp>
        <p:nvCxnSpPr>
          <p:cNvPr id="65" name="直接箭头连接符 64"/>
          <p:cNvCxnSpPr/>
          <p:nvPr/>
        </p:nvCxnSpPr>
        <p:spPr>
          <a:xfrm>
            <a:off x="9573260" y="3076575"/>
            <a:ext cx="3568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肘形连接符 4"/>
          <p:cNvCxnSpPr>
            <a:stCxn id="34" idx="0"/>
          </p:cNvCxnSpPr>
          <p:nvPr/>
        </p:nvCxnSpPr>
        <p:spPr>
          <a:xfrm rot="16200000" flipH="1">
            <a:off x="4035425" y="1252855"/>
            <a:ext cx="3175" cy="3096260"/>
          </a:xfrm>
          <a:prstGeom prst="bentConnector4">
            <a:avLst>
              <a:gd name="adj1" fmla="val -9375000"/>
              <a:gd name="adj2" fmla="val 99989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>
          <a:xfrm>
            <a:off x="2856865" y="1696720"/>
            <a:ext cx="2079625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当前</a:t>
            </a:r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 HPO </a:t>
            </a:r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配置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8" name="肘形连接符 7"/>
          <p:cNvCxnSpPr>
            <a:stCxn id="34" idx="2"/>
          </p:cNvCxnSpPr>
          <p:nvPr/>
        </p:nvCxnSpPr>
        <p:spPr>
          <a:xfrm rot="5400000" flipV="1">
            <a:off x="2535555" y="3305810"/>
            <a:ext cx="873125" cy="96647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1816735" y="2799715"/>
            <a:ext cx="1343660" cy="553085"/>
          </a:xfrm>
          <a:prstGeom prst="roundRect">
            <a:avLst/>
          </a:prstGeom>
          <a:solidFill>
            <a:srgbClr val="E6E6FA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超参</a:t>
            </a:r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轨迹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1423670" y="3076575"/>
            <a:ext cx="39306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9573260" y="3076575"/>
            <a:ext cx="3568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 descr="JS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27745" y="2508885"/>
            <a:ext cx="1134745" cy="113474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3552190" y="2799715"/>
            <a:ext cx="1342800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预处理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3168650" y="3076575"/>
            <a:ext cx="39306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5424170" y="1640205"/>
            <a:ext cx="2000250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优化</a:t>
            </a:r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结果分析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5424170" y="2799715"/>
            <a:ext cx="2000250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搜索空间分析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5424170" y="3959225"/>
            <a:ext cx="2000250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资源</a:t>
            </a:r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预算分析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24" name="直接箭头连接符 23"/>
          <p:cNvCxnSpPr>
            <a:endCxn id="22" idx="1"/>
          </p:cNvCxnSpPr>
          <p:nvPr/>
        </p:nvCxnSpPr>
        <p:spPr>
          <a:xfrm>
            <a:off x="4895215" y="3076575"/>
            <a:ext cx="52895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19" idx="0"/>
            <a:endCxn id="21" idx="1"/>
          </p:cNvCxnSpPr>
          <p:nvPr/>
        </p:nvCxnSpPr>
        <p:spPr>
          <a:xfrm rot="16200000">
            <a:off x="4382770" y="1758315"/>
            <a:ext cx="882650" cy="120015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19" idx="2"/>
            <a:endCxn id="23" idx="1"/>
          </p:cNvCxnSpPr>
          <p:nvPr/>
        </p:nvCxnSpPr>
        <p:spPr>
          <a:xfrm rot="5400000" flipV="1">
            <a:off x="4382770" y="3194050"/>
            <a:ext cx="883285" cy="120015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7488555" y="1570355"/>
            <a:ext cx="855345" cy="645160"/>
          </a:xfrm>
          <a:prstGeom prst="rect">
            <a:avLst/>
          </a:prstGeom>
          <a:blipFill>
            <a:blip r:embed="rId3"/>
          </a:blipFill>
          <a:ln w="38100">
            <a:solidFill>
              <a:schemeClr val="tx1"/>
            </a:solidFill>
          </a:ln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目前最佳</a:t>
            </a:r>
            <a:endParaRPr lang="zh-CN" altLang="en-US" sz="1200">
              <a:latin typeface="黑体" charset="0"/>
              <a:ea typeface="黑体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停滞</a:t>
            </a:r>
            <a:r>
              <a:rPr lang="zh-CN" altLang="en-US" sz="1200">
                <a:latin typeface="黑体" charset="0"/>
                <a:ea typeface="黑体" charset="0"/>
              </a:rPr>
              <a:t>检测</a:t>
            </a:r>
            <a:endParaRPr lang="zh-CN" altLang="en-US" sz="1200">
              <a:latin typeface="黑体" charset="0"/>
              <a:ea typeface="黑体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边际</a:t>
            </a:r>
            <a:r>
              <a:rPr lang="zh-CN" altLang="en-US" sz="1200">
                <a:latin typeface="黑体" charset="0"/>
                <a:ea typeface="黑体" charset="0"/>
              </a:rPr>
              <a:t>收益</a:t>
            </a:r>
            <a:endParaRPr lang="zh-CN" altLang="en-US" sz="1200">
              <a:latin typeface="黑体" charset="0"/>
              <a:ea typeface="黑体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488555" y="2743835"/>
            <a:ext cx="955040" cy="645160"/>
          </a:xfrm>
          <a:prstGeom prst="rect">
            <a:avLst/>
          </a:prstGeom>
          <a:blipFill>
            <a:blip r:embed="rId3"/>
          </a:blipFill>
          <a:ln w="38100">
            <a:solidFill>
              <a:schemeClr val="tx1"/>
            </a:solidFill>
          </a:ln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超参重要</a:t>
            </a:r>
            <a:r>
              <a:rPr lang="zh-CN" altLang="en-US" sz="1200">
                <a:latin typeface="黑体" charset="0"/>
                <a:ea typeface="黑体" charset="0"/>
              </a:rPr>
              <a:t>性</a:t>
            </a:r>
            <a:endParaRPr lang="zh-CN" altLang="en-US" sz="1200">
              <a:latin typeface="黑体" charset="0"/>
              <a:ea typeface="黑体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边界</a:t>
            </a:r>
            <a:r>
              <a:rPr lang="zh-CN" altLang="en-US" sz="1200">
                <a:latin typeface="黑体" charset="0"/>
                <a:ea typeface="黑体" charset="0"/>
              </a:rPr>
              <a:t>聚集</a:t>
            </a:r>
            <a:endParaRPr lang="zh-CN" altLang="en-US" sz="1200">
              <a:latin typeface="黑体" charset="0"/>
              <a:ea typeface="黑体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优良</a:t>
            </a:r>
            <a:r>
              <a:rPr lang="zh-CN" altLang="en-US" sz="1200">
                <a:latin typeface="黑体" charset="0"/>
                <a:ea typeface="黑体" charset="0"/>
              </a:rPr>
              <a:t>区域</a:t>
            </a:r>
            <a:endParaRPr lang="zh-CN" altLang="en-US" sz="1200">
              <a:latin typeface="黑体" charset="0"/>
              <a:ea typeface="黑体" charset="0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8465820" y="3076575"/>
            <a:ext cx="39306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28" idx="3"/>
            <a:endCxn id="18" idx="0"/>
          </p:cNvCxnSpPr>
          <p:nvPr/>
        </p:nvCxnSpPr>
        <p:spPr>
          <a:xfrm>
            <a:off x="8343900" y="1892935"/>
            <a:ext cx="851535" cy="615950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7488555" y="3917315"/>
            <a:ext cx="855345" cy="645160"/>
          </a:xfrm>
          <a:prstGeom prst="rect">
            <a:avLst/>
          </a:prstGeom>
          <a:blipFill>
            <a:blip r:embed="rId3"/>
          </a:blipFill>
          <a:ln w="38100">
            <a:solidFill>
              <a:schemeClr val="tx1"/>
            </a:solidFill>
          </a:ln>
        </p:spPr>
        <p:txBody>
          <a:bodyPr wrap="square">
            <a:spAutoFit/>
          </a:bodyPr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剩余预算</a:t>
            </a:r>
            <a:r>
              <a:rPr lang="en-US" altLang="zh-CN" sz="1200">
                <a:latin typeface="黑体" charset="0"/>
                <a:ea typeface="黑体" charset="0"/>
              </a:rPr>
              <a:t>.</a:t>
            </a:r>
            <a:endParaRPr lang="zh-CN" altLang="en-US" sz="1200">
              <a:latin typeface="黑体" charset="0"/>
              <a:ea typeface="黑体" charset="0"/>
            </a:endParaRPr>
          </a:p>
          <a:p>
            <a:pPr marL="0" indent="0"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>
                <a:latin typeface="黑体" charset="0"/>
                <a:ea typeface="黑体" charset="0"/>
              </a:rPr>
              <a:t>单位</a:t>
            </a:r>
            <a:r>
              <a:rPr lang="zh-CN" altLang="en-US" sz="1200">
                <a:latin typeface="黑体" charset="0"/>
                <a:ea typeface="黑体" charset="0"/>
              </a:rPr>
              <a:t>预算边际</a:t>
            </a:r>
            <a:r>
              <a:rPr lang="zh-CN" altLang="en-US" sz="1200">
                <a:latin typeface="黑体" charset="0"/>
                <a:ea typeface="黑体" charset="0"/>
              </a:rPr>
              <a:t>收益</a:t>
            </a:r>
            <a:endParaRPr lang="zh-CN" altLang="en-US" sz="1200">
              <a:latin typeface="黑体" charset="0"/>
              <a:ea typeface="黑体" charset="0"/>
            </a:endParaRPr>
          </a:p>
        </p:txBody>
      </p:sp>
      <p:cxnSp>
        <p:nvCxnSpPr>
          <p:cNvPr id="42" name="肘形连接符 41"/>
          <p:cNvCxnSpPr>
            <a:stCxn id="33" idx="3"/>
            <a:endCxn id="18" idx="2"/>
          </p:cNvCxnSpPr>
          <p:nvPr/>
        </p:nvCxnSpPr>
        <p:spPr>
          <a:xfrm flipV="1">
            <a:off x="8343900" y="3643630"/>
            <a:ext cx="851535" cy="596265"/>
          </a:xfrm>
          <a:prstGeom prst="bentConnector2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7" name="直接箭头连接符 6"/>
          <p:cNvCxnSpPr/>
          <p:nvPr/>
        </p:nvCxnSpPr>
        <p:spPr>
          <a:xfrm>
            <a:off x="1423670" y="3076575"/>
            <a:ext cx="39306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8" name="图片 17" descr="JSON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62430" y="2508885"/>
            <a:ext cx="1134745" cy="113474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2995295" y="2799715"/>
            <a:ext cx="1611630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状态离散</a:t>
            </a:r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化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4" name="直接箭头连接符 3"/>
          <p:cNvCxnSpPr/>
          <p:nvPr/>
        </p:nvCxnSpPr>
        <p:spPr>
          <a:xfrm>
            <a:off x="2602230" y="3076575"/>
            <a:ext cx="39306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>
            <a:off x="8058150" y="3076575"/>
            <a:ext cx="3568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圆角矩形 7"/>
          <p:cNvSpPr/>
          <p:nvPr/>
        </p:nvSpPr>
        <p:spPr>
          <a:xfrm>
            <a:off x="5053330" y="2799715"/>
            <a:ext cx="1611630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RL </a:t>
            </a:r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Action</a:t>
            </a:r>
            <a:endParaRPr lang="en-US" altLang="zh-CN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grpSp>
        <p:nvGrpSpPr>
          <p:cNvPr id="41" name="组合 40"/>
          <p:cNvGrpSpPr/>
          <p:nvPr/>
        </p:nvGrpSpPr>
        <p:grpSpPr>
          <a:xfrm>
            <a:off x="3747135" y="3576955"/>
            <a:ext cx="2142490" cy="1165860"/>
            <a:chOff x="1509" y="9362"/>
            <a:chExt cx="3374" cy="1836"/>
          </a:xfrm>
        </p:grpSpPr>
        <p:pic>
          <p:nvPicPr>
            <p:cNvPr id="39" name="图片 38" descr="数据库,数据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650" y="9362"/>
              <a:ext cx="1134" cy="1134"/>
            </a:xfrm>
            <a:prstGeom prst="rect">
              <a:avLst/>
            </a:prstGeom>
          </p:spPr>
        </p:pic>
        <p:sp>
          <p:nvSpPr>
            <p:cNvPr id="40" name="文本框 39"/>
            <p:cNvSpPr txBox="1"/>
            <p:nvPr/>
          </p:nvSpPr>
          <p:spPr>
            <a:xfrm>
              <a:off x="1509" y="10570"/>
              <a:ext cx="3374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en-US" altLang="zh-CN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rPr>
                <a:t>Q (State, Action) </a:t>
              </a:r>
              <a:endPara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endParaRPr>
            </a:p>
          </p:txBody>
        </p:sp>
      </p:grpSp>
      <p:cxnSp>
        <p:nvCxnSpPr>
          <p:cNvPr id="27" name="肘形连接符 26"/>
          <p:cNvCxnSpPr/>
          <p:nvPr/>
        </p:nvCxnSpPr>
        <p:spPr>
          <a:xfrm rot="5400000" flipV="1">
            <a:off x="3660140" y="3493770"/>
            <a:ext cx="661670" cy="379095"/>
          </a:xfrm>
          <a:prstGeom prst="bentConnector3">
            <a:avLst>
              <a:gd name="adj1" fmla="val 99856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肘形连接符 8"/>
          <p:cNvCxnSpPr>
            <a:endCxn id="8" idx="2"/>
          </p:cNvCxnSpPr>
          <p:nvPr/>
        </p:nvCxnSpPr>
        <p:spPr>
          <a:xfrm rot="16200000">
            <a:off x="5249545" y="3425825"/>
            <a:ext cx="681990" cy="536575"/>
          </a:xfrm>
          <a:prstGeom prst="bentConnector3">
            <a:avLst>
              <a:gd name="adj1" fmla="val 3212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5939155" y="3615690"/>
            <a:ext cx="1861820" cy="398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εgreedy </a:t>
            </a:r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搜索</a:t>
            </a:r>
            <a:endParaRPr lang="zh-CN" altLang="en-US" sz="2000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696460" y="1654175"/>
            <a:ext cx="2325370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规则引擎</a:t>
            </a:r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 (Q</a:t>
            </a:r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相同</a:t>
            </a:r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)</a:t>
            </a:r>
            <a:endParaRPr lang="en-US" altLang="zh-CN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12" name="直接箭头连接符 11"/>
          <p:cNvCxnSpPr>
            <a:stCxn id="11" idx="2"/>
            <a:endCxn id="8" idx="0"/>
          </p:cNvCxnSpPr>
          <p:nvPr/>
        </p:nvCxnSpPr>
        <p:spPr>
          <a:xfrm>
            <a:off x="5859145" y="2207260"/>
            <a:ext cx="0" cy="592455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907155" y="2292985"/>
            <a:ext cx="1861820" cy="398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提供先验</a:t>
            </a:r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信息</a:t>
            </a:r>
            <a:endParaRPr lang="zh-CN" altLang="en-US" sz="2000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6664960" y="3076575"/>
            <a:ext cx="356870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155815" y="2669540"/>
            <a:ext cx="76835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5000">
                <a:latin typeface="黑体" charset="0"/>
                <a:ea typeface="黑体" charset="0"/>
              </a:rPr>
              <a:t>…</a:t>
            </a:r>
            <a:endParaRPr lang="zh-CN" altLang="en-US" sz="5000">
              <a:latin typeface="黑体" charset="0"/>
              <a:ea typeface="黑体" charset="0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8415020" y="2800350"/>
            <a:ext cx="1862455" cy="5530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下一轮</a:t>
            </a:r>
            <a:r>
              <a:rPr lang="en-US" altLang="zh-CN" sz="2000" b="1">
                <a:solidFill>
                  <a:schemeClr val="tx1"/>
                </a:solidFill>
                <a:latin typeface="PingFang SC Semibold" panose="020B0400000000000000" charset="-122"/>
                <a:ea typeface="PingFang SC Semibold" panose="020B0400000000000000" charset="-122"/>
              </a:rPr>
              <a:t> HPO</a:t>
            </a:r>
            <a:endParaRPr lang="zh-CN" altLang="en-US" sz="2000" b="1">
              <a:solidFill>
                <a:schemeClr val="tx1"/>
              </a:solidFill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cxnSp>
        <p:nvCxnSpPr>
          <p:cNvPr id="17" name="肘形连接符 16"/>
          <p:cNvCxnSpPr>
            <a:stCxn id="16" idx="2"/>
            <a:endCxn id="40" idx="2"/>
          </p:cNvCxnSpPr>
          <p:nvPr/>
        </p:nvCxnSpPr>
        <p:spPr>
          <a:xfrm rot="5400000">
            <a:off x="6387465" y="1783715"/>
            <a:ext cx="1389380" cy="4528185"/>
          </a:xfrm>
          <a:prstGeom prst="bentConnector3">
            <a:avLst>
              <a:gd name="adj1" fmla="val 131649"/>
            </a:avLst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382385" y="4669790"/>
            <a:ext cx="2865755" cy="3987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solidFill>
              <a:schemeClr val="tx1"/>
            </a:solidFill>
          </a:ln>
        </p:spPr>
        <p:txBody>
          <a:bodyPr wrap="square" rtlCol="0" anchor="t">
            <a:spAutoFit/>
          </a:bodyPr>
          <a:p>
            <a:pPr algn="ctr"/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计算</a:t>
            </a: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 reward </a:t>
            </a:r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更新</a:t>
            </a: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 Q </a:t>
            </a:r>
            <a:r>
              <a: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表</a:t>
            </a:r>
            <a:endParaRPr lang="zh-CN" altLang="en-US" sz="2000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pic>
        <p:nvPicPr>
          <p:cNvPr id="22" name="334E55B0-647D-440b-865C-3EC943EB4CBC-21" descr="wpsoffic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9625" y="5296535"/>
            <a:ext cx="3799840" cy="322580"/>
          </a:xfrm>
          <a:prstGeom prst="rect">
            <a:avLst/>
          </a:prstGeom>
        </p:spPr>
      </p:pic>
      <p:pic>
        <p:nvPicPr>
          <p:cNvPr id="25" name="334E55B0-647D-440b-865C-3EC943EB4CBC-22" descr="wpsoffi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2845" y="5723890"/>
            <a:ext cx="2995295" cy="321945"/>
          </a:xfrm>
          <a:prstGeom prst="rect">
            <a:avLst/>
          </a:prstGeom>
        </p:spPr>
      </p:pic>
      <p:cxnSp>
        <p:nvCxnSpPr>
          <p:cNvPr id="26" name="直接箭头连接符 25"/>
          <p:cNvCxnSpPr/>
          <p:nvPr/>
        </p:nvCxnSpPr>
        <p:spPr>
          <a:xfrm>
            <a:off x="10277475" y="3076575"/>
            <a:ext cx="393065" cy="0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7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95" name="组合 94"/>
          <p:cNvGrpSpPr/>
          <p:nvPr/>
        </p:nvGrpSpPr>
        <p:grpSpPr>
          <a:xfrm>
            <a:off x="169545" y="451485"/>
            <a:ext cx="3594100" cy="6007735"/>
            <a:chOff x="752" y="1038"/>
            <a:chExt cx="5660" cy="9461"/>
          </a:xfrm>
        </p:grpSpPr>
        <p:sp>
          <p:nvSpPr>
            <p:cNvPr id="23" name="梯形 22"/>
            <p:cNvSpPr/>
            <p:nvPr/>
          </p:nvSpPr>
          <p:spPr>
            <a:xfrm>
              <a:off x="1491" y="5167"/>
              <a:ext cx="1428" cy="753"/>
            </a:xfrm>
            <a:prstGeom prst="trapezoid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1492" y="3790"/>
              <a:ext cx="1426" cy="830"/>
            </a:xfrm>
            <a:prstGeom prst="rect">
              <a:avLst/>
            </a:prstGeom>
            <a:solidFill>
              <a:srgbClr val="E6E6E6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8" name="334E55B0-647D-440b-865C-3EC943EB4CBC-7" descr="wpsoffice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032" y="4062"/>
              <a:ext cx="344" cy="283"/>
            </a:xfrm>
            <a:prstGeom prst="rect">
              <a:avLst/>
            </a:prstGeom>
          </p:spPr>
        </p:pic>
        <p:pic>
          <p:nvPicPr>
            <p:cNvPr id="25" name="334E55B0-647D-440b-865C-3EC943EB4CBC-8" descr="/Users/york/Library/Containers/com.kingsoft.wpsoffice.mac/Data/tmp/wpsoffice.YwIEPZwpsoffic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75" y="5344"/>
              <a:ext cx="660" cy="399"/>
            </a:xfrm>
            <a:prstGeom prst="rect">
              <a:avLst/>
            </a:prstGeom>
          </p:spPr>
        </p:pic>
        <p:cxnSp>
          <p:nvCxnSpPr>
            <p:cNvPr id="27" name="直接箭头连接符 26"/>
            <p:cNvCxnSpPr/>
            <p:nvPr/>
          </p:nvCxnSpPr>
          <p:spPr>
            <a:xfrm flipV="1">
              <a:off x="2206" y="4619"/>
              <a:ext cx="0" cy="5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" name="直接箭头连接符 2"/>
            <p:cNvCxnSpPr/>
            <p:nvPr/>
          </p:nvCxnSpPr>
          <p:spPr>
            <a:xfrm flipH="1">
              <a:off x="3375" y="7081"/>
              <a:ext cx="152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35" name="图片 34" descr="截屏2026-04-07 20.25.0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86" y="8437"/>
              <a:ext cx="2239" cy="1202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perspectiveContrastingRightFacing"/>
              <a:lightRig rig="threePt" dir="t"/>
            </a:scene3d>
          </p:spPr>
        </p:pic>
        <p:cxnSp>
          <p:nvCxnSpPr>
            <p:cNvPr id="5" name="直接箭头连接符 4"/>
            <p:cNvCxnSpPr>
              <a:endCxn id="49" idx="3"/>
            </p:cNvCxnSpPr>
            <p:nvPr/>
          </p:nvCxnSpPr>
          <p:spPr>
            <a:xfrm flipV="1">
              <a:off x="4912" y="3293"/>
              <a:ext cx="0" cy="498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 flipV="1">
              <a:off x="2206" y="5929"/>
              <a:ext cx="0" cy="5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" name="流程图: 资料带 7"/>
            <p:cNvSpPr/>
            <p:nvPr/>
          </p:nvSpPr>
          <p:spPr>
            <a:xfrm>
              <a:off x="1282" y="6674"/>
              <a:ext cx="1843" cy="831"/>
            </a:xfrm>
            <a:prstGeom prst="flowChartPunchedTape">
              <a:avLst/>
            </a:pr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solidFill>
                    <a:schemeClr val="tx1"/>
                  </a:solidFill>
                  <a:latin typeface="宋体" charset="0"/>
                  <a:ea typeface="宋体" charset="0"/>
                </a:rPr>
                <a:t>根因得分</a:t>
              </a:r>
              <a:endParaRPr lang="zh-CN" altLang="en-US" b="1">
                <a:solidFill>
                  <a:schemeClr val="tx1"/>
                </a:solidFill>
                <a:latin typeface="宋体" charset="0"/>
                <a:ea typeface="宋体" charset="0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 rot="18840000">
              <a:off x="4623" y="2727"/>
              <a:ext cx="566" cy="566"/>
              <a:chOff x="3992" y="2019"/>
              <a:chExt cx="566" cy="566"/>
            </a:xfrm>
          </p:grpSpPr>
          <p:sp>
            <p:nvSpPr>
              <p:cNvPr id="49" name="椭圆 48"/>
              <p:cNvSpPr/>
              <p:nvPr/>
            </p:nvSpPr>
            <p:spPr>
              <a:xfrm>
                <a:off x="3992" y="2019"/>
                <a:ext cx="567" cy="56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>
                        <a:lumMod val="95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50" name="直接连接符 49"/>
              <p:cNvCxnSpPr>
                <a:stCxn id="49" idx="2"/>
                <a:endCxn id="49" idx="6"/>
              </p:cNvCxnSpPr>
              <p:nvPr/>
            </p:nvCxnSpPr>
            <p:spPr>
              <a:xfrm>
                <a:off x="3992" y="2303"/>
                <a:ext cx="56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1" name="直接连接符 50"/>
              <p:cNvCxnSpPr>
                <a:stCxn id="49" idx="4"/>
                <a:endCxn id="49" idx="0"/>
              </p:cNvCxnSpPr>
              <p:nvPr/>
            </p:nvCxnSpPr>
            <p:spPr>
              <a:xfrm flipV="1">
                <a:off x="4276" y="2019"/>
                <a:ext cx="0" cy="5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9" name="肘形连接符 8"/>
            <p:cNvCxnSpPr>
              <a:stCxn id="36" idx="0"/>
            </p:cNvCxnSpPr>
            <p:nvPr/>
          </p:nvCxnSpPr>
          <p:spPr>
            <a:xfrm rot="16200000">
              <a:off x="3026" y="2193"/>
              <a:ext cx="775" cy="241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5253" y="2046"/>
              <a:ext cx="724" cy="229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zh-CN" altLang="en-US" b="1">
                  <a:latin typeface="宋体" charset="0"/>
                  <a:ea typeface="宋体" charset="0"/>
                  <a:sym typeface="+mn-ea"/>
                </a:rPr>
                <a:t>哈达玛乘积</a:t>
              </a:r>
              <a:endParaRPr lang="zh-CN" altLang="en-US" b="1"/>
            </a:p>
          </p:txBody>
        </p:sp>
        <p:sp>
          <p:nvSpPr>
            <p:cNvPr id="20" name="圆角矩形 19"/>
            <p:cNvSpPr/>
            <p:nvPr/>
          </p:nvSpPr>
          <p:spPr>
            <a:xfrm>
              <a:off x="995" y="3442"/>
              <a:ext cx="2419" cy="2839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cxnSp>
          <p:nvCxnSpPr>
            <p:cNvPr id="14" name="直接箭头连接符 13"/>
            <p:cNvCxnSpPr/>
            <p:nvPr/>
          </p:nvCxnSpPr>
          <p:spPr>
            <a:xfrm flipV="1">
              <a:off x="4898" y="1038"/>
              <a:ext cx="0" cy="16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4" name="文本框 53"/>
            <p:cNvSpPr txBox="1"/>
            <p:nvPr/>
          </p:nvSpPr>
          <p:spPr>
            <a:xfrm>
              <a:off x="3547" y="3558"/>
              <a:ext cx="566" cy="26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38100">
              <a:solidFill>
                <a:schemeClr val="tx1"/>
              </a:solidFill>
            </a:ln>
          </p:spPr>
          <p:txBody>
            <a:bodyPr wrap="square" rtlCol="0" anchor="ctr" anchorCtr="0">
              <a:noAutofit/>
            </a:bodyPr>
            <a:p>
              <a:pPr algn="ctr"/>
              <a:r>
                <a:rPr lang="zh-CN" altLang="en-US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rPr>
                <a:t>全连接</a:t>
              </a:r>
              <a:r>
                <a:rPr lang="zh-CN" altLang="en-US" sz="2000" b="1">
                  <a:latin typeface="PingFang SC Semibold" panose="020B0400000000000000" charset="-122"/>
                  <a:ea typeface="PingFang SC Semibold" panose="020B0400000000000000" charset="-122"/>
                  <a:sym typeface="+mn-ea"/>
                </a:rPr>
                <a:t>网络</a:t>
              </a:r>
              <a:endParaRPr lang="zh-CN" altLang="en-US" sz="2000" b="1">
                <a:latin typeface="PingFang SC Semibold" panose="020B0400000000000000" charset="-122"/>
                <a:ea typeface="PingFang SC Semibold" panose="020B0400000000000000" charset="-122"/>
                <a:sym typeface="+mn-ea"/>
              </a:endParaRPr>
            </a:p>
          </p:txBody>
        </p:sp>
        <p:grpSp>
          <p:nvGrpSpPr>
            <p:cNvPr id="93" name="组合 92"/>
            <p:cNvGrpSpPr/>
            <p:nvPr/>
          </p:nvGrpSpPr>
          <p:grpSpPr>
            <a:xfrm>
              <a:off x="3414" y="9919"/>
              <a:ext cx="2998" cy="580"/>
              <a:chOff x="2954" y="8088"/>
              <a:chExt cx="2998" cy="580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2954" y="8088"/>
                <a:ext cx="2513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zh-CN" altLang="en-US" b="1">
                    <a:latin typeface="宋体" charset="0"/>
                    <a:ea typeface="宋体" charset="0"/>
                  </a:rPr>
                  <a:t>多元时序</a:t>
                </a:r>
                <a:r>
                  <a:rPr lang="zh-CN" altLang="en-US" b="1">
                    <a:latin typeface="宋体" charset="0"/>
                    <a:ea typeface="宋体" charset="0"/>
                  </a:rPr>
                  <a:t>数据</a:t>
                </a:r>
                <a:endParaRPr lang="zh-CN" altLang="en-US" b="1">
                  <a:latin typeface="宋体" charset="0"/>
                  <a:ea typeface="宋体" charset="0"/>
                </a:endParaRPr>
              </a:p>
            </p:txBody>
          </p:sp>
          <p:pic>
            <p:nvPicPr>
              <p:cNvPr id="15" name="334E55B0-647D-440b-865C-3EC943EB4CBC-9" descr="wpsoffice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28" y="8152"/>
                <a:ext cx="624" cy="477"/>
              </a:xfrm>
              <a:prstGeom prst="rect">
                <a:avLst/>
              </a:prstGeom>
            </p:spPr>
          </p:pic>
        </p:grpSp>
        <p:pic>
          <p:nvPicPr>
            <p:cNvPr id="16" name="334E55B0-647D-440b-865C-3EC943EB4CBC-10" descr="/Users/york/Library/Containers/com.kingsoft.wpsoffice.mac/Data/tmp/wpsoffice.JDPBtGwpsoffic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50" y="2486"/>
              <a:ext cx="563" cy="352"/>
            </a:xfrm>
            <a:prstGeom prst="rect">
              <a:avLst/>
            </a:prstGeom>
          </p:spPr>
        </p:pic>
        <p:sp>
          <p:nvSpPr>
            <p:cNvPr id="92" name="圆角矩形 91"/>
            <p:cNvSpPr/>
            <p:nvPr/>
          </p:nvSpPr>
          <p:spPr>
            <a:xfrm>
              <a:off x="752" y="1792"/>
              <a:ext cx="5367" cy="6121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6" name="组合 95"/>
          <p:cNvGrpSpPr/>
          <p:nvPr/>
        </p:nvGrpSpPr>
        <p:grpSpPr>
          <a:xfrm>
            <a:off x="3691890" y="450805"/>
            <a:ext cx="3858260" cy="5087030"/>
            <a:chOff x="6377" y="1042"/>
            <a:chExt cx="6076" cy="8011"/>
          </a:xfrm>
        </p:grpSpPr>
        <p:sp>
          <p:nvSpPr>
            <p:cNvPr id="17" name="流程图: 资料带 16"/>
            <p:cNvSpPr/>
            <p:nvPr/>
          </p:nvSpPr>
          <p:spPr>
            <a:xfrm>
              <a:off x="7242" y="7300"/>
              <a:ext cx="1843" cy="831"/>
            </a:xfrm>
            <a:prstGeom prst="flowChartPunchedTape">
              <a:avLst/>
            </a:pr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solidFill>
                    <a:schemeClr val="tx1"/>
                  </a:solidFill>
                  <a:latin typeface="宋体" charset="0"/>
                  <a:ea typeface="宋体" charset="0"/>
                </a:rPr>
                <a:t>根因得分</a:t>
              </a:r>
              <a:endParaRPr lang="zh-CN" altLang="en-US" b="1">
                <a:solidFill>
                  <a:schemeClr val="tx1"/>
                </a:solidFill>
                <a:latin typeface="宋体" charset="0"/>
                <a:ea typeface="宋体" charset="0"/>
              </a:endParaRP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V="1">
              <a:off x="8164" y="6578"/>
              <a:ext cx="0" cy="5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9" name="梯形 18"/>
            <p:cNvSpPr/>
            <p:nvPr/>
          </p:nvSpPr>
          <p:spPr>
            <a:xfrm>
              <a:off x="7449" y="5793"/>
              <a:ext cx="1428" cy="753"/>
            </a:xfrm>
            <a:prstGeom prst="trapezoid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1" name="334E55B0-647D-440b-865C-3EC943EB4CBC-11" descr="wpsoffice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56" y="5951"/>
              <a:ext cx="414" cy="454"/>
            </a:xfrm>
            <a:prstGeom prst="rect">
              <a:avLst/>
            </a:prstGeom>
          </p:spPr>
        </p:pic>
        <p:cxnSp>
          <p:nvCxnSpPr>
            <p:cNvPr id="22" name="直接箭头连接符 21"/>
            <p:cNvCxnSpPr/>
            <p:nvPr/>
          </p:nvCxnSpPr>
          <p:spPr>
            <a:xfrm flipV="1">
              <a:off x="8164" y="5176"/>
              <a:ext cx="0" cy="5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2" name="组合 31"/>
            <p:cNvGrpSpPr/>
            <p:nvPr/>
          </p:nvGrpSpPr>
          <p:grpSpPr>
            <a:xfrm>
              <a:off x="7033" y="4534"/>
              <a:ext cx="2269" cy="568"/>
              <a:chOff x="7786" y="5101"/>
              <a:chExt cx="2269" cy="568"/>
            </a:xfrm>
          </p:grpSpPr>
          <p:sp>
            <p:nvSpPr>
              <p:cNvPr id="28" name="矩形 27"/>
              <p:cNvSpPr/>
              <p:nvPr/>
            </p:nvSpPr>
            <p:spPr>
              <a:xfrm>
                <a:off x="7786" y="5102"/>
                <a:ext cx="567" cy="56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8353" y="5101"/>
                <a:ext cx="567" cy="56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0" name="矩形 29"/>
              <p:cNvSpPr/>
              <p:nvPr/>
            </p:nvSpPr>
            <p:spPr>
              <a:xfrm>
                <a:off x="8921" y="5102"/>
                <a:ext cx="567" cy="56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31" name="矩形 30"/>
              <p:cNvSpPr/>
              <p:nvPr/>
            </p:nvSpPr>
            <p:spPr>
              <a:xfrm>
                <a:off x="9488" y="5102"/>
                <a:ext cx="567" cy="567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37" name="组合 36"/>
            <p:cNvGrpSpPr/>
            <p:nvPr/>
          </p:nvGrpSpPr>
          <p:grpSpPr>
            <a:xfrm>
              <a:off x="9514" y="4534"/>
              <a:ext cx="2268" cy="567"/>
              <a:chOff x="7787" y="5102"/>
              <a:chExt cx="2268" cy="567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7787" y="5102"/>
                <a:ext cx="566" cy="56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8353" y="5102"/>
                <a:ext cx="567" cy="56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8921" y="5102"/>
                <a:ext cx="567" cy="56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9489" y="5102"/>
                <a:ext cx="566" cy="567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 rot="0">
              <a:off x="9132" y="3712"/>
              <a:ext cx="566" cy="566"/>
              <a:chOff x="3992" y="2019"/>
              <a:chExt cx="566" cy="566"/>
            </a:xfrm>
          </p:grpSpPr>
          <p:sp>
            <p:nvSpPr>
              <p:cNvPr id="44" name="椭圆 43"/>
              <p:cNvSpPr/>
              <p:nvPr/>
            </p:nvSpPr>
            <p:spPr>
              <a:xfrm>
                <a:off x="3992" y="2019"/>
                <a:ext cx="567" cy="56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>
                        <a:lumMod val="95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45" name="直接连接符 44"/>
              <p:cNvCxnSpPr>
                <a:stCxn id="44" idx="2"/>
                <a:endCxn id="44" idx="6"/>
              </p:cNvCxnSpPr>
              <p:nvPr/>
            </p:nvCxnSpPr>
            <p:spPr>
              <a:xfrm>
                <a:off x="3992" y="2303"/>
                <a:ext cx="56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>
                <a:stCxn id="44" idx="4"/>
                <a:endCxn id="44" idx="0"/>
              </p:cNvCxnSpPr>
              <p:nvPr/>
            </p:nvCxnSpPr>
            <p:spPr>
              <a:xfrm flipV="1">
                <a:off x="4276" y="2019"/>
                <a:ext cx="0" cy="5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47" name="直接箭头连接符 46"/>
            <p:cNvCxnSpPr/>
            <p:nvPr/>
          </p:nvCxnSpPr>
          <p:spPr>
            <a:xfrm flipV="1">
              <a:off x="8072" y="4021"/>
              <a:ext cx="1074" cy="47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直接箭头连接符 47"/>
            <p:cNvCxnSpPr/>
            <p:nvPr/>
          </p:nvCxnSpPr>
          <p:spPr>
            <a:xfrm flipH="1" flipV="1">
              <a:off x="9713" y="4010"/>
              <a:ext cx="1011" cy="4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5" name="直接箭头连接符 54"/>
            <p:cNvCxnSpPr/>
            <p:nvPr/>
          </p:nvCxnSpPr>
          <p:spPr>
            <a:xfrm flipV="1">
              <a:off x="9416" y="3081"/>
              <a:ext cx="0" cy="5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6" name="直接箭头连接符 55"/>
            <p:cNvCxnSpPr/>
            <p:nvPr/>
          </p:nvCxnSpPr>
          <p:spPr>
            <a:xfrm flipV="1">
              <a:off x="10648" y="5167"/>
              <a:ext cx="0" cy="38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67" name="梯形 66"/>
            <p:cNvSpPr/>
            <p:nvPr/>
          </p:nvSpPr>
          <p:spPr>
            <a:xfrm>
              <a:off x="8696" y="2262"/>
              <a:ext cx="1428" cy="753"/>
            </a:xfrm>
            <a:prstGeom prst="trapezoid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68" name="334E55B0-647D-440b-865C-3EC943EB4CBC-11" descr="/Users/york/Library/Containers/com.kingsoft.wpsoffice.mac/Data/tmp/wpsoffice.YwIEPZwpsoffic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093" y="2456"/>
              <a:ext cx="660" cy="399"/>
            </a:xfrm>
            <a:prstGeom prst="rect">
              <a:avLst/>
            </a:prstGeom>
          </p:spPr>
        </p:pic>
        <p:cxnSp>
          <p:nvCxnSpPr>
            <p:cNvPr id="69" name="直接箭头连接符 68"/>
            <p:cNvCxnSpPr/>
            <p:nvPr/>
          </p:nvCxnSpPr>
          <p:spPr>
            <a:xfrm flipV="1">
              <a:off x="10725" y="3029"/>
              <a:ext cx="359" cy="139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0" name="直接箭头连接符 69"/>
            <p:cNvCxnSpPr/>
            <p:nvPr/>
          </p:nvCxnSpPr>
          <p:spPr>
            <a:xfrm>
              <a:off x="10219" y="2623"/>
              <a:ext cx="60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/>
            <p:nvPr/>
          </p:nvCxnSpPr>
          <p:spPr>
            <a:xfrm flipV="1">
              <a:off x="11136" y="1042"/>
              <a:ext cx="0" cy="133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pic>
          <p:nvPicPr>
            <p:cNvPr id="80" name="334E55B0-647D-440b-865C-3EC943EB4CBC-12" descr="wpsoffice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315" y="2002"/>
              <a:ext cx="331" cy="454"/>
            </a:xfrm>
            <a:prstGeom prst="rect">
              <a:avLst/>
            </a:prstGeom>
          </p:spPr>
        </p:pic>
        <p:sp>
          <p:nvSpPr>
            <p:cNvPr id="84" name="文本框 83"/>
            <p:cNvSpPr txBox="1"/>
            <p:nvPr/>
          </p:nvSpPr>
          <p:spPr>
            <a:xfrm>
              <a:off x="7988" y="3418"/>
              <a:ext cx="10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latin typeface="宋体" charset="0"/>
                  <a:ea typeface="宋体" charset="0"/>
                </a:rPr>
                <a:t>拼接</a:t>
              </a:r>
              <a:endParaRPr lang="zh-CN" altLang="en-US" b="1">
                <a:latin typeface="宋体" charset="0"/>
                <a:ea typeface="宋体" charset="0"/>
              </a:endParaRPr>
            </a:p>
          </p:txBody>
        </p:sp>
        <p:grpSp>
          <p:nvGrpSpPr>
            <p:cNvPr id="85" name="组合 84"/>
            <p:cNvGrpSpPr/>
            <p:nvPr/>
          </p:nvGrpSpPr>
          <p:grpSpPr>
            <a:xfrm rot="18840000">
              <a:off x="10841" y="2432"/>
              <a:ext cx="566" cy="566"/>
              <a:chOff x="3992" y="2019"/>
              <a:chExt cx="566" cy="566"/>
            </a:xfrm>
          </p:grpSpPr>
          <p:sp>
            <p:nvSpPr>
              <p:cNvPr id="86" name="椭圆 85"/>
              <p:cNvSpPr/>
              <p:nvPr/>
            </p:nvSpPr>
            <p:spPr>
              <a:xfrm>
                <a:off x="3992" y="2019"/>
                <a:ext cx="567" cy="56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>
                        <a:lumMod val="95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87" name="直接连接符 86"/>
              <p:cNvCxnSpPr>
                <a:stCxn id="86" idx="2"/>
                <a:endCxn id="86" idx="6"/>
              </p:cNvCxnSpPr>
              <p:nvPr/>
            </p:nvCxnSpPr>
            <p:spPr>
              <a:xfrm>
                <a:off x="3992" y="2303"/>
                <a:ext cx="567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88" name="直接连接符 87"/>
              <p:cNvCxnSpPr>
                <a:stCxn id="86" idx="4"/>
                <a:endCxn id="86" idx="0"/>
              </p:cNvCxnSpPr>
              <p:nvPr/>
            </p:nvCxnSpPr>
            <p:spPr>
              <a:xfrm flipV="1">
                <a:off x="4276" y="2019"/>
                <a:ext cx="0" cy="567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sp>
          <p:nvSpPr>
            <p:cNvPr id="89" name="文本框 88"/>
            <p:cNvSpPr txBox="1"/>
            <p:nvPr/>
          </p:nvSpPr>
          <p:spPr>
            <a:xfrm>
              <a:off x="11430" y="1829"/>
              <a:ext cx="724" cy="229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p>
              <a:pPr algn="ctr"/>
              <a:r>
                <a:rPr lang="zh-CN" altLang="en-US" b="1">
                  <a:latin typeface="宋体" charset="0"/>
                  <a:ea typeface="宋体" charset="0"/>
                  <a:sym typeface="+mn-ea"/>
                </a:rPr>
                <a:t>哈达玛乘积</a:t>
              </a:r>
              <a:endParaRPr lang="zh-CN" altLang="en-US" b="1"/>
            </a:p>
          </p:txBody>
        </p:sp>
        <p:sp>
          <p:nvSpPr>
            <p:cNvPr id="90" name="文本框 89"/>
            <p:cNvSpPr txBox="1"/>
            <p:nvPr/>
          </p:nvSpPr>
          <p:spPr>
            <a:xfrm>
              <a:off x="11829" y="4348"/>
              <a:ext cx="62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3200" b="1"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h</a:t>
              </a:r>
              <a:endParaRPr lang="en-US" altLang="zh-CN" sz="3200" b="1"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  <p:sp>
          <p:nvSpPr>
            <p:cNvPr id="91" name="文本框 90"/>
            <p:cNvSpPr txBox="1"/>
            <p:nvPr/>
          </p:nvSpPr>
          <p:spPr>
            <a:xfrm>
              <a:off x="6377" y="4348"/>
              <a:ext cx="624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3200" b="1">
                  <a:latin typeface="Times New Roman" panose="02020503050405090304" charset="0"/>
                  <a:ea typeface="宋体" charset="0"/>
                  <a:cs typeface="Times New Roman" panose="02020503050405090304" charset="0"/>
                </a:rPr>
                <a:t>p</a:t>
              </a:r>
              <a:endParaRPr lang="en-US" altLang="zh-CN" sz="3200" b="1">
                <a:latin typeface="Times New Roman" panose="02020503050405090304" charset="0"/>
                <a:ea typeface="宋体" charset="0"/>
                <a:cs typeface="Times New Roman" panose="02020503050405090304" charset="0"/>
              </a:endParaRPr>
            </a:p>
          </p:txBody>
        </p:sp>
        <p:sp>
          <p:nvSpPr>
            <p:cNvPr id="94" name="圆角矩形 93"/>
            <p:cNvSpPr/>
            <p:nvPr/>
          </p:nvSpPr>
          <p:spPr>
            <a:xfrm>
              <a:off x="6377" y="1792"/>
              <a:ext cx="6076" cy="6650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43" name="组合 142"/>
          <p:cNvGrpSpPr/>
          <p:nvPr/>
        </p:nvGrpSpPr>
        <p:grpSpPr>
          <a:xfrm>
            <a:off x="7678420" y="342265"/>
            <a:ext cx="4399915" cy="6182315"/>
            <a:chOff x="12092" y="-124"/>
            <a:chExt cx="6929" cy="9736"/>
          </a:xfrm>
        </p:grpSpPr>
        <p:cxnSp>
          <p:nvCxnSpPr>
            <p:cNvPr id="141" name="直接箭头连接符 140"/>
            <p:cNvCxnSpPr/>
            <p:nvPr/>
          </p:nvCxnSpPr>
          <p:spPr>
            <a:xfrm flipH="1" flipV="1">
              <a:off x="17120" y="6702"/>
              <a:ext cx="1024" cy="291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7" name="流程图: 资料带 96"/>
            <p:cNvSpPr/>
            <p:nvPr/>
          </p:nvSpPr>
          <p:spPr>
            <a:xfrm>
              <a:off x="13047" y="5662"/>
              <a:ext cx="1843" cy="831"/>
            </a:xfrm>
            <a:prstGeom prst="flowChartPunchedTape">
              <a:avLst/>
            </a:prstGeom>
            <a:solidFill>
              <a:schemeClr val="bg2">
                <a:lumMod val="90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b="1">
                  <a:solidFill>
                    <a:schemeClr val="tx1"/>
                  </a:solidFill>
                  <a:latin typeface="宋体" charset="0"/>
                  <a:ea typeface="宋体" charset="0"/>
                </a:rPr>
                <a:t>根因得分</a:t>
              </a:r>
              <a:endParaRPr lang="zh-CN" altLang="en-US" b="1">
                <a:solidFill>
                  <a:schemeClr val="tx1"/>
                </a:solidFill>
                <a:latin typeface="宋体" charset="0"/>
                <a:ea typeface="宋体" charset="0"/>
              </a:endParaRPr>
            </a:p>
          </p:txBody>
        </p:sp>
        <p:cxnSp>
          <p:nvCxnSpPr>
            <p:cNvPr id="98" name="直接箭头连接符 97"/>
            <p:cNvCxnSpPr/>
            <p:nvPr/>
          </p:nvCxnSpPr>
          <p:spPr>
            <a:xfrm flipV="1">
              <a:off x="13968" y="5023"/>
              <a:ext cx="0" cy="5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09" name="组合 108"/>
            <p:cNvGrpSpPr/>
            <p:nvPr/>
          </p:nvGrpSpPr>
          <p:grpSpPr>
            <a:xfrm rot="0">
              <a:off x="12233" y="4165"/>
              <a:ext cx="3454" cy="752"/>
              <a:chOff x="12989" y="4221"/>
              <a:chExt cx="3454" cy="752"/>
            </a:xfrm>
          </p:grpSpPr>
          <p:sp>
            <p:nvSpPr>
              <p:cNvPr id="99" name="梯形 98"/>
              <p:cNvSpPr/>
              <p:nvPr/>
            </p:nvSpPr>
            <p:spPr>
              <a:xfrm>
                <a:off x="12989" y="4221"/>
                <a:ext cx="3454" cy="753"/>
              </a:xfrm>
              <a:prstGeom prst="trapezoid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00" name="334E55B0-647D-440b-865C-3EC943EB4CBC-13" descr="wpsoffice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3178" y="4366"/>
                <a:ext cx="3076" cy="454"/>
              </a:xfrm>
              <a:prstGeom prst="rect">
                <a:avLst/>
              </a:prstGeom>
            </p:spPr>
          </p:pic>
        </p:grpSp>
        <p:grpSp>
          <p:nvGrpSpPr>
            <p:cNvPr id="106" name="组合 105"/>
            <p:cNvGrpSpPr/>
            <p:nvPr/>
          </p:nvGrpSpPr>
          <p:grpSpPr>
            <a:xfrm rot="0">
              <a:off x="15700" y="5505"/>
              <a:ext cx="2268" cy="566"/>
              <a:chOff x="14552" y="8312"/>
              <a:chExt cx="2268" cy="566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102" name="矩形 101"/>
              <p:cNvSpPr/>
              <p:nvPr/>
            </p:nvSpPr>
            <p:spPr>
              <a:xfrm>
                <a:off x="14552" y="8312"/>
                <a:ext cx="566" cy="567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15118" y="8312"/>
                <a:ext cx="567" cy="567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15686" y="8312"/>
                <a:ext cx="567" cy="567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16254" y="8312"/>
                <a:ext cx="566" cy="567"/>
              </a:xfrm>
              <a:prstGeom prst="rect">
                <a:avLst/>
              </a:prstGeom>
              <a:grp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</p:grpSp>
        <p:sp>
          <p:nvSpPr>
            <p:cNvPr id="107" name="文本框 106"/>
            <p:cNvSpPr txBox="1"/>
            <p:nvPr/>
          </p:nvSpPr>
          <p:spPr>
            <a:xfrm>
              <a:off x="15704" y="6127"/>
              <a:ext cx="22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latin typeface="宋体" charset="0"/>
                  <a:ea typeface="宋体" charset="0"/>
                </a:rPr>
                <a:t>异常得分</a:t>
              </a:r>
              <a:endParaRPr lang="zh-CN" altLang="en-US" b="1">
                <a:latin typeface="宋体" charset="0"/>
                <a:ea typeface="宋体" charset="0"/>
              </a:endParaRPr>
            </a:p>
          </p:txBody>
        </p:sp>
        <p:grpSp>
          <p:nvGrpSpPr>
            <p:cNvPr id="110" name="组合 109"/>
            <p:cNvGrpSpPr/>
            <p:nvPr/>
          </p:nvGrpSpPr>
          <p:grpSpPr>
            <a:xfrm rot="0">
              <a:off x="12246" y="7261"/>
              <a:ext cx="3454" cy="753"/>
              <a:chOff x="12989" y="4221"/>
              <a:chExt cx="3454" cy="753"/>
            </a:xfrm>
          </p:grpSpPr>
          <p:sp>
            <p:nvSpPr>
              <p:cNvPr id="111" name="梯形 110"/>
              <p:cNvSpPr/>
              <p:nvPr/>
            </p:nvSpPr>
            <p:spPr>
              <a:xfrm>
                <a:off x="12989" y="4221"/>
                <a:ext cx="3454" cy="753"/>
              </a:xfrm>
              <a:prstGeom prst="trapezoid">
                <a:avLst>
                  <a:gd name="adj" fmla="val 0"/>
                </a:avLst>
              </a:prstGeom>
              <a:solidFill>
                <a:schemeClr val="bg1">
                  <a:lumMod val="95000"/>
                </a:schemeClr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112" name="334E55B0-647D-440b-865C-3EC943EB4CBC-14" descr="/Users/york/Library/Containers/com.kingsoft.wpsoffice.mac/Data/tmp/wpsoffice.CBHBnFwpsoffice"/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178" y="4367"/>
                <a:ext cx="3076" cy="453"/>
              </a:xfrm>
              <a:prstGeom prst="rect">
                <a:avLst/>
              </a:prstGeom>
            </p:spPr>
          </p:pic>
        </p:grpSp>
        <p:cxnSp>
          <p:nvCxnSpPr>
            <p:cNvPr id="113" name="直接箭头连接符 112"/>
            <p:cNvCxnSpPr/>
            <p:nvPr/>
          </p:nvCxnSpPr>
          <p:spPr>
            <a:xfrm>
              <a:off x="13968" y="6584"/>
              <a:ext cx="0" cy="5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4" name="直接箭头连接符 113"/>
            <p:cNvCxnSpPr/>
            <p:nvPr/>
          </p:nvCxnSpPr>
          <p:spPr>
            <a:xfrm>
              <a:off x="16834" y="6702"/>
              <a:ext cx="0" cy="5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直接箭头连接符 114"/>
            <p:cNvCxnSpPr/>
            <p:nvPr/>
          </p:nvCxnSpPr>
          <p:spPr>
            <a:xfrm>
              <a:off x="15744" y="7633"/>
              <a:ext cx="6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20" name="组合 119"/>
            <p:cNvGrpSpPr/>
            <p:nvPr/>
          </p:nvGrpSpPr>
          <p:grpSpPr>
            <a:xfrm rot="0">
              <a:off x="16550" y="7379"/>
              <a:ext cx="566" cy="566"/>
              <a:chOff x="15771" y="2703"/>
              <a:chExt cx="566" cy="566"/>
            </a:xfrm>
          </p:grpSpPr>
          <p:sp>
            <p:nvSpPr>
              <p:cNvPr id="117" name="椭圆 116"/>
              <p:cNvSpPr/>
              <p:nvPr/>
            </p:nvSpPr>
            <p:spPr>
              <a:xfrm rot="18840000">
                <a:off x="15771" y="2703"/>
                <a:ext cx="567" cy="56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>
                        <a:lumMod val="95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18" name="直接连接符 117"/>
              <p:cNvCxnSpPr>
                <a:stCxn id="117" idx="2"/>
                <a:endCxn id="117" idx="6"/>
              </p:cNvCxnSpPr>
              <p:nvPr/>
            </p:nvCxnSpPr>
            <p:spPr>
              <a:xfrm flipV="1">
                <a:off x="15858" y="2784"/>
                <a:ext cx="394" cy="40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9" name="直接连接符 118"/>
              <p:cNvCxnSpPr>
                <a:stCxn id="117" idx="4"/>
                <a:endCxn id="117" idx="0"/>
              </p:cNvCxnSpPr>
              <p:nvPr/>
            </p:nvCxnSpPr>
            <p:spPr>
              <a:xfrm flipH="1" flipV="1">
                <a:off x="15851" y="2790"/>
                <a:ext cx="408" cy="3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23" name="直接箭头连接符 122"/>
            <p:cNvCxnSpPr/>
            <p:nvPr/>
          </p:nvCxnSpPr>
          <p:spPr>
            <a:xfrm flipV="1">
              <a:off x="16834" y="4804"/>
              <a:ext cx="0" cy="5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4" name="梯形 123"/>
            <p:cNvSpPr/>
            <p:nvPr/>
          </p:nvSpPr>
          <p:spPr>
            <a:xfrm>
              <a:off x="16120" y="3952"/>
              <a:ext cx="1428" cy="753"/>
            </a:xfrm>
            <a:prstGeom prst="trapezoid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b="1">
                  <a:solidFill>
                    <a:schemeClr val="tx1"/>
                  </a:solidFill>
                  <a:latin typeface="Times New Roman" panose="02020503050405090304" charset="0"/>
                  <a:cs typeface="Times New Roman" panose="02020503050405090304" charset="0"/>
                </a:rPr>
                <a:t>POT</a:t>
              </a:r>
              <a:endParaRPr lang="en-US" altLang="zh-CN" b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cxnSp>
          <p:nvCxnSpPr>
            <p:cNvPr id="125" name="直接箭头连接符 124"/>
            <p:cNvCxnSpPr/>
            <p:nvPr/>
          </p:nvCxnSpPr>
          <p:spPr>
            <a:xfrm flipV="1">
              <a:off x="16833" y="3253"/>
              <a:ext cx="0" cy="5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6" name="肘形连接符 125"/>
            <p:cNvCxnSpPr/>
            <p:nvPr/>
          </p:nvCxnSpPr>
          <p:spPr>
            <a:xfrm flipV="1">
              <a:off x="13941" y="2842"/>
              <a:ext cx="2417" cy="1118"/>
            </a:xfrm>
            <a:prstGeom prst="bentConnector3">
              <a:avLst>
                <a:gd name="adj1" fmla="val 413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27" name="组合 126"/>
            <p:cNvGrpSpPr/>
            <p:nvPr/>
          </p:nvGrpSpPr>
          <p:grpSpPr>
            <a:xfrm rot="0">
              <a:off x="16543" y="2578"/>
              <a:ext cx="566" cy="566"/>
              <a:chOff x="15771" y="2703"/>
              <a:chExt cx="566" cy="566"/>
            </a:xfrm>
          </p:grpSpPr>
          <p:sp>
            <p:nvSpPr>
              <p:cNvPr id="128" name="椭圆 127"/>
              <p:cNvSpPr/>
              <p:nvPr/>
            </p:nvSpPr>
            <p:spPr>
              <a:xfrm rot="18840000">
                <a:off x="15771" y="2703"/>
                <a:ext cx="567" cy="56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>
                        <a:lumMod val="95000"/>
                      </a:schemeClr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cxnSp>
            <p:nvCxnSpPr>
              <p:cNvPr id="129" name="直接连接符 128"/>
              <p:cNvCxnSpPr>
                <a:stCxn id="128" idx="2"/>
                <a:endCxn id="128" idx="6"/>
              </p:cNvCxnSpPr>
              <p:nvPr/>
            </p:nvCxnSpPr>
            <p:spPr>
              <a:xfrm flipV="1">
                <a:off x="15858" y="2784"/>
                <a:ext cx="394" cy="408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30" name="直接连接符 129"/>
              <p:cNvCxnSpPr>
                <a:stCxn id="128" idx="4"/>
                <a:endCxn id="128" idx="0"/>
              </p:cNvCxnSpPr>
              <p:nvPr/>
            </p:nvCxnSpPr>
            <p:spPr>
              <a:xfrm flipH="1" flipV="1">
                <a:off x="15851" y="2790"/>
                <a:ext cx="408" cy="394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</p:grpSp>
        <p:cxnSp>
          <p:nvCxnSpPr>
            <p:cNvPr id="131" name="直接箭头连接符 130"/>
            <p:cNvCxnSpPr/>
            <p:nvPr/>
          </p:nvCxnSpPr>
          <p:spPr>
            <a:xfrm flipV="1">
              <a:off x="16833" y="1890"/>
              <a:ext cx="0" cy="56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肘形连接符 133"/>
            <p:cNvCxnSpPr/>
            <p:nvPr/>
          </p:nvCxnSpPr>
          <p:spPr>
            <a:xfrm rot="16200000">
              <a:off x="14917" y="4360"/>
              <a:ext cx="5739" cy="853"/>
            </a:xfrm>
            <a:prstGeom prst="bentConnector3">
              <a:avLst>
                <a:gd name="adj1" fmla="val -278"/>
              </a:avLst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6" name="文本框 135"/>
            <p:cNvSpPr txBox="1"/>
            <p:nvPr/>
          </p:nvSpPr>
          <p:spPr>
            <a:xfrm>
              <a:off x="15655" y="3240"/>
              <a:ext cx="106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latin typeface="宋体" charset="0"/>
                  <a:ea typeface="宋体" charset="0"/>
                </a:rPr>
                <a:t>阈值</a:t>
              </a:r>
              <a:endParaRPr lang="zh-CN" altLang="en-US" b="1">
                <a:latin typeface="宋体" charset="0"/>
                <a:ea typeface="宋体" charset="0"/>
              </a:endParaRPr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14954" y="1919"/>
              <a:ext cx="173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latin typeface="宋体" charset="0"/>
                  <a:ea typeface="宋体" charset="0"/>
                </a:rPr>
                <a:t>修正阈值</a:t>
              </a:r>
              <a:endParaRPr lang="zh-CN" altLang="en-US" b="1">
                <a:latin typeface="宋体" charset="0"/>
                <a:ea typeface="宋体" charset="0"/>
              </a:endParaRPr>
            </a:p>
          </p:txBody>
        </p:sp>
        <p:sp>
          <p:nvSpPr>
            <p:cNvPr id="138" name="梯形 137"/>
            <p:cNvSpPr/>
            <p:nvPr/>
          </p:nvSpPr>
          <p:spPr>
            <a:xfrm>
              <a:off x="16266" y="1031"/>
              <a:ext cx="2419" cy="753"/>
            </a:xfrm>
            <a:prstGeom prst="trapezoid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p>
              <a:pPr algn="ctr"/>
              <a:r>
                <a:rPr lang="zh-CN" altLang="en-US" b="1">
                  <a:solidFill>
                    <a:schemeClr val="tx1"/>
                  </a:solidFill>
                  <a:latin typeface="Times New Roman" panose="02020503050405090304" charset="0"/>
                  <a:cs typeface="Times New Roman" panose="02020503050405090304" charset="0"/>
                </a:rPr>
                <a:t>判断</a:t>
              </a:r>
              <a:r>
                <a:rPr lang="zh-CN" altLang="en-US" b="1">
                  <a:solidFill>
                    <a:schemeClr val="tx1"/>
                  </a:solidFill>
                  <a:latin typeface="Times New Roman" panose="02020503050405090304" charset="0"/>
                  <a:cs typeface="Times New Roman" panose="02020503050405090304" charset="0"/>
                </a:rPr>
                <a:t>异常</a:t>
              </a:r>
              <a:endParaRPr lang="zh-CN" altLang="en-US" b="1">
                <a:solidFill>
                  <a:schemeClr val="tx1"/>
                </a:solidFill>
                <a:latin typeface="Times New Roman" panose="02020503050405090304" charset="0"/>
                <a:cs typeface="Times New Roman" panose="02020503050405090304" charset="0"/>
              </a:endParaRPr>
            </a:p>
          </p:txBody>
        </p:sp>
        <p:cxnSp>
          <p:nvCxnSpPr>
            <p:cNvPr id="139" name="直接箭头连接符 138"/>
            <p:cNvCxnSpPr/>
            <p:nvPr/>
          </p:nvCxnSpPr>
          <p:spPr>
            <a:xfrm flipV="1">
              <a:off x="17548" y="-124"/>
              <a:ext cx="0" cy="105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5" name="文本框 134"/>
            <p:cNvSpPr txBox="1"/>
            <p:nvPr/>
          </p:nvSpPr>
          <p:spPr>
            <a:xfrm>
              <a:off x="15586" y="8031"/>
              <a:ext cx="2512" cy="58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latin typeface="宋体" charset="0"/>
                  <a:ea typeface="宋体" charset="0"/>
                </a:rPr>
                <a:t>修正异常得分</a:t>
              </a:r>
              <a:endParaRPr lang="zh-CN" altLang="en-US" b="1">
                <a:latin typeface="宋体" charset="0"/>
                <a:ea typeface="宋体" charset="0"/>
              </a:endParaRPr>
            </a:p>
          </p:txBody>
        </p:sp>
        <p:sp>
          <p:nvSpPr>
            <p:cNvPr id="142" name="圆角矩形 141"/>
            <p:cNvSpPr/>
            <p:nvPr/>
          </p:nvSpPr>
          <p:spPr>
            <a:xfrm>
              <a:off x="12092" y="571"/>
              <a:ext cx="6929" cy="8262"/>
            </a:xfrm>
            <a:prstGeom prst="roundRect">
              <a:avLst/>
            </a:prstGeom>
            <a:noFill/>
            <a:ln w="38100">
              <a:solidFill>
                <a:schemeClr val="tx1"/>
              </a:solidFill>
              <a:prstDash val="sys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10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334E55B0-647D-440b-865C-3EC943EB4CBC-1">
      <extobjdata type="334E55B0-647D-440b-865C-3EC943EB4CBC" data="ewoJIkltZ1NldHRpbmdKc29uIiA6ICJ7XCJkcGlcIjpcIjYwMFwiLFwiZm9ybWF0XCI6XCJQTkdcIixcInRyYW5zcGFyZW50XCI6dHJ1ZSxcImF1dG9cIjpmYWxzZX0iLAoJIkxhdGV4IiA6ICJYRnNnWEcxaGRHaGlabnQ0ZlY5MElGeGQiLAoJIkxhdGV4SW1nQmFzZTY0IiA6ICJpVkJPUncwS0dnb0FBQUFOU1VoRVVnQUFBRWdBQUFBekJBTUFBQURHSmxOMkFBQUFNRkJNVkVYLy8vOEFBQUFBQUFBQUFBQUFBQUFBQUFBQUFBQUFBQUFBQUFBQUFBQUFBQUFBQUFBQUFBQUFBQUFBQUFBQUFBQXYzYUI3QUFBQUQzUlNUbE1BemUvZFpsUzdSSmtpTW9tcmRoQzhicVNNQUFBQUNYQklXWE1BQUE3RUFBQU94QUdWS3c0YkFBQUNRa2xFUVZRNEVaMlVTMjRUUVJDR0swQk1uTWRBaEZpRG1nVmlBUlB3SHM4TnpBa1NOcXpoQnZFTmpMaUFMZllvRVJlWVNFaHNoeHVNd3dFc011YVpFQlZWMVRVOTNlUHBMSmlONi9IMTYrKy9EV3VWR2V6dTNoa1l6QUJnSFRrYm1DWEYzcmVHOVpkUmRWMlQvNEY2eHFROHZESXZhS2FiT3RPWnQ1WU5iM0RudDQzN0U4UzdzeFdFQ2psVG1lMjh4b3N1QkdDYm9WL1MyMEE4NlliZ0hsTnZ1Vm5pendnRFh4bDZRbDJTNEhZTTJtU0lUM1NJeTNrTWdnT21UcUNQK0NqS3dBNURGN3pzTEE1QndkVCtVTThZQWVVS3p4Qlo5dUNiZTFreTVLbncwaXRKV09wTjJQcFVvSEVMb21QUHZaSmNiZVVWSktRTENFb2pudW80S0FGY2ExMEFEVUw4MFlLbXJWMks2bTJaUm5nZURIdkhNN1VGTC9DK0Q2a0dMWE9ub1hGSXpaeW5ldW1QcEx2TS9MekFTN0Z4NEV1cWlNc1VwTE9OZ2Z3ZER0M0dRTGtTL3dMMEdMSTJwb2VUY3NiZm5rNmtqaHhTcWRJRnhEM01PRWdkS1RJODE0SEpZbEhpK1dJeDE3eDJwQWpxdllSQUp1ZklBNTUrckVNQmZKbElTTjN1RmtQZmE0Z1crRkxIY05vY3ZHRHFqWFpJcHBtR3lRYzY3TDRtWXVNL21qaVo3TDBpZnBQR1I4TXpvVEdQT1hWdW1rcTFobkxOckkyY202NkNuSnVtMVlPbjlDZVoydVZ5K1FjZFBFdmwyVXgwRTdyRjdwOWhhSnhPS1BGbDZpU29TTGMraS9WY25Uem00bWh3M1Q2NlhoWWxxSEhMcXBVZlh3VWR5YU5MQXB1djhDT1JhU040R2l2UVJGN200ZDVLd3krVS9FL2NkOGJ4VzAxOHhFL2d2Yk5nMC9DakxkcjRqdWROdjlmRUJYNU9IelpwZDdUNWFmbUtPLzhBV3ErdHJuSE5LRklBQUFBQVNVVk9SSzVDWUlJPSIKfQo="/>
    </extobj>
    <extobj name="334E55B0-647D-440b-865C-3EC943EB4CBC-2">
      <extobjdata type="334E55B0-647D-440b-865C-3EC943EB4CBC" data="ewoJIkltZ1NldHRpbmdKc29uIiA6ICJ7XCJkcGlcIjpcIjYwMFwiLFwiZm9ybWF0XCI6XCJQTkdcIixcInRyYW5zcGFyZW50XCI6dHJ1ZSxcImF1dG9cIjpmYWxzZX0iLAoJIkxhdGV4IiA6ICJYRnNnWEcxaGRHaGlabnQ0ZlY5MElGeGQiLAoJIkxhdGV4SW1nQmFzZTY0IiA6ICJpVkJPUncwS0dnb0FBQUFOU1VoRVVnQUFBRWdBQUFBekJBTUFBQURHSmxOMkFBQUFNRkJNVkVYLy8vOEFBQUFBQUFBQUFBQUFBQUFBQUFBQUFBQUFBQUFBQUFBQUFBQUFBQUFBQUFBQUFBQUFBQUFBQUFBQUFBQXYzYUI3QUFBQUQzUlNUbE1BemUvZFpsUzdSSmtpTW9tcmRoQzhicVNNQUFBQUNYQklXWE1BQUE3RUFBQU94QUdWS3c0YkFBQUNRa2xFUVZRNEVaMlVTMjRUUVJDR0swQk1uTWRBaEZpRG1nVmlBUlB3SHM4TnpBa1NOcXpoQnZFTmpMaUFMZllvRVJlWVNFaHNoeHVNd3dFc011YVpFQlZWMVRVOTNlUHBMSmlONi9IMTYrKy9EV3VWR2V6dTNoa1l6QUJnSFRrYm1DWEYzcmVHOVpkUmRWMlQvNEY2eHFROHZESXZhS2FiT3RPWnQ1WU5iM0RudDQzN0U4UzdzeFdFQ2psVG1lMjh4b3N1QkdDYm9WL1MyMEE4NlliZ0hsTnZ1Vm5pendnRFh4bDZRbDJTNEhZTTJtU0lUM1NJeTNrTWdnT21UcUNQK0NqS3dBNURGN3pzTEE1QndkVCtVTThZQWVVS3p4Qlo5dUNiZTFreTVLbncwaXRKV09wTjJQcFVvSEVMb21QUHZaSmNiZVVWSktRTENFb2pudW80S0FGY2ExMEFEVUw4MFlLbXJWMks2bTJaUm5nZURIdkhNN1VGTC9DK0Q2a0dMWE9ub1hGSXpaeW5ldW1QcEx2TS9MekFTN0Z4NEV1cWlNc1VwTE9OZ2Z3ZER0M0dRTGtTL3dMMEdMSTJwb2VUY3NiZm5rNmtqaHhTcWRJRnhEM01PRWdkS1RJODE0SEpZbEhpK1dJeDE3eDJwQWpxdllSQUp1ZklBNTUrckVNQmZKbElTTjN1RmtQZmE0Z1crRkxIY05vY3ZHRHFqWFpJcHBtR3lRYzY3TDRtWXVNL21qaVo3TDBpZnBQR1I4TXpvVEdQT1hWdW1rcTFobkxOckkyY202NkNuSnVtMVlPbjlDZVoydVZ5K1FjZFBFdmwyVXgwRTdyRjdwOWhhSnhPS1BGbDZpU29TTGMraS9WY25Uem00bWh3M1Q2NlhoWWxxSEhMcXBVZlh3VWR5YU5MQXB1djhDT1JhU040R2l2UVJGN200ZDVLd3krVS9FL2NkOGJ4VzAxOHhFL2d2Yk5nMC9DakxkcjRqdWROdjlmRUJYNU9IelpwZDdUNWFmbUtPLzhBV3ErdHJuSE5LRklBQUFBQVNVVk9SSzVDWUlJPSIKfQo="/>
    </extobj>
    <extobj name="334E55B0-647D-440b-865C-3EC943EB4CBC-3">
      <extobjdata type="334E55B0-647D-440b-865C-3EC943EB4CBC" data="ewoJIkltZ1NldHRpbmdKc29uIiA6ICJ7XCJkcGlcIjpcIjYwMFwiLFwiZm9ybWF0XCI6XCJQTkdcIixcInRyYW5zcGFyZW50XCI6dHJ1ZSxcImF1dG9cIjp0cnVlfSIsCgkiTGF0ZXgiIDogIlhGc2dYR2hoZEh0Y2JXRjBhR0ptZTNoOWZWOTBJRnhkIiwKCSJMYXRleEltZ0Jhc2U2NCIgOiAiaVZCT1J3MEtHZ29BQUFBTlNVaEVVZ0FBQUVnQUFBQkpCQU1BQUFCc24zM1JBQUFBTUZCTVZFWC8vLzhBQUFBQUFBQUFBQUFBQUFBQUFBQUFBQUFBQUFBQUFBQUFBQUFBQUFBQUFBQUFBQUFBQUFBQUFBQUFBQUF2M2FCN0FBQUFEM1JTVGxNQXV6S1o3MllRM1NLclJJbFVkczF1VzVtOUFBQUFDWEJJV1hNQUFBN0VBQUFPeEFHVkt3NGJBQUFDcjBsRVFWUklEZTFWdlc0VFFSQWVPOFQ0eUE4OEFKS3ZvRVh4RzVqaUJBZ0puZC9BTHBEcFVBcUVPK3dpTFhLb0tJODNTQXI2UzVVMmVZTkxSNE1DU1E0WkNNa3dNN3UzdDd2MlhTUWtPcTd3elh6ejdjenQ3RGRyZ1BKcGhLVmRhWFhPSzBNbTBFQU1qVk5sZEJCdlROWEFpemkvS1ZVSCt5L3hhVlVaaFFmNEM2Q1RUMnRaQ1pjSzZsTUYrSVp6cExXcGtyTWhrMWJyVWdXNHl4eUFvNXBVTzVlS0E4MzRXRnVMcjJhL3dONFZ4di8zUCtyQVpoNk5UMDgvanlQa3BxOGplK05vN2xiYnhPSlJKT1g5RGFrUlJUR3Z6cU1ES25GSHA3MTJ5NUczeXBFTEJiZDdpRi9DQlFvQktiTzBXRHBZU010akJreWlZYUZuQlF1TmVoeUFyOHlhTXB6aDJVSlVBeStZOUppY2RjU1RLbEtUU2J5alBad1BxMGh3eEt4ZGFHUGRTRzB3NlJLb2JGaVpDQ0JoMXVGRTc3R0NLRWQ0alhqZ3g0Y1cwSnB3S3J5eUlERXpmUklLbndtcDY1Rm8yME1Ma3FQTkxVQk1PZ0FIR25DcWZRY0N1T1VkQUMxQy9PMlJadDVYU3RmOU5nMjhDM21ITS9rTlQvQ1JuVnYzd0JOMzdBcUh1cGx5cW52MlNqcExyVVdGSm5nbE1uWjBTY2pVV2tSNzYwS1BVOWxMQTNRNmwrRlBBUG9MS21STWd5TkR4TWkyVHFZVk9TRW8xd1ZFUGN3eEpLMUlhWVBjK3JTNE5ScGxlRDRhRFhXaVFwSFNVR3NTbkRZWlJZcU11M29wZ04wbWFxU2FPbGpqYi9oZWtLakFjV0hEcTNMakNiTSs2Z2kxS2RSbTZ5RnQ5bEE3SXVNZjJqRnRVdWVLK0UwQ255TE9oRkgwbkYyakppWGJncFFLaDM1RTdFWk5kU1NqcGxuKzVDMWRrckVxbDhvTk9uNGRTNmFlL2dqOWljdGZFMWM0UzBrdHUwMUxHUVRTcVlkVk1ZUDdRMmNDdG5GYkRWMmpiNE8rZlZkMUs5MzNBN2EvSlVQWGNtUnV4OFVlU0p0V25ORllJUFZrTXZlMkZ3STJrUEZOM0RiQ3NVT2x2Y1VqOE1CSXNBelkxaHA5K0lhbFRUdFcyZ20rajUrVjduS3IrV0YrbnlOL0FBeXUxWm5nTHVtaUFBQUFBRWxGVGtTdVFtQ0MiCn0K"/>
    </extobj>
    <extobj name="334E55B0-647D-440b-865C-3EC943EB4CBC-4">
      <extobjdata type="334E55B0-647D-440b-865C-3EC943EB4CBC" data="ewoJIkltZ1NldHRpbmdKc29uIiA6ICJ7XCJkcGlcIjpcIjYwMFwiLFwiZm9ybWF0XCI6XCJQTkdcIixcInRyYW5zcGFyZW50XCI6dHJ1ZSxcImF1dG9cIjp0cnVlfSIsCgkiTGF0ZXgiIDogIlhGc2dYR2hoZEh0Y2JXRjBhR0ptZTNWOWZWOTBJRnhkIiwKCSJMYXRleEltZ0Jhc2U2NCIgOiAiaVZCT1J3MEtHZ29BQUFBTlNVaEVVZ0FBQUVrQUFBQkpCQU1BQUFDRFhSYnZBQUFBTUZCTVZFWC8vLzhBQUFBQUFBQUFBQUFBQUFBQUFBQUFBQUFBQUFBQUFBQUFBQUFBQUFBQUFBQUFBQUFBQUFBQUFBQUFBQUF2M2FCN0FBQUFEM1JTVGxNQXV6S1o3MllRM1NLclJJbFVkczF1VzVtOUFBQUFDWEJJV1hNQUFBN0VBQUFPeEFHVkt3NGJBQUFDVTBsRVFWUklEZTJWTVcvVFVCREhMMDdyMW0wak1jREFRSjBKaWFsSW1SQkRHSkJnYzVhT0tKbkNBcXFRVU5rSUVvVU5oUWgyWjJDSGhUblpHZEtaRGhGZmdCSXdoQmJCY1hmUDhYdUo3ZWNzWFJDMytPNytQOS9GcDN0NUFOcEtWZTNuZS83WGZDMVJTb2pWSk1oMWZNVGlZaVg4RmtTRnhYeHMzTVhidVoyVTRPRXBnQjg5c1dNaGQvTUtpbm00ejFVRzltTGhwTVhVcXJXWWh5OFpBaGpaaWgzOFVoQTR3V0hzWlR5Y3hpejVZdWI4ZjU3NUJPN2RPYnJXKy96d3BqVGEyajJxOWJZZkJmM0Z0bTlSTEpMOGlncndUS21udFdOdW96cHUxbDVMejFSSEFEZElLUHB4ZGNZeUtBZ3ByMm9SSlYrVFJkVk5hb2VDekZvRGsrcitVNVJMMHhHemZXTUZyeTVCN2VDUEphZzZmbG1DQ3ZCY01iV09lRmhNcmVwL2Q4czNlbnBaTE5RS25zUU53VUoxOFhzbU5iOWZUZnlaU2MzdmFvZzNNcWtta3ZWWmVzTWUyMVRBQVhuSjNvY1VLR3JNSHB1aXh1UWxWTUI1cVFYdDluM0V5KzIybElJUkM4cUZMZmFUMDJHTUMrU3pZbXB0ampMR0JhSzBGQllLTll6ZjZlTHYyQU9vc0tLRU12WTRtRzFlMDd4OU95VElsYmJ1VHoybUp1OTNwWVl4TG9BREVxS1B6OTFuUHU0TFJiRlFlcnNvZEkrNUFOdWtaVkxHZHZGTEc3NHdPQjNTZGF1TTA4WjJjUWp1aCswQW8wdFZ1cFNqVzQ4L1hYeDFuYlBsWkl3YzVka2FUdklrSTc5bmpNdElMN2dqYzF3TG1nNzFZZFM1dE5kUmgvRkNXakV6NmpCdXptNStVOUsrb3c3alhyTDZXakk4R2lwSDlYZEdMdTJXWllNMzFFS241VGhUd1Qva2RVOXpBUkVjUGhkTzBMQlRkT2lyTU5iYm1rTjdlSEkrNnVlSU9uMmw4MkRJMFY4aURSZ1ZxS3lZa0FBQUFBQkpSVTVFcmtKZ2dnPT0iCn0K"/>
    </extobj>
    <extobj name="334E55B0-647D-440b-865C-3EC943EB4CBC-5">
      <extobjdata type="334E55B0-647D-440b-865C-3EC943EB4CBC" data="ewoJIkltZ1NldHRpbmdKc29uIiA6ICJ7XCJkcGlcIjpcIjYwMFwiLFwiZm9ybWF0XCI6XCJQTkdcIixcInRyYW5zcGFyZW50XCI6dHJ1ZSxcImF1dG9cIjp0cnVlfSIsCgkiTGF0ZXgiIDogIlhGc2dYR2hoZEh0Y2JXRjBhR0ptZTNWOWZWOTBJRnhkIiwKCSJMYXRleEltZ0Jhc2U2NCIgOiAiaVZCT1J3MEtHZ29BQUFBTlNVaEVVZ0FBQUVrQUFBQkpCQU1BQUFDRFhSYnZBQUFBTUZCTVZFWC8vLzhBQUFBQUFBQUFBQUFBQUFBQUFBQUFBQUFBQUFBQUFBQUFBQUFBQUFBQUFBQUFBQUFBQUFBQUFBQUFBQUF2M2FCN0FBQUFEM1JTVGxNQXV6S1o3MllRM1NLclJJbFVkczF1VzVtOUFBQUFDWEJJV1hNQUFBN0VBQUFPeEFHVkt3NGJBQUFDVTBsRVFWUklEZTJWTVcvVFVCREhMMDdyMW0wak1jREFRSjBKaWFsSW1SQkRHSkJnYzVhT0tKbkNBcXFRVU5rSUVvVU5oUWgyWjJDSGhUblpHZEtaRGhGZmdCSXdoQmJCY1hmUDhYdUo3ZWNzWFJDMytPNytQOS9GcDN0NUFOcEtWZTNuZS83WGZDMVJTb2pWSk1oMWZNVGlZaVg4RmtTRnhYeHMzTVhidVoyVTRPRXBnQjg5c1dNaGQvTUtpbm00ejFVRzltTGhwTVhVcXJXWWh5OFpBaGpaaWgzOFVoQTR3V0hzWlR5Y3hpejVZdWI4ZjU3NUJPN2RPYnJXKy96d3BqVGEyajJxOWJZZkJmM0Z0bTlSTEpMOGlncndUS21udFdOdW96cHUxbDVMejFSSEFEZElLUHB4ZGNZeUtBZ3ByMm9SSlYrVFJkVk5hb2VDekZvRGsrcitVNVJMMHhHemZXTUZyeTVCN2VDUEphZzZmbG1DQ3ZCY01iV09lRmhNcmVwL2Q4czNlbnBaTE5RS25zUU53VUoxOFhzbU5iOWZUZnlaU2MzdmFvZzNNcWtta3ZWWmVzTWUyMVRBQVhuSjNvY1VLR3JNSHB1aXh1UWxWTUI1cVFYdDluM0V5KzIybElJUkM4cUZMZmFUMDJHTUMrU3pZbXB0ampMR0JhSzBGQllLTll6ZjZlTHYyQU9vc0tLRU12WTRtRzFlMDd4OU95VElsYmJ1VHoybUp1OTNwWVl4TG9BREVxS1B6OTFuUHU0TFJiRlFlcnNvZEkrNUFOdWtaVkxHZHZGTEc3NHdPQjNTZGF1TTA4WjJjUWp1aCswQW8wdFZ1cFNqVzQ4L1hYeDFuYlBsWkl3YzVka2FUdklrSTc5bmpNdElMN2dqYzF3TG1nNzFZZFM1dE5kUmgvRkNXakV6NmpCdXptNStVOUsrb3c3alhyTDZXakk4R2lwSDlYZEdMdTJXWllNMzFFS241VGhUd1Qva2RVOXpBUkVjUGhkTzBMQlRkT2lyTU5iYm1rTjdlSEkrNnVlSU9uMmw4MkRJMFY4aURSZ1ZxS3lZa0FBQUFBQkpSVTVFcmtKZ2dnPT0iCn0K"/>
    </extobj>
    <extobj name="334E55B0-647D-440b-865C-3EC943EB4CBC-6">
      <extobjdata type="334E55B0-647D-440b-865C-3EC943EB4CBC" data="ewoJIkltZ1NldHRpbmdKc29uIiA6ICJ7XCJkcGlcIjpcIjYwMFwiLFwiZm9ybWF0XCI6XCJQTkdcIixcInRyYW5zcGFyZW50XCI6dHJ1ZSxcImF1dG9cIjpmYWxzZX0iLAoJIkxhdGV4IiA6ICJYRnNnWEcxaGRHaGlabnQ0ZlY5MElGeGQiLAoJIkxhdGV4SW1nQmFzZTY0IiA6ICJpVkJPUncwS0dnb0FBQUFOU1VoRVVnQUFBRWdBQUFBekJBTUFBQURHSmxOMkFBQUFNRkJNVkVYLy8vOEFBQUFBQUFBQUFBQUFBQUFBQUFBQUFBQUFBQUFBQUFBQUFBQUFBQUFBQUFBQUFBQUFBQUFBQUFBQUFBQXYzYUI3QUFBQUQzUlNUbE1BemUvZFpsUzdSSmtpTW9tcmRoQzhicVNNQUFBQUNYQklXWE1BQUE3RUFBQU94QUdWS3c0YkFBQUNRa2xFUVZRNEVaMlVTMjRUUVJDR0swQk1uTWRBaEZpRG1nVmlBUlB3SHM4TnpBa1NOcXpoQnZFTmpMaUFMZllvRVJlWVNFaHNoeHVNd3dFc011YVpFQlZWMVRVOTNlUHBMSmlONi9IMTYrKy9EV3VWR2V6dTNoa1l6QUJnSFRrYm1DWEYzcmVHOVpkUmRWMlQvNEY2eHFROHZESXZhS2FiT3RPWnQ1WU5iM0RudDQzN0U4UzdzeFdFQ2psVG1lMjh4b3N1QkdDYm9WL1MyMEE4NlliZ0hsTnZ1Vm5pendnRFh4bDZRbDJTNEhZTTJtU0lUM1NJeTNrTWdnT21UcUNQK0NqS3dBNURGN3pzTEE1QndkVCtVTThZQWVVS3p4Qlo5dUNiZTFreTVLbncwaXRKV09wTjJQcFVvSEVMb21QUHZaSmNiZVVWSktRTENFb2pudW80S0FGY2ExMEFEVUw4MFlLbXJWMks2bTJaUm5nZURIdkhNN1VGTC9DK0Q2a0dMWE9ub1hGSXpaeW5ldW1QcEx2TS9MekFTN0Z4NEV1cWlNc1VwTE9OZ2Z3ZER0M0dRTGtTL3dMMEdMSTJwb2VUY3NiZm5rNmtqaHhTcWRJRnhEM01PRWdkS1RJODE0SEpZbEhpK1dJeDE3eDJwQWpxdllSQUp1ZklBNTUrckVNQmZKbElTTjN1RmtQZmE0Z1crRkxIY05vY3ZHRHFqWFpJcHBtR3lRYzY3TDRtWXVNL21qaVo3TDBpZnBQR1I4TXpvVEdQT1hWdW1rcTFobkxOckkyY202NkNuSnVtMVlPbjlDZVoydVZ5K1FjZFBFdmwyVXgwRTdyRjdwOWhhSnhPS1BGbDZpU29TTGMraS9WY25Uem00bWh3M1Q2NlhoWWxxSEhMcXBVZlh3VWR5YU5MQXB1djhDT1JhU040R2l2UVJGN200ZDVLd3krVS9FL2NkOGJ4VzAxOHhFL2d2Yk5nMC9DakxkcjRqdWROdjlmRUJYNU9IelpwZDdUNWFmbUtPLzhBV3ErdHJuSE5LRklBQUFBQVNVVk9SSzVDWUlJPSIKfQo="/>
    </extobj>
    <extobj name="334E55B0-647D-440b-865C-3EC943EB4CBC-7">
      <extobjdata type="334E55B0-647D-440b-865C-3EC943EB4CBC" data="ewoJIkltZ1NldHRpbmdKc29uIiA6ICJ7XCJkcGlcIjpcIjYwMFwiLFwiZm9ybWF0XCI6XCJQTkdcIixcInRyYW5zcGFyZW50XCI6dHJ1ZSxcImF1dG9cIjpmYWxzZX0iLAoJIkxhdGV4IiA6ICJYRnNnWEcxaGRHaGlabnRjYzJsbmJXRjlJRnhkIiwKCSJMYXRleEltZ0Jhc2U2NCIgOiAiaVZCT1J3MEtHZ29BQUFBTlNVaEVVZ0FBQUMwQUFBQWxCQU1BQUFBa1ozM0VBQUFBTUZCTVZFWC8vLzhBQUFBQUFBQUFBQUFBQUFBQUFBQUFBQUFBQUFBQUFBQUFBQUFBQUFBQUFBQUFBQUFBQUFBQUFBQUFBQUF2M2FCN0FBQUFEM1JTVGxNQUVHYVozZTlVUkxzeWlTTE5xM1l1MGRGcEFBQUFDWEJJV1hNQUFBN0VBQUFPeEFHVkt3NGJBQUFCV1VsRVFWUW9GVjJTTzA3RFFCQ0dKNFJIUXNSRFNOQkNRMCtCUkdrb2dJTEMzTUM1UVpCb0tCRXRoVk53QUc2QUM2aWhvU015UndnbkNDRE1Jd1IrWnZITTdEcmI3TXkzL3p4dElqbExtd25zN0NtbEUyUE9LSlJmVkRBZ2ZIWU1EMHZleWwzc3Juc2NQZkRwdFV0K3cyQ0xhRG9GdmlTRHUxb0owSGZHQlBEcGJqa3NQeWpOQWRCVlNoUmpKTTRrc0dGOERyZ1RoeE50Rys4QW1UZ3Q0RVY1TGNHcjJoUTBWQTlqZ1hmVnJBSnJhclBlWWlPL0pXS3UraHJ3YTNLdXF3TnphOS9HbTk1cGhHWG5nV2NSTFFDWHB1Y1JEOFhocVk2TVR3R1A0bHpaeDJGd0M3U0ZSM2dUaTYrQkY2WDQ4VHoyKzQrcjdYK29LUGVURTMvK1UrV3BUVTdFcThxVVI3QlFpb0phSGEvbjdleW9uR050YmJ3U1MwTU4zMXJrUTRsbWdNVXltRGZidHpSRXFYcEJKZmU4TFB1dm8rZ0djdjRMLy8xbWp2TVFFMTFqbU5GS2p2MHFKbHBIRVFObjQ1am8rTDdvUFZYeEgyZHg3bkp0ZUppN0FBQUFBRWxGVGtTdVFtQ0MiCn0K"/>
    </extobj>
    <extobj name="334E55B0-647D-440b-865C-3EC943EB4CBC-8">
      <extobjdata type="334E55B0-647D-440b-865C-3EC943EB4CBC" data="ewoJIkltZ1NldHRpbmdKc29uIiA6ICJ7XCJkcGlcIjpcIjYwMFwiLFwiZm9ybWF0XCI6XCJQTkdcIixcInRyYW5zcGFyZW50XCI6dHJ1ZSxcImF1dG9cIjp0cnVlfSIsCgkiTGF0ZXgiIDogIlhGc2dYRzFoZEdoaVpudFhmU0JjWFE9PSIsCgkiTGF0ZXhJbWdCYXNlNjQiIDogImlWQk9SdzBLR2dvQUFBQU5TVWhFVWdBQUFHQUFBQUE2QkFNQUFBQzlvMEdhQUFBQU1GQk1WRVgvLy84QUFBQUFBQUFBQUFBQUFBQUFBQUFBQUFBQUFBQUFBQUFBQUFBQUFBQUFBQUFBQUFBQUFBQUFBQUFBQUFBdjNhQjdBQUFBRDNSU1RsTUE3OTNOdXlKVW1ZbDJxeEJFWmpKdDBTbTlBQUFBQ1hCSVdYTUFBQTdFQUFBT3hBR1ZLdzRiQUFBRFgwbEVRVlJJRFoxV1MyNFRRUkR0ZkNBZmt0aG1qOGFFQXpqQzdHMkpBOFFIUUlwdjRLellPamVJSlE1Z2l3dllDL2JqRzVnYkpCZEFqdk1qSVVCUi9hcXJxMmNtSzFweXV1cFZ2Wm1lTjFVMWNiWFZZYnZkL3NDLzltR0RlczY5WEwxK3g4NUgvcjEvbXpXZFgxdEk4djZEcTFHNlBDSDFLUkFpOWgrRXRVYWpJWHcyR3Y0T3ZHVkFWbXdkeVpIaUhSN2hUK0dQWU9PUG5QUEpBT2MrZlNINnpOZkRXb0RRREI1dld3RGthb3J1MDQyYWJnM3h2OUYzQndCV0JyQzFRWCtpdjQzNHorZzcxd0l5VHhDM0pEdmlDNFFwQ1krQlRCTEVEU2x4anhIdld6d0hZSmZrU0Vaeml3OFE3eHF3QzhBTzdkL250WVhENjc0elpBOEVrOFc1VFVwRkV4a2ZqTUFIOEV0MTUwQ2VQTE9yeXZnSytYUm1seGhUMTV5cWpEdENxRnRPaS9ybU9EZEd3aVJDNjBLNGo4QUJGVjlqamdTVGNTbUUyMGpZcGZTOU9sZVdjU29FbWltalJrbmxNQ2d5bXRKRUhWQkdTcmlnSXpWbHp4Qy9ET0ErM1M0QU5BUGdPdlJkVGRuUEVUOE40QWJkeTJQck9iamFaa1hDQ1FqMUFKN1FsUWlyVDdwTnY0cjVYTzErcVl6bmRCcGVYVWhibzk4bHdqNElLbU5HbCs0WVNEajVndlRta1lkd09PaWVyOHdCa0NOSm1LWlZJdEFROFJFY1ZLYjByVlF3bjY4WEx4Mk1KUWhOZUtqTXRJSjNTQTlyTkpGUkhtM3N1MUg2Vmlwb1BjcGhCSkZSeEd1aEd6dTQ1OXluTE9uS01vTVZaSnl4R3lyekFvU3Vqdy9wMUcvRlpUSnVFWG92QndFVjdHV3VMSk94UnRCR0t0aDNjbkVBS05Oa0hFaGxXZ1Z2SmtOUDA1MlQ4ZWNQbzVXWjRVeVg1UUdnbENnakc0S05RZURIaGN5YVozc0g4VDdmS3RSb0RvQUZGWmt0TTFnWGlIZDVsb2N1MkFSd3orMVlIQURLckNIKzVCYlVGRWkrZGpmYzhKQlo4K0t1TWs1cEZMQU1sK2dGbVdPaUd2SVZ1ZVpYUGd2UUVJU3p5Z0JRUmd2eEgxYVpTd0QxVG5Ib2FicU92NjlXbVZMQmp5cXpaUVlyeHdYSnVsSDZsbFRtQ2tGa0pPdkdVTUVxYzRXZy96VDBZbVFxOTJ4R29HUmtpQ2ZmbllVUVZPWlN1dThUdjVJdm0xUndsTGxDT0FIaHluQ3A0UExRczdpTXY0a0JVc0hsb1dkeGtYRnVnSXkvZWdJVVRjaG9Id2tPRHZ3aHo0cFpxZWRsVEQvSDhnRTNtZE5jMkY1R2pBbU4rUEdYeUt4dzNMMk0zZWl4NFNzNGtUa053ZmJqcjE5QVcvVE0wTE1NZnVwU040N3B1YUZuak9OeU4rYjAzTkF6d3JmVnhCeHY3YlhlRklGLzc0WmVEZGJjZGhJQUFBQUFTVVZPUks1Q1lJST0iCn0K"/>
    </extobj>
    <extobj name="334E55B0-647D-440b-865C-3EC943EB4CBC-9">
      <extobjdata type="334E55B0-647D-440b-865C-3EC943EB4CBC" data="ewoJIkltZ1NldHRpbmdKc29uIiA6ICJ7XCJkcGlcIjpcIjYwMFwiLFwiZm9ybWF0XCI6XCJQTkdcIixcInRyYW5zcGFyZW50XCI6dHJ1ZSxcImF1dG9cIjp0cnVlfSIsCgkiTGF0ZXgiIDogIlhGc2dYRzFoZEdoaVpudFlmVjkwSUZ4ZCIsCgkiTGF0ZXhJbWdCYXNlNjQiIDogImlWQk9SdzBLR2dvQUFBQU5TVWhFVWdBQUFGMEFBQUJIQkFNQUFBQ1hFbFlOQUFBQU1GQk1WRVgvLy84QUFBQUFBQUFBQUFBQUFBQUFBQUFBQUFBQUFBQUFBQUFBQUFBQUFBQUFBQUFBQUFBQUFBQUFBQUFBQUFBdjNhQjdBQUFBRDNSU1RsTUE3OTNOdTNhSkltWVFSREtyVkprMnl0ZWVBQUFBQ1hCSVdYTUFBQTdFQUFBT3hBR1ZLdzRiQUFBREpVbEVRVlJJRGFWV3ZXNFRRUkJlQWdrNE5sRXVEVUlVZGdKQ29uS1VvN2ZwNk9JM3NOL0Fka21Cem4wS2g0TENWVUpCSGJkSVNQWWIyRytRdklFNUlDR0FZWmpkMmIyZDNUdWZUMklsbitmbm01bmQyZG5aRmFJYUhJUmgrQkovNFVFQUxTSEVWcnozVkxKaGVCVDhRTjRkVmVCRDRabmcvL0g3UVJCb2gwaDUvb05IN21RME4xUUc4YWxSbGo0ZUE5eWN2REc4LzEraEFJZFdqaDdHbHZPcFVsVVozQ1R5K3dDM0NaTkJUQ2hBNG5JRFlKb0JTMFJiaEg5c0JEUDRhc2pzLzRZeVdHcmxBNEIwNGgzRGR4UmdRTUlKZ0tZY0VHTWVFbDU3cllPSnhDQXV1VkFHTkd0TWI4M1Zwam5NaUJ4WFVvUEo3NlVScnFSTStGOG9SZktQcTh6aTJzcEExZ1NHdXNwQ3VMSjdGS0FweEF5K3VhcE1UdGZFdFZpZmZMSy9vQURqQ2NBODA2TW4zQ0g4aXpyWXV2TWdMbHNuQTRCRFY3NktpelRlbnB0VlNKTGpRdFdRZTFCb3pBamZLUVJHa0M3U1ZsRzhyb25mUmZHaXF5YTA1bWd4YjNkcEFWTW15aVd4TGNoUm9EcTFtd1VaOUhLOVdxVmVjTkVOTmdrdFdrRGltS1lEY0c1ajVsRFl0WjZUUmRLNEdMckVhQ0l2c01sU2lJeDJzcGs2cEhqQ2JzMFNCaWxuRS9qcHlYQzNwbUtiSnBSdWh3djQ0dUc3cXNuU0ZxUnJvZ3BORjQrZVphWHh4c1VBdVBWZTNmYXB5ZXFhOEE4TkhxWXhNMGV5b1p2c1VLM0FQNVFWaUYwNHRvZWFrdWpMck9tcTcvZ3QrOUlFVEJxWFl4QjVGeHE3NFhEYjVIQ25PL1J1SEhiRDZjdXM1dmlmd2E3SDI1UTNsUCsvaWY2RDR2RmpJWmd1ZTh3ajBzK05RWnQ0amtmSXdLaUZ2c3hzdll4Rzd3RStqVVlKUXJnMzNFdzU1TGVBbDM3dmh0TTEwYkgrdlBUam52YXNVdDVnY3RnVmlRaXVYYjM3dkdnclBLdUpJVE11dmUwQ0xFOU9tWU5VNDByUzN6ZVBLNEM0UlJiOTVNVVZJL1ZFQ1pQcWoxUmsrblFJUDJFaXZRaGIvUkZUcnNiYjZvOGcySk1QMFBCb3YycndNVWxJcUpLRXhVNnhDMzQzNEh0QkpNSE9uUFN2TjcxazZWK1BGaUxkZlBLdDZ0UjhYdWVqckphYXoxYkJoNEtzdnpFYW42VzdwSFhKS2R3dXlTNDZYSmhENzZobXRXMlBidzVXcWpiVml5dnllK1JLcTdMc0RPWHFZQ1hBVjNSeHZXMSt3bnlBeDFkZytTbys5NFI1N09mNnM3blUvd1BYcjhRenpDNG5PQUFBQUFCSlJVNUVya0pnZ2c9PSIKfQo="/>
    </extobj>
    <extobj name="334E55B0-647D-440b-865C-3EC943EB4CBC-10">
      <extobjdata type="334E55B0-647D-440b-865C-3EC943EB4CBC" data="ewoJIkltZ1NldHRpbmdKc29uIiA6ICJ7XCJkcGlcIjpcIjYwMFwiLFwiZm9ybWF0XCI6XCJQTkdcIixcInRyYW5zcGFyZW50XCI6dHJ1ZSxcImF1dG9cIjp0cnVlfSIsCgkiTGF0ZXgiIDogIlhGc2dYR0p2YkdSemVXMWliMng3WEdGc2NHaGhmVjkwSUZ4ZCIsCgkiTGF0ZXhJbWdCYXNlNjQiIDogImlWQk9SdzBLR2dvQUFBQU5TVWhFVWdBQUFGTUFBQUEwQkFNQUFBQUViUm5SQUFBQU1GQk1WRVgvLy84QUFBQUFBQUFBQUFBQUFBQUFBQUFBQUFBQUFBQUFBQUFBQUFBQUFBQUFBQUFBQUFBQUFBQUFBQUFBQUFBdjNhQjdBQUFBRDNSU1RsTUFSSGFyemUvZE1oQm1pU0pVdTVrSVd0TFVBQUFBQ1hCSVdYTUFBQTdFQUFBT3hBR1ZLdzRiQUFBQzdFbEVRVlJJRFgxVU8yOFRRUkFlSnppK3hDRllTRkFnb2JpaU5VSkJRa3BoRnhFVkVtbEFpQWhkQ2lRcTVFZzBxYkFWS0V5QjdJWTJjVW1YSUg2QTAxT0VoaUpWREg4Z0FXTUlyd3p6Mk4yYmM4Nlo0blptdnUvMjhjM3NBZ1M3dUhBUDc5OVlDL0ZZNTlWZFZIczdsdUtBOTQ1SXcrTFozQmZNZlBnaHVzSmo1eXp1TkRQdU1PTTFPYitGbWxzcXl6anlxUkxobCticTVQYlpuY0lqemFTK0x3a2U3bWlxVGY0M2RodFkwNHo5Ump6VGlzdk1rWStzMkRaMkxVbjlLVVpMTGg5eHNFcEJIZDA2RHBDaFNxQWVoVVBXOXk5QUVYOVlqdnB5L09XUXJ4RDFIOENNK1R0Z0RjS3duQTZia01jL0lSVWNYaEdiSWJ6QVlRZTI4R05JZVNmSEVLM29MYzl4bjA3bEQrb0JnSE1NZlUzaTh4elhabE9uaWhTZVp5ZzVGVXhLUE1VcWVKdlEra0dWb2VzK0N5QTFPTnF6dFdyZ3NlRE10TTAwdy9GeGJMZDZxTzBncHpJQ3dBUlRCemhJMW9GWTFaRDFiR0ZtbVlyNElLRVduZXdpd0VtU0IxM0dib25LdWNZRWtkR2NGZ295cVYxL0VvY3lsUlRIMXBDV0kxc1ZVRDk1dC9FMkEwY0dVT3FPeWZUY0Rla3h0V1lBYWRpa0p3blpjcDBqcy9ZTkZmaGZ1VEkrV1hYRmxMMTJmWlpIcG9aWkwzSEVSbnFLQWgxTGpRa0k2bFdZeGtaVUtjSHVLRFhScXRYYVFGeHZ0WWdoaXBjTlZmNDEvVXV0cHJMcTF2b0pOVHJnNVN6Vnl3ckF1MWxPcUcrWUdlYmhmQy9vd2E5QVV0akxpRXZNYlFJczNOSUp0dkNuT2xDTWsxY0lydExiSlUxUW92TzZXK1JsSlg2REpua2kveFd2VWFjMjVWNlVZZDZYMjNVck13cDE0dTZ2Uis4MnlSbXNBZkJGWEhudTN3YmZyVEtaWEJHQ3lVNmtUUTdVRnhCOHQycTB3Zk9TRFQ4N05PYkFsWkIwMXF4K2k1dTM0K0hqTDdTNDJ2Uk5mT1NZOUNSYmtUMGpjMndIV1ROaG05d0xzdHBzcHU4ZWdVeHNKRm5YUjJCL0pKMFZxcjR6b2Rtek9KcWpNck13Ylh1cHg3Q3BBb3djZHNmZ0pqMG5EWm16VDVWQlUrNEVmcWU0Wjk3cUZHeURBbC9BUXV4clo2RlQvallkcTVKNkYwNVJmR0lTQjUrR0pSK2RQVDZyUDkxbHhuOXI3eFZWRS9RTHlRQUFBQUJKUlU1RXJrSmdnZz09Igp9Cg=="/>
    </extobj>
    <extobj name="334E55B0-647D-440b-865C-3EC943EB4CBC-11">
      <extobjdata type="334E55B0-647D-440b-865C-3EC943EB4CBC" data="ewoJIkltZ1NldHRpbmdKc29uIiA6ICJ7XCJkcGlcIjpcIjYwMFwiLFwiZm9ybWF0XCI6XCJQTkdcIixcInRyYW5zcGFyZW50XCI6dHJ1ZSxcImF1dG9cIjp0cnVlfSIsCgkiTGF0ZXgiIDogIlhGc2dYRkJvYVNCY1hRPT0iLAoJIkxhdGV4SW1nQmFzZTY0IiA6ICJpVkJPUncwS0dnb0FBQUFOU1VoRVVnQUFBRFFBQUFBNUJBTUFBQUNMeUJVR0FBQUFNRkJNVkVYLy8vOEFBQUFBQUFBQUFBQUFBQUFBQUFBQUFBQUFBQUFBQUFBQUFBQUFBQUFBQUFBQUFBQUFBQUFBQUFBQUFBQXYzYUI3QUFBQUQzUlNUbE1BWnUvZHpic3ltYXRFRUZRaWlYYXBaZXArQUFBQUNYQklXWE1BQUE3RUFBQU94QUdWS3c0YkFBQUNBRWxFUVZRNEVjV1V2VThVVVJURjd3WmR6VWlRMEdGSU1GaVkwRUNFUUl6RkZ1NVdGa3ZsVnpNYVNncXdXZ3MxaGdDaHc1alFtUVhqSDdBazJtTmhMVnBZR2dvcUszVS9JdCtIOCs3TW5abWRIU2psSmZQbXpmbk5lZmUrOTI2ZWlHdTUrbzN4WXJGWTRsTWNHMnFwRm5ZNUpGc2J5bGVlTDVZRE92Nnc4aXpwMHZFcVdmMWFoNndDMFVFMmtRSndlQXBpdFAxelJ6TS9tSHp6MWJ1T1JONzdCTnB1dm1tSDNJbldyd0xYVmZXQkYwbjJDYmdqb3V2eWRvQ2xtSDBCYnZNclhQSWdNR2VNUjlKY2oxRjNBUTJMdHdLOGRyK0ZMdmtBL0hYZklwZUJoZzRNZFk4QXZhclFGR3k0SVdFMHRmWEF3a2FvaTlJVDJyYjQvcXoyQ0xsU0dhVkVvYWtrU2tNOG9pT1JmUEJ5TUhLSnp5b1J1VVMwbDNMSk5zVU51Y28rU0REaEdxUTRKVFgyWVVYRUU2NVJISlZaOW4vU0V3YmlaaGJhb3JoL2xxdVc1WElUWHRjTU85TFlKSnJLWHRkdm9sN2RqZU4waGo1UnNEM3BQUlNTZjBRdTVMcmF5cmI0SzVTR0tXV2Mxd1VpclE3ZmZvNWNhM29tdEYyMEF6UGtqUURmTklRN25UazNNc1Q1ZUpEYUdHM1hEVUxrbFZIZkNJaklOREFSbzdmQVl5TWlmY0I5YzdIKzc4VkU1Q013T2VBbWZEb1BQRW9Ta2EvVWc5WWFhQ2NpWG5XQnFQR2dQdzMwMjVMUGdQOFRGYUk2N2tpRXlZZlZuMGJ1Rm0xRSsybzAvN05pZDI5cCtlVjNrOTM3akJzN2g2RXhkOGV6M2IxbDkvd0pwb0hUQ1BLL1hSSUFBQUFBU1VWT1JLNUNZSUk9Igp9Cg=="/>
    </extobj>
    <extobj name="334E55B0-647D-440b-865C-3EC943EB4CBC-12">
      <extobjdata type="334E55B0-647D-440b-865C-3EC943EB4CBC" data="ewoJIkltZ1NldHRpbmdKc29uIiA6ICJ7XCJkcGlcIjpcIjYwMFwiLFwiZm9ybWF0XCI6XCJQTkdcIixcInRyYW5zcGFyZW50XCI6dHJ1ZSxcImF1dG9cIjp0cnVlfSIsCgkiTGF0ZXgiIDogIlhGc2dYR0p2YkdSemVXMWliMng3WEdKbGRHRjlJRnhkIiwKCSJMYXRleEltZ0Jhc2U2NCIgOiAiaVZCT1J3MEtHZ29BQUFBTlNVaEVVZ0FBQURZQUFBQktCQU1BQUFBQ2k3cFVBQUFBTUZCTVZFWC8vLzhBQUFBQUFBQUFBQUFBQUFBQUFBQUFBQUFBQUFBQUFBQUFBQUFBQUFBQUFBQUFBQUFBQUFBQUFBQUFBQUF2M2FCN0FBQUFEM1JTVGxNQU1uYXJ1OTN2aVVSVUVKa2laczFybkIrU0FBQUFDWEJJV1hNQUFBN0VBQUFPeEFHVkt3NGJBQUFDcGtsRVFWUklEYzJVdjI0VFFSREcxNFFZKyt5WWlJSU9KVzlBRTBHSHFSQVNoUk1KQlFrSzAxZ0lwYmlVRkVqMkc0UXFRUWpKQjBVNklHL2dFd1d0cWFnaU9UVVU0VTg0SUNFZXZwbmQyZlZkN0o0dDdtYm10enU3Mys3c0dsTnNsMWJXczd0UGlsSDJxOWRJMnFQa0RIMGRXMFQwdU1ndWdHdzhUMTkxOGYrWWg1V1lzcWNjS29IOXpyR29TZG15alF5SXNoejdRTFRwQW4wTWROMGtVaUZhMDc1RHNBTjE4Ty9URCs4dGdSMTd6MVJEUnU1SDlEZXdKZm9lbkM1WVdHZ1UrNFdnU3l2SEdoT3pHUU5FMzN5YTBlUzY2c3krS2tQS1ZHMWpGcGl0cWwralgycmlmNTZaN29NWjBzTUpkcEZacW9GdWJvdTJnSTRVbVpnU2J4c3pBUFB5S2prRkVSRGQxTDV6b1J0QzU1aWx5c3B1WjNkdUVYWHVmQUk2VllSbEhyQzl6UU5zMi9Oc0pHcHdndHJDY1prbTlkQ3ZRVWN2RS9PZXVWK2xjUkxLZEpvYUtUS2laNXF6VG1NMkc1b1JmMzhLQzNZMzY3R0ZEL0RMRWpkUTViMjVFVlBueTc1cEErcEN5K0d3cEhjWFRFdkp5WE5aakJtQnFYZ3J6eU1wTTFrZFFsWmVZRHhPYXo2bUVHZnJLcGdMT1htQkQ1aWw0anQ1Z1IweVd4UmY1WG5JeUJWQ1VaNlVwNXV2S0UvSzA2MnpLSy9HS1oyK1pqZ1JtWEtlbWJ0VnVYb0hIVEt6MXc5VCt4V0tJZEpYeGNUVWVkYmljWnNTbXlzeVJsNWVydUR0RFhQWENsUGIvWEdaWlpudWFQdWEzTEV0VHJsc25RSGxMcDg4QkhyRDJxRUF1TE5VOTMwN1RHNVVZbTMrNGxuVHc4T0RkTktpejRFaGpTLzVHdjNacFhHaThDMVFsanB2bm81THNYK0Q4YjVTeVBJT0w4bGxvdHZTdGRRRU90RWNLTVk5RTJFTE4vYVQ2TW9oMERqc3hJQlByOXBHMExaeHp3L0R4VWpnVkRGUzJyMDBvSWgraWhQdHJLeFQ1L3FMUURCZ1l1ckpPTnVRVnd4NUgvSzhYVFJZM3F6RzhtWTFrVGNEV25sVG9jcWJCdjh2ZWIxcFM1VFl0cjQvWjN2OEE0eUsvS2M0V0FaUUFBQUFBRWxGVGtTdVFtQ0MiCn0K"/>
    </extobj>
    <extobj name="334E55B0-647D-440b-865C-3EC943EB4CBC-13">
      <extobjdata type="334E55B0-647D-440b-865C-3EC943EB4CBC" data="ewoJIkltZ1NldHRpbmdKc29uIiA6ICJ7XCJkcGlcIjpcIjYwMFwiLFwiZm9ybWF0XCI6XCJQTkdcIixcInRyYW5zcGFyZW50XCI6dHJ1ZSxcImF1dG9cIjp0cnVlfSIsCgkiTGF0ZXgiIDogIlhGc2dNUzFjYkdGdFltUmhLREpjY0docEtGeGpaRzkwS1MweEtTQmNYUT09IiwKCSJMYXRleEltZ0Jhc2U2NCIgOiAiaVZCT1J3MEtHZ29BQUFBTlNVaEVVZ0FBQWpNQUFBQlRCQU1BQUFDWUY1dUNBQUFBTUZCTVZFWC8vLzhBQUFBQUFBQUFBQUFBQUFBQUFBQUFBQUFBQUFBQUFBQUFBQUFBQUFBQUFBQUFBQUFBQUFBQUFBQUFBQUF2M2FCN0FBQUFEM1JTVGxNQU11OGlSRlFRbVhabXU5Mkp6YXRwRlM4NUFBQUFDWEJJV1hNQUFBN0VBQUFPeEFHVkt3NGJBQUFONGtsRVFWUjRBZFVjVFl0clNmV20wNTJrays1Tzh4YTZjVXc3aWppTVE1cUhJQTVvUjNBbFNCckJFWEdSOERieW1NRThIUEJqRnQ1R2YwRGFqYWc0cEZjS0t1U0JNdUE4aHR1NEdjUkZXb1EzS3ljTnJsUTB6MWJITjYrbnB6eDE2K3RVM1ZNM2xadjB3THVMM0tyelZYWE9QWFhPcWJxM080cmVvMnZqTjhzTTlOV093MzN6MkFHc3FGdCtha1dDRmhBVGYzZ0JZcGUwZXJIdmdCcVBITUNxdXNuSnFpU0Z5dGxodTZHa0JOM3NYeTZ3a3R4M1FhdnBQMy9WWDQyZ1lDbmovd1NUWmducnJKTUIzcnpzWjJDckFKVGJyNnhDakNQanhzVWJIUWVrdXRzc1BEWjg4VkJ4cWZ2MGJkVXk5eEs3RGhWQWZ1czZiUDVweHRpcG1UeHV6ZDdCdmZ6MjJEWE5EaW0xZDVVdnBpaDJnNTBWWmMzaGU0RXhlcVZ1c1pNY05nZkYrZzVnUW9iY0xYYnUwSzJvTzNuWEZuUmptUVNpUlUwWWJmS3VwZTd0ZjdTZmZ2TTV6ZVEwU3BjT1lKMjk1VUJFTjNsSWdoY0hPcm8zMkJHV3NjNytpN3RGMjJ1TVVTdW4wc2JCNHZPdzd1RDZyV2VRMnY4Y3hDMVBuRHBZS3VtWlFWemR5d3pudzBxOEd0UFVRR1V6cG01dFkxLzZER052dmpRRndvOXB2TldvdXc5cDZna3FOWGJYWWl6WXllbytSSDViK1I1YmpXa3FvUEZ4ZG9vanRxK0JwZllscDNnWktIK21nYmpSL0RmdVJkRW1jd0FhM2FZOFZHTURHNFR1YXlic2Yyb004M1NmVmFCa2gyeEdCWnNLUTJ1a0oyMDNaT3hpMStGT3U2MDlHenBnZDJ5QTdvMVdzS0lvM1RmbGl2cnlTd2tZWmxXbTZUSWladTRnV0lsOVNLaTJEbU9Tb1g5NHJuVlBHek1yaEdOY0E2OVRqQWh0KzNSUHhCS09ZWW9maDRwa05WNERjVGliTjFyb3VkL1N1NkVldUUyZlVHTE0xNXU1U3RqbERKaTNOcGFkdEUvM0hqdms4cjl4NzQwZlJOdXJNczBXWXlpR2NmbHdqZEZ6bitrTnd3NDhrL01VYi8rZ3VNUVJkZVJ5Tm1FVUpSY3VaTEcrVC9jRzI5T0NWbWFhRXVpN3I4V0tCbjd1SmVOQVBHUnJPeG1Xa3FNdWRqbERKVnBEdXdKeDBXRjlRdmNhY24wQ0hTWTNRNVZrOXdwMVZDZlVrUVBGVUR0bitLT2FVNHVPYzJMdEFEM2RyS1JBQ0tGN2habm5RNkFEQmJ0a2tIajJITmdBMVI5TnBIZ0wzTWIxTUZoQXVEcU1vZ3F4UUxYOG5XV0REWmRFNlQ0VHdjYUgxaE5ZcUhHUVhTVkRVeVpFUFhaMXBPUkJ5Q1lXaEZQVzFNanlXb3BZcDl4T2lRKzlVNmJwbXR4SG9VTkYyM1FnQ1JVeEtTNUJ2aEdqUlZRSDA1elozTkJyN1ZtZ2hyZmc0MlNVMjFuc0FSMUs5NllabFVJSFNDVklOa0ZmRzF6Q2ozWU02R09KaDJ6R0h0aTAwSFBLbWhaaFBjTXpSZzVwb0l1MUtOM3J4bGNwOUdJREtHcWVkdzVWSjcxWHpUQlJOQVgwaVVSeksyYjMxRTVaRStjcVAwSmh6QnAwZ1E2bCs2YUpjQlI2QWVtWUZQemlIUGVqSms3UjNEUnFFVzFBTzdzOVFxdVBpMkdzWTBtek93Y28rZG1ZOEI2bGU1bnB2RWlodzRWYmxEM1hGYnA0MWN6QUhPZVNucHNHYi85VHNGUFd3SGJDa3U1MEdxZ0FjVkRCWFZMM1JDY0lFaDBzM0NKc012YTJCWmhvTndGd0Y4elJrV2h5UWRYc0U3MHRIS2dzc1dsbmg5bmtXWXI1RUZMM21WNzJKSHErVklvQzZuOTd1bE1jTGFwb2o1VU53NVdmL3AyeFo3NjliK1J1NDBCbHdLb0YxbFhOd25kUzk1RjJkUkpkYkRDK28rNWpWanNzZitCWFduR2V2UGN3NWUwcFk4bGxtMTBkYTJnenY2aURmY211cGkzWUlIVnY2YVZPb2dzTzFiWUxPVENWWi9hODVMdURCbm1Xc2IvdXQvWXFQMkVYaHdyYzFWTlVFUHR1U2dFYnZrQ1AxTDJwb3dLSlhrQThKbzJabFZGaDJXQXNhcmZBTk5vR1VmUTF4bDRVWmMwVDdGRmYwazIwWXlORzFFeDBVRWZBeFpxazdnMm1kalFrZXJFUk5EVm9qRk55M1pRSW1rUTBKbkJnWTBCZ3dsUG9wV1hOUkw5K0cxdG1OdFNxTmJPWHBBSXZjaWQxMzlGVEk5R0x5RWUwc0U3ZXNicDJWRFlvV0hrbWwxWEc3Q01jbFpZMVcwd2RjclYxcGpCOHVCWFA4U3BNNjJtVHVrTzZrT1FrMmlOcUhoZ2VQM0lHcVBqY1BaVVV3TXVhdTFyWURiR0laRmt6VlJheG81R20xbzJoNWFFYXZFaUQxQjFlamV3TElTUjZFZm1JRmlwSkhIZ1BmRlZaQTlPQm5VNjRESGxhMDVMK0JMS09PTmg3OVhDcDdhWEtSWkM2dzN3NmdvdEU1d3JNUVNiV28rNmlWV014alZDSkU4RmhSWXFVcHpWMTZYaVEzbzR0SnJlamJPakNGK2lUdWtOVklBY20wUXVJdDBpSFZya3k4anpYQ29TYWM4VUhKaERmUGNqVEd2RG5kR1pRMG5VVURYay9zT0lhU1RJUFNPb083bm9xR0VuMFBKaytmR3lkWmswOGxRbFV6Y0pSdUppV1d0cnl0QVptZHNiaEVMZDIrZDE3TlhXUzlaTE1ROUM2NitkR28rY0pwZkVRM1BGOFkwK2c3Q3BINFZJUzlmRFZhWTA4eVFGWisvUW9FdHBFOXMwbDlDTnAzZlVCQVkzMmk4dkR4QmRnRzBNd0k4NWtBRnRKMkdWZlVjSDZ1U3ZhNnJSR09oNjRsaVpLQ1Y2K09oS0U4dmV4TWsyVjNRZlRIR29GUEthQkRkUjlUWE9nUTRwYVAyMnhkM0pOazltN05yMEZwUlkrcjBHN2hYNVlOQnFFbGo5SFgrL3pEaGhmOXNjeUU2YzBZOXBySnV5cXIyV01sWUw2dEVabUx6Q2dvUUx5SGxqOVdMTkJZODJxb1NUbUUvU2NQOXZIbkxwTjY5NVdaVGFOQnU0RTVrSmVIUzNhYmxRaHRQVHdhZGFVckZlaGJqalJqQkIwWlZtc1RtdmdHUFVoUjhPOE5CVnZnTkVSSHdBbzAvQ0NpYnlJRjRJZ2d0Wjl2bW5JSVRqd0NJUlNWd3padG9rckZ0bzBMUnlwSVE4OUVMTHFxVUhBV2FXeFhOTWtNTEtNU29JQnpKQ1pCUXhQWDFLNHcwQ2JKbEZUb3RFZzR3LzBJT3laZldjQTJhM3k1Mi9sWmRJMDViWXFHemdmN0xyT0JYOVRIb2hDblpOK251Q2FaZ2JUT1JHazRwZnltcTJFbnZURm56Q25idE82ei9jYUxTQ3dFZk1UR0ZETTVGd3kxdHhTS3lnVjI5VUJwQ1c5Qi93bzNiMjdzUVlvN1Jwd1RVV3B3UGtSWkQ3VFNPK2swWVNjT2FBcWU4UXAycnFXakNJcVEwSG1Qa1NTSnRxU3d4TUJodm5zOFphYm9TREw0MTA5ZDdoTHdWSDhsOWE5clJZdWpWNTh1RmdJQkYybHpXblRiS3Z2ajhRSVk1MW14a2NDTXBDMmRVMFR2Zi9uSFVFaGZ4K2J1cWJLeElkRkxmUVdoYXFHeC9yN28xVERSUGdhdE51N1F1V1I5S09BYWpoMVUybW9RamZhTFhSTW85RUxqeFRML1JMa0RYMUlNOGx1TDZ2NkVHLzlPVDVHVzZXcmtrbzNpYXovSWVaMGNtY3hVS3k1VkxsSVVuZW9IczRGRjRuT0ZVZ2g0Um1MRUFJaFFaOW05Ykx2QkNhWGZjbmVmSXMzMmlxQXFMSkdKU2o0Sk0wS1NwSUwzUjZYblhlc1ZPUXZ2anRTZ2V5SnlxYlpJaHpzY2FxcHFPOGc2c3JLQXhMVFdjcHVqazNTYnZiSGV4cVVKZlZCU0xlQWgzTXNHRWkwVDVZUERrNXpMbkZUMHh3b2UybTJudGtpOUZJTGpCWEptaXhydWlwbGdZMVBOUi9WZUV4TytXSVpJRUFGQ0tNUHBDYVpzK0YxNlJFY1A3bkRmNGNxTWgxSXBrUzVFWHdOa0ZKd0t2SjZQTTZHd1drK3FxWVB5VmQ5Yk5zd0JoUFlGc29wMHlNT2E2a01OVHJoWFg2QWRaWTIrQjVPdFNUQXVjWDZFVGlJOEM2NVlrQVpLWUZFaDB0UEtXTjBJZ2YxaURLQU91WlYwc3J0RTlXRUQvVTZ2QTBiQlFHYUhhWDNMdE54ZXF3MndJSWc4enZ2UFZXR0lRc2dkVGR2ejBoMFZrb2VCT3lzSElWLzdNelVhUUprcXo3bWUvNWQwNnNKbEQ0QkZtVU54TjVYRk0yUVB0SlFhRWh1K1F0T0Uvb2JwTzVyYW8zempiazhGdkNMbUlNQnB6a3lKRzBkNFVIUlhRT0hkUFRVbDlMckt6LyswZXRUNlMzeVJWeFpkRy9Ld3BGem1kZnlXSVp1UTVnKzFKMkNEVkwzZ1g3T1VLUEp2RmxRZmdST282czhrQUdHVWtGQ0d5a1ZEWGtaWFZkaXVLNG9DemZUUlZocW0rUU81eHU1and6c3ZsOTB4b3FQMUwybFQ3U2J0bUtLYTRFN3NnWG5hc210TXpUSE9xVnp4QXdaUmgrdjE0U2ZpTEptcUZJNUo2L25WN3VicHJUazFJVXVVdmVSaW5HbE1VejRoNFVFU3laSUtqcDBjaEI0cWRvaVQ5UW9IQTUwK0ZLdUdyTmZBekl0YTU1Rm41QndlbDFXYzNiMzJzbTNuRXRPOVduZFoveDV2dkQ2ZDMvUlRxZjc2aisvOVh1S09RVFdOVjZTa2tNY1ZqcDF0VzhDcG9jTlk5NVhRU0EramlKZTFuelFMdktnS3MxYk1XdjU2MjNlelAyNnQvbDhCbml5S3VQT2s1bkJUOHpPUU9EQTJxZWlaWDFZTmNXaklYTSt3UzYvSDQzT3l2REhkZCswaE9mSDJkYWNCR2FKeW5hOHVrTU02NE5wTHA1KzdjL2l1dmRrWWRPTTNNZlgxWHBiVHAvWXBnRTNrZGNYNENPKzVMVTJlK1NzNjlTekZWSG1QdFRCUG9NS0FYaDFyN2wxYW9nMEQ4M1drK0NBK0NyOTdkNGZSWDlkTHkyTXo3UnYveEtzOXVwMytnNmlpeU9WZytNaDNoazJRMUVNVUhlZmRERXhjN25hZWhlZVQxcWl3c3BhOXJqSFNJR3lwbTk2SzJ3TmxsdW93VE9aV05uYno3WWhxeHlMWWlzdkI5V3NXc3JpVzY0elhMN0lEcHJBSUhBTFdGWHBIa3NGeDhCZHU5M3dmSVZoVXhYb0pYWUZYMEJDR0V2b0gzUTF5TGVMNksrMk1zTWRMQmVGTS9JVW9MekNLS3hra3ZmUWdRWW1YeUU1ZWVySGdWRU1pUXRxVnZNQ1hKQ0VVS0k0ekQxN1o1VEFxbi9SVlBUSkI4VzRCR3pBVHBiZ1hvUTFjS1Q0bEJLYW8vK1czMnFVcEhEWUpPeFpoZ3YwVWdhcWtPeVNFdnp6SEFTbVBsSnNEckNTbHhWeitJcWdFblI4NWVXdmVGSlJ3MnVBeVRWVk5WdnZVVlhEVGRFTkNaY2JubDNLdWk4bWxxK3JaRDI0cGhxYjhvcHFiclV2T2FvUEtWYUF4V29QNytDdC80cmo0SmJxVHFuYWN5bUpPY3dKUGdIMDBEWGtTNmdNdXVFcFRVY1gvUXp0S2dDYjVzM0lLc1ROa1hFUUVQSUhleDRoOWo5bzBrUVYzMExURkFVYmc1RGxYMUIybG0zRHZDUElJaVdrZCs1RDlTNzdCS3FPaitrSmZHSFEyTGV5QzB2TVpSek9YNzZ4OTN5aFJ1NEg0b0JGbWpzbkQ3THFXYjhlOHFYQkFmOUU3M2Q5N3lnVEl2blhycXRpSFhveXBYZDJ5eUltMUxZNlZPaVdPa3hGREQzQ1hBaGR1TG5Cemd2ekZtT3NMVlVyREROdm85RC9DQ28ySVI5WDY1cldxVzg4Z1BkOHVUbUhSNk0yTWhsdWNFMnhzbkpkd1YzcmttMlVYOHpDd2lHZjNIZG92KzRDSEh6UmJ1VXZtdlAvejNjY20zMG5FK29BQUFBQVNVVk9SSzVDWUlJPSIKfQo="/>
    </extobj>
    <extobj name="334E55B0-647D-440b-865C-3EC943EB4CBC-14">
      <extobjdata type="334E55B0-647D-440b-865C-3EC943EB4CBC" data="ewoJIkltZ1NldHRpbmdKc29uIiA6ICJ7XCJkcGlcIjpcIjYwMFwiLFwiZm9ybWF0XCI6XCJQTkdcIixcInRyYW5zcGFyZW50XCI6dHJ1ZSxcImF1dG9cIjp0cnVlfSIsCgkiTGF0ZXgiIDogIlhGc2dNU3RjYkdGdFltUmhLREpjY0docEtGeGpaRzkwS1MweEtTQmNYUT09IiwKCSJMYXRleEltZ0Jhc2U2NCIgOiAiaVZCT1J3MEtHZ29BQUFBTlNVaEVVZ0FBQWpNQUFBQlRCQU1BQUFDWUY1dUNBQUFBTUZCTVZFWC8vLzhBQUFBQUFBQUFBQUFBQUFBQUFBQUFBQUFBQUFBQUFBQUFBQUFBQUFBQUFBQUFBQUFBQUFBQUFBQUFBQUF2M2FCN0FBQUFEM1JTVGxNQU11OGlSRlFRbVhabXU5Mkp6YXRwRlM4NUFBQUFDWEJJV1hNQUFBN0VBQUFPeEFHVkt3NGJBQUFPTVVsRVFWUjRBZFVjWFlzc1I3Vm5QMlptWi9idUxQZkZGK09zTVlnaHlpd1hRUXpvcmhnUUJKbEZNQ0krekpnWHVTUTRGd04rNU1GZTlBZk0rdUlYaHQwbkJSWG1naUtZRUhyeEpmZzBxMEx5WkdiUkp4V2Q2L3AxY3plYjhsUjMxYWxUMWFkNmFucG1oZHNQMDFYbnErcWNQblhPcWVyZWphTC8wN1graTBVRyt2eSt3MzNyeUFFc3FidjYrSklFelNFbWZzOGN4QzVwN1dMWEFUVWZPSUJsZFpPVFpVa0tsYk1sdGtOSkdicnBQMXhnTlhuTkJTMm4vK3hWZnptQ2dxV00vaFZNbWlkc2lQMGM4TlpsUHdkYkJtQzE4OHRsaUhGazNMeDRmZDhCNmU0TkVSNGJQbjJndWZSOThxWnVtWHRGWEljS0lMOTlIVGIvaUJEaTFFeWV0cVp2MFY1eGUrU2Fab3VWMnJzcUZsTVd1eTdPeXJJVzhEMG5CTDlTTjhWSkFadURFbjBITUdaRDdxWTRkK2lXMUIyL2JRdTZ1VWdDUVZGandadThhNmw3KzIrZEo5NTRHcG1jUnVYU0FheUovemlRckp2Y1o4SHpBeDNkbStLUXlsZ1QvNmJkc3UwVkliaVZVKzNRWVBGSldIZHcvY296U1AyL0R1SVpUNXphV3lqcG1VRmMzVmNGellmVmVEbW1xWVBLWmt4czNhQys5RkVoM25oaEFvVHZRN3pWYUxnUGFlSUpLblZ4MTJJczJjbnJQaVIrVy8ybVdJNXBxcUR4VVg2S3gySVhnWlhPcGFSNEVTaC9oRURhYVAyVDlxSm9RemdBUkhjNEQwVnNZSVBSZmNXRS9RK1BZSjd1c3dxVTdKQk51V0JURldTTjlKVHRoa0pjYkR2Y2FiZTlZME1ING80TndON3hFbFlVcC91R1dsR2ZmU0VCd3l6TE5GM0J4TXd0QXF1SWQyZXFyY0dZYk9nZm5xUHVhV05xaFhDS2E5SjFTaEdoYlovdVNiYUVZNWppKzZFaW1lMDEzeldyd2pzMnhPRjgzbWlUNS80TTdvWjY0RFo5UnRCSXJqZHpWYWpMR2JCc3JRZE0ydVp3ZWo3ZGUrSkFVbjc1NWRlL0hkMElNRTBscERiWkZJTEVNRFdURVhudVU5d3diTUV6T1ZjVTlFYmlrZ1EzaU10Uk10bE9MbHpJZkgyZjdrMnhnNEpDVExNZWtoQXFvSy9yWFBTNVY0d0R5WkNOZHNLWlJCVkhYZXB5aGlwckRlMEt4RVdIOVJuZDY4VDFHWFJPN2dZeFpRNkpnQ1MvVjJpUU9xRkJIQ2lHMmhuNXNGRjNhdEZSUWF3ZEJFMEpSZk1OUnZlcU1NK0hRZWZraEprR0VzK093em9nN3RZaWlyZkJiVndQZ3dWRXE4TW9xaklMRk9WdkxScHNwQ1JPOTJrV2JIeG9uSUJxaEpsbUw3OUtocVpNaUhyaTZsQUxocEROTEFpbnJLbXo1YlVTc2NhNW5SWWZldWRNMHpXNWowTzdvc05NQTVKSUVaUEtTSWh2eEdRUk5jQTBaKzRvVVh2SEFqVzlCWjhrNDl6T1lnL29jTHEzektnYzJwVWFacG9OME5mbXJOQkhPd0wwa2NKRE5oUDNiRnJvT1dWTm03R2U0UmtSaHpUUStWcWM3ZzNqcXh6YUhTRE1OREx2SEZpc05UTk1GRTBBZmFMUTBvcjVQYlZUMXNTRnloK1RNR1lOT2tlSDAzM0RSRGdPN1VvUE0wMEVmbkZ1c2Jab2lwYW0wWXRvSGRyNTdSRlpmVktNRVB1V05MdXpSNUtmalFudmNicXZDc3lMSE5vVkhtaWFudXNLWGJwcXBtQ09jeVZabW9adS8xT3dVOWJBZHNLZEIrMDNTUUZDNGZPMFdkMFRUQkFzMnBFZmFKcVdFRzlhbkdOMEV3QjN3Uno3Q3MwdXFMcDlvcmRKQTVVbE51MXNDWnM4VHpFYnd1byt4V1hQb2gycGdhYUIrdCtlN29SR2l4clpZK1hEY1BXSGZ4WGlBMS9iTlNQZm9JSEtnSFVMckt1YnBlK3M3c2ZvNml6YUdTelFOSEpIM2Flc2RsaCs1ODlRY1ptOGR5amw3WWtReVdWSFhCMGh0RlZjMU1HK1pCdHBTelpZM2R1NDFGbTBNMVNnYWFLT1hjaUJxVHl6bHlYZkhUTElrMEw4ZWJlOVUvMkJ1RGpRNEM1T1VVUHN1eWtGYlBnY1BWYjNGa1lGRnUySUR6Vk5MS3lNQ3N2R0VhUzdiVEFOMmlDS3ZpakU4MWxaODRoNDBGZEVZM1JzeldYZkV3enFObnlPSHF0N1UrZ2REWXQyeEllYUJqU21LYmxoU2dSSDRCZ09iQXdJVEhnS3ZiU3NHZVBydDVGbFprT3RXMU43U1dyd1BIZFc5eTJjR290MjVJZWFCdGJKVzRSMXhZbktCZ1VyeitTeTZrZzhKbEZwV2JNcDlDRlhCek9GNGFPdGVJWlhVVnBQbTlVZDBvVWlaOUdPcUZEVHdPTW56aEMxY25zcUpWZVdOWGR4akp2WklsSmx6VVJieEk1R1NJMk5vZVdoQ0o2bndlb09yMFoyTXlFczJwRWZhaHFvSkduZzNmTlZaVTFLQjNZNmtlT3AwNXEyOGllUWRTakIzcXRIUzIwdlZTR0MxUjNtczU5eHNXaEhZS2hwb3NSNjFGMnlhaXlKeDZURWllQ3dJa1dxMDVxR2NqeEliMGNXazl2Uk5uVGhjL1JaM2FFcVVBT3phRWQ4c0dtR1ZybHk3SG11VlFnMTUzb0lNRUgyM1lNNnJRRi9UbWNHSmQyK3BtSHZlMVpjWTBsbUFWbmR3VjFQTTBZVzdjZ01OazFzbldhTlBaVUpWTTJabzhoaDJucHBxOU1hbU5tWmhFUGMycFozNzlYQ0pPc2xtWVhnZGNmbnhxTnRvYUdtZ2VCTzV4dDdBbVZYTzRvY0pkRVBYNS9XcUpNY2tMVnJ6OExwdFloOUhWUm9sOWNkRHdoNHRDMDgxRFR4QmRqR3NFNlpNeG5BVmhOeDJkZFVzSDd1Wm0xOVdxTWNEMXdMaVZLQ0Y2OE9NMEwxKzFDWnBpWmVBOU1jb0FJZTA4QUc2aldrMmNPUW90ZFBKOXM3dWFiSjdWMWIzb0lTaGM5cThHNkJENHRIUjlFWG5qTFhKOFJqcHZQVXgzMGp4cGY5a2NyRUtjbUk5NXF4dU9xamlKRldFRTlyVlBZQ0F4b3FJTytCMVkrUURSb3JWZzJsTUI4azh5VE5qL1VwSjdaNTNUdTZ6T2JSa2N3aXZ1c1FaVnVOR29TV0hqM05tckQxS3RRTko4Z0hRVmVWeGZxMEJvNVI3MHMwekF1cFpBT01UdmdBd0psR0ZrenN4YndRQkJHODdyTk1Bem5WZTUyQVZPYUtJZHUyYU1YQ202Wk5Jelhrb1h1WnFFWnFrQ2pTeG5KTms4QjBWRlRLR01BTXVVbkE4UHlsaERzTXZHa1NQU1VlSFVWLzVNY0E2T1crTTBMV3Jjbm5iK1ZsMWpTckhYRnErR0hYZFo3MVd1cEFGSjVKK25tQ2E1b3BqSHhpR0htdjJVejRXVi84bm5KaW05ZDlsdGNndTJ3RVphaFluc0JJWjl2VnZHeXNlVWF2b0pTcWl3R2tyYndIL0NqZHZidXhCaWp0R25CRlJ5azkzUHgzbjJtVWQvSm9lNWdRMDlURUE4blVFY1lwdUF3Rm1mdUFDQitqSlljbkdSam1zeU5iYm9hQ0xFOTM5ZEpyTGpPTzhyKzg3aDI5Y0htMFBWeUlhZUpNSU9pcWJCNUZuR2x1Nk8rUHNoRkdtR1pHaHhsa29HenJtaVo2eDQvM013cjErOURVTlRXUmZWalVKbTlSdUdwNGhOOGZwUm9tbWE5QnU3T2RxWHlzL0NpZ0drN2RWQm1xMUkxM0M0eHBQTm9lS2NCcllyVmZncnlCTDc3SCtlMWxEUS94MXA2V1kzUjB1cXJvZEpPbytoOWl6cjQ5QzZjMzBLd09mSTR1cXp0VUQrZVpEQmJ0aUo5dEduakdXUWlCa0lDbldiMzhPNEh4WlYvSmJxVXZkanM2Z09peVJpY28rQ1ROQ2tyT2pLRDdzT3k4WTYyaWZQRzlyL1RJbjZoc21DM0MzbzZrbW1UMUhVUmRWWGxBWWpwTDJjMnhTZHJOLzNoUGcvS2tQZ2pyRnZCd2pqSUdGdTNJbXVrMTREVG5pbWRpbWdOdEx4VFhNMXVFWG1xQmtTWlpVV1ZOVjZjc3NQRXA4bkdOaCtTVUwxWUJBbFNBTUhwUGFaSTdHMTVUSGlIeDR6dnlkNmdqMDU1aVNyUWJ3ZGNBS1lXa1lxK0g0MndZbk9hOWV2cVFmUFhIdGsxanNBemJKamxsY2loaGJaMmhqazlrVng1Z25hVU5lWkNqV3dyZzNHSjhCQTRpdk11dUdGQkdTV0RSanZSWkN5b21KM0pRajJnRDZHTmVMVzIxYzZLYjhLSGV2bXpEUmlFRFRRL1RlMWRnbkI3cERYQkdrUHVkOVo0cXg1QUhzTHFidDJjczJwRXl3elJnWiswbzhtTm5vVThUSUZ2MXFhUm4zemE5ZW9iQ0UrQ3NySUhZbXgwVUErR1FQOUpBRVowWkN3NEovUTFXOXhXOXh1WEdITGFGeGRjTTA0RFRIQm9CSFl6d29PaTJnVU02ZXZ3ejZmVzU3My92MVlueUZ2VWlialhyM2xLRm8rUXlyK1dwREd4RG1EN0FUc2tHcS9zQW56UFVhQ3B2K3VVWG13YWNCcXM4a0FHRzBrRUNqWlNLaHJ4TXJxdHN1RzVXRm02a2k3RFNNY2tkempjS0h4bllmZGMvNHpBTXEzc2JUN1JidG1Lc3pHTFRFRnRJN3JiYU9rTnpoQ2xkSXFiRU1IaThYcy84SkN0cmhqcVZTL0pHY2JXN1lVcExTVjNxWW5VLzFqR3VNb0lKZjJlRzRFTFRRRkxCMENubGdKZnFMZkpZanlMaFFFY3Y3YXF4K0RrZzA3TG1TZklKaWFUSHNscXl1OWRXc2VWY2NxN1A2ejZWei9PNVY3L3hrMDQ2M1pmKy90WGZjTXdLVm1pYXJ2R1NsQnppc05hcGk3NEptQjQxakhsZkJZSDRDS3IrZTFIMExydklnNnEwYU1Xc0ZLKzNBbTFTbEYvM2pwelBnRTVXWjF4T1pxRnB4bVpua1BHQ3RVK3psdlZoMVlTT1JzejVpTGo4Vm5SOHRncC9YUGNWYS9EaU9OdWVrY0FzVWZtT1YzZUlZWDB3emNVVHIvd2h1MTUrdExScGp0M0gxMFc5TGFkUGJOT0FtNmpyVS9BUlgvSktSenh3MW5YcTJab29keDlpc00raFFnQmUzZXR1blZvc3JkQnJOaDhGQjZSWDVTOHYvemJycitIU292aGMrL1pQd1dvdmZiM3ZJTG8wVWprNEdlS2RZWE1VNVFBTjkwa1hpeWswVFJGckIzZmhSVlJSVk9IQ3lrcit1TWRJZ2JLbWIzcExiQTNtVzZpbFRUTzJzcmRmZ1hWVjVWZ1VtMFU1cUc3VlVoYmZZcDNoZkVWMmFkTU1BcmVBTlozdXFWcmdHTFJydDV1ZXJ6QnNxaEs5eEs3Z1owbllNRWZoczBodGZPZ2ZkRFhadDR2a3I3WnNzZERiV3l3SzUrUnB3T3A4VVJqZUxwMXAxdm51b1FNTlRMNGlBeFNwSHdkR01TSXVxRmtyQ25DY2hOOGRjTkFBV0J6bW5qM1c5RFgvb3FuaXlVZkFKT1loR1lpVGVjZ1hvQTBjS1Q3bHhpalFmOU52TlU1U09Hd2M5aXpEQlhvcEExVkl0bGtKL25rT0FsTWZLN1lBV0MzS2lnVjhaVkFKT2I3eThsYzlxYWpwTmNENG1xcWF6Zm1xR3E5R0lZaHVTTGhjOSt4UzFud3hjWFcra2pWa29obk4zalhWMk53TWFvWFZ2dUtvM2VkWUFSYnJQYnlEdC80cmpvTmJxRHZoYXMrRkpCWXdKL1FFMEVQWFZDK2hjdWltcHpROXZ1am5hSmNCMkRCdlJwWWhib2FNdllDUVA5anhDTEgvUVJNU1ZYMExEU2xLTmdZaHk3K2s3RHpidW5sSGtFY3FTTy9jaCtwZDlobFVneDdUTS9qU29KRnZaWmVXV01nNG5MMTg0eU9maERwYmg4Y0JpOVFuc1FoZTg2emZJcDVGY0FIL1JPL1hmZThBWXliNTE2K3JZaDE2TXFWM2Rvc2l4dHkyT2xUb3BqNU1KUXc5eGx3RVhicTVMczVMODVaanJDOVVLd3h6YjZQSS93Z3FOeUVmVi91YTFxbHZQSUQzZkxtNWdBZFI2N2tNTjdpbVdGbTlydUNPdXVRYnE4L25ZZUdRRCswNnRGOXlBUTYrYkxmNkorVDhIK2ZrWXczRUhOYXFBQUFBQUVsRlRrU3VRbUNDIgp9Cg=="/>
    </extobj>
    <extobj name="334E55B0-647D-440b-865C-3EC943EB4CBC-18">
      <extobjdata type="334E55B0-647D-440b-865C-3EC943EB4CBC" data="ewoJIkltZ1NldHRpbmdKc29uIiA6ICJ7XCJkcGlcIjpcIjYwMFwiLFwiZm9ybWF0XCI6XCJQTkdcIixcInRyYW5zcGFyZW50XCI6dHJ1ZSxcImF1dG9cIjpmYWxzZX0iLAoJIkxhdGV4IiA6ICJYRnNnWEcxaGRHaGlabnRjYzJsbmJXRjlJRnhkIiwKCSJMYXRleEltZ0Jhc2U2NCIgOiAiaVZCT1J3MEtHZ29BQUFBTlNVaEVVZ0FBQUMwQUFBQWxCQU1BQUFBa1ozM0VBQUFBTUZCTVZFWC8vLzhBQUFBQUFBQUFBQUFBQUFBQUFBQUFBQUFBQUFBQUFBQUFBQUFBQUFBQUFBQUFBQUFBQUFBQUFBQUFBQUF2M2FCN0FBQUFEM1JTVGxNQUVHYVozZTlVUkxzeWlTTE5xM1l1MGRGcEFBQUFDWEJJV1hNQUFBN0VBQUFPeEFHVkt3NGJBQUFCV1VsRVFWUW9GVjJTTzA3RFFCQ0dKNFJIUXNSRFNOQkNRMCtCUkdrb2dJTEMzTUM1UVpCb0tCRXRoVk53QUc2QUM2aWhvU015UndnbkNDRE1Jd1IrWnZITTdEcmI3TXkzL3p4dElqbExtd25zN0NtbEUyUE9LSlJmVkRBZ2ZIWU1EMHZleWwzc3Juc2NQZkRwdFV0K3cyQ0xhRG9GdmlTRHUxb0owSGZHQlBEcGJqa3NQeWpOQWRCVlNoUmpKTTRrc0dGOERyZ1RoeE50Rys4QW1UZ3Q0RVY1TGNHcjJoUTBWQTlqZ1hmVnJBSnJhclBlWWlPL0pXS3UraHJ3YTNLdXF3TnphOS9HbTk1cGhHWG5nV2NSTFFDWHB1Y1JEOFhocVk2TVR3R1A0bHpaeDJGd0M3U0ZSM2dUaTYrQkY2WDQ4VHoyKzQrcjdYK29LUGVURTMvK1UrV3BUVTdFcThxVVI3QlFpb0phSGEvbjdleW9uR050YmJ3U1MwTU4zMXJrUTRsbWdNVXltRGZidHpSRXFYcEJKZmU4TFB1dm8rZ0djdjRMLy8xbWp2TVFFMTFqbU5GS2p2MHFKbHBIRVFObjQ1am8rTDdvUFZYeEgyZHg3bkp0ZUppN0FBQUFBRWxGVGtTdVFtQ0MiCn0K"/>
    </extobj>
    <extobj name="334E55B0-647D-440b-865C-3EC943EB4CBC-19">
      <extobjdata type="334E55B0-647D-440b-865C-3EC943EB4CBC" data="ewoJIkltZ1NldHRpbmdKc29uIiA6ICJ7XCJkcGlcIjpcIjYwMFwiLFwiZm9ybWF0XCI6XCJQTkdcIixcInRyYW5zcGFyZW50XCI6dHJ1ZSxcImF1dG9cIjpmYWxzZX0iLAoJIkxhdGV4IiA6ICJYRnNnWEcxaGRHaGlabnRYZlY5N2RYQjlJRnhkIiwKCSJMYXRleEltZ0Jhc2U2NCIgOiAiaVZCT1J3MEtHZ29BQUFBTlNVaEVVZ0FBQUtvQUFBQlJCQU1BQUFDd0RTQnJBQUFBTUZCTVZFWC8vLzhBQUFBQUFBQUFBQUFBQUFBQUFBQUFBQUFBQUFBQUFBQUFBQUFBQUFBQUFBQUFBQUFBQUFBQUFBQUFBQUF2M2FCN0FBQUFEM1JTVGxNQTc5M051eUpVbVlsMnF4QkVaakp0MFNtOUFBQUFDWEJJV1hNQUFBN0VBQUFPeEFHVkt3NGJBQUFHRFVsRVFWUllDY1ZZVDI5ak5SQjMrbmUzVFp0bWJ5Q3hyN3VJRTRjVXdtVlBxVUJDNHBSb2hjUUZxVDJBT0NZbmpxVGlDeVRTZm9CRUZUY09pZEJ5VHZnRTJXK1FhamtpbENZdHBic0Zodm5qZVhaZXMrbnpFeEtXR28vSDQ5OGIyei9QMkRXRjZlTnl1ZndSL3BVZkY2Rm16TWIwd2J2WStBVC9QbndVN1JzcW0yeEU3V3R1My9sVEFMOFFxdCtHZlFiWWpIWC9LMnF1V0N5S0p5Z1V5VmVzSXRaTVVUcEkrUHJxenNuSEJqMEdhY2R0STh0eTR4VEdmUGtNNEZ2OGFQb3lZdFI5TjBEV2NkNnZIYmh3Qm1ta0hLUCs0MHgzWlFXY0FxVlYrSHV1ZldmakhvUDg2ZG1WV0RQME5HWUNjeXZpZHkyVzF4a0R2TTRPYTdxZXhqUmhydWwzdlVHdU1zaXg2eDJ3WXM2NUNJYXVQNVZVWjVCRFo3dkZDbjhoTjJEbXV0TkpCUWI1d3hubldlRnYraHJNVThMWnZsRVNKdm1uTVdKWWo1K0QwTTB5NWhhVHRoa1VUcHdmSFRoMGpaUlNra24zQlhYUERTL0JzV3VrbERxTTBvMnRWd1QxS2xic3dqU1dVd3NEUm5GTW1nanFaUXl3QmY0aGlkWExoU1NUZW9JS2ZSMVdBTzlBcS9LdVdwamtHQWxRWWR5MkRoekRnWW9CZGNRZ1ozYkVEbHlPV0xHdkVCVjRvV0pBM1dLUWhoMnhDbGV5WHpwdGpCVDlBRFExUFdMVVBkczhnblBobG03UlBYaXRsaUgxS3FNcWsxclFzT2ZBWXVUZ3J4QTB0ZDFoVkdWU0JHZW15aHE3bWlQUWFlaUFkRFZqMk1YTFUzeXFzK1pBUnZmOHc1c09rSzJhRE5KbW1lT1RwQjJKWTdnY3RRQXNaenBoMUgxV2NIenk0OWg5MExWeEExSkp3aVRaa3c0bEUwazdjdnBYUVBjeEZaWXpFaVlKZjBxY1RDcnMvWkJNSm5EdUxFTWt5NlEranJIeGFjeW9od1RTaEFaVkdZcGowaVp3Vmhnd0tzY3hZbHEyNHBoVUFONTVpV09VclRKa1F2WEJNYWt1OGNuRnNiWFFhNHRpR2lNWEdKcTd4cWVJbCtETW1BeVpVSEZqSnFFZ3VnNmo0ajR4MDlRdXNLNHd5REU2YlNQVmdCWElLV0ZhSUp3MUh6UElvY2xwTWxsanhaWEpaOG1FNmtPQlFXN015RDRHN0F2aHdtd0owOVF1ckZZbTlhQnRCMGI4blpwbFdoaWFXc3NGWm9hSHJHOVZUVVk5eVpZSkZiYkVJTCs3K0RSaHhWNGx3N1ZGTVlsQVZFNWRmSkk0OWtxWjVpeERwQUdqZ2tzbWtuWkFtUmFDNVd5RlNlQ1NpWTFqeWpSbkdTTHBXN01XRCtxSjkvdXh3Z3BmRlo5WWFmMXJLM3cvK3c2bGpkUHBFOTFyMjJFaUJ2RnUyQ05CVmFhcDNYTW93M3ZTcU5zWStkTkZGZWU0RTEyYzNvcEVUUWJ4WGdNU3gyS21XZFR0MG8rbVpMOGRXWEpYMmh0d3ZkMTdoM0p6UTc4dTlSR2puanVseExIa3RXVU5BMXRQMklZY0g1TDVCdG9Bdkx6QTJXOGtuWlVMVEpmTXBFZ2NTMTVieGdjRzd5QW5aSUxaRG9HTVdjTUxXUVNVUkNrV3NZcEVMc0trb1cxUlZTWHY5endGaWFVYURXMlF1R2JmUzBjSDVLdWs5NllqRVprWVpwSzd4S0ttVHFnbjFPZktEZzdHU2J3Z1RjRnl1ZFdtd2UrelVVZWprdzRoSmxHaWlrdUJVTkUxdjZ6Z2l1Q0M5MGszc1l1STdtTkNHckpaUGZtR0dpSEdEWGZaSDdyQWVFeGo3V0RQWUF5VzJYWWtjVzdqQlBGRE1taWNQRFhFcEVNTHlCWEZNWTlwckh2YWRqNVdaZEhYMzZLWHZ2MThLM2tycFF2TXNZK0t1N0x3MnRLMFU0cGsyMm5JUUdON0w0bUtLNTU0Vm5VZ1NXcithQ1JUMGswajNVakJTcklxYkNjL1ZmMmc2Z2F3Nk5xQ0VlT1lMSkNLOFZhMmRGS0pyVUd6NTlNdVdidVNMK0VodkZVd0diRnV5NXRheGI2ZGtBdTRuVmxLRHVRVWEwMFl5bXZrUWlNTHBxUEFrU01JdW5qTVlKaEFodGxRTFUzTjJHMk1uZ3R6NUsxS0dIclRMbDJQZHVnWGRtMVYvNFBTbWorZEFjQlZ1ek5Nc0I2amFrVEEwSlZ4c3pDVWRja0hwR3NiSXlDSlNGZDVPaWpwV0JuMjA1TnR4clVjbWwySkNDMkxtc3Vla1Z2aTY0UU93YWI0V05HWWFCY256RTIybGdmb2RrVHhNQ2ZMaUJHa2ozMzRQMHFxTXBVVkRuWlByeVAwdFhOQ0VFalhxSXYxZUQ3bVVWZnFzZzZ6R3Vhc2RoMU84aEtPY0lsL2ZkMDNuMmVtRlgzN0pWejhBQTl4dnBmVmgrekxLa3kzcTNnWnVLeWxkbTJCNFRjZnpENUY5UmVsdHdXbWdKRWgvL0hzczh5THV1QWJSTmRreWxob0ZxaHN1WWdRT0hLWmVTWHpPVjJHbWptb0xnT05vK3N5bytDK09Mb0dqMXcyWUVXajZ6S2owTDZmT3pENzdiK2xxakh5MXBtNzlvWDZ0Y0IrWmZxZy9DaVNPTXZkL3dMOEhJOGw2eVMwNWdBQUFBQkpSVTVFcmtKZ2dnPT0iCn0K"/>
    </extobj>
    <extobj name="334E55B0-647D-440b-865C-3EC943EB4CBC-20">
      <extobjdata type="334E55B0-647D-440b-865C-3EC943EB4CBC" data="ewoJIkltZ1NldHRpbmdKc29uIiA6ICJ7XCJkcGlcIjpcIjYwMFwiLFwiZm9ybWF0XCI6XCJQTkdcIixcInRyYW5zcGFyZW50XCI6dHJ1ZSxcImF1dG9cIjpmYWxzZX0iLAoJIkxhdGV4IiA6ICJYRnNnWEcxaGRHaGlabnRYZlY5N1pHOTNibjBnWEYwPSIsCgkiTGF0ZXhJbWdCYXNlNjQiIDogImlWQk9SdzBLR2dvQUFBQU5TVWhFVWdBQUFQNEFBQUJIQkFNQUFBRFZmZWZmQUFBQU1GQk1WRVgvLy84QUFBQUFBQUFBQUFBQUFBQUFBQUFBQUFBQUFBQUFBQUFBQUFBQUFBQUFBQUFBQUFBQUFBQUFBQUFBQUFBdjNhQjdBQUFBRDNSU1RsTUE3OTNOdXlKVW1ZbDJxeEJFWmpKdDBTbTlBQUFBQ1hCSVdYTUFBQTdFQUFBT3hBR1ZLdzRiQUFBSUZrbEVRVlJvQmQwYU80eGJSWEI5NTl6NVBqN2ZRWVZDZUU1SWg0UXZ1U0FRRkRaSkJ3aWJUMEdCWk5kcDdpb2FDcCtneDBZMGRIWnlnUVlrbXloTmtDSmJpTjdYVWRwRkpLcm96bmJJRnhqbXMvUDIrZnljeEpmbmhwWE9PenM3TzdNN083OTlpVW4xejJ4dGJWM0F2NjB6RzFBd1pxSC93cXM0dUlSLzUwOTdhVU50a1lsby9JREhFZjZrSU5oSWZuQU1hUmExNk9QK2QvSmpHeHNiY2pvRU51ajgySG1NNlNPMGVlVDhEeU5VdmMrcXdlS3EvdGpJcFR4MkNHTSsvdzdnQzl6ZUxGcUg1YWNkYTdudjBiTW1ZZWdJb29WaUxQOWZ4M1JOOU84UUNNM0RQeVBqQ0FjSkZuYy93REhEbUhZQVl3NWc1RDZDVTg4TG4yQnBFR0JUWTB3OWdERmxHQmtHcDU0YnpyTzRrdVBUWXNUSWdUMW91L21Jb1cwV2wzTmNseGtSdlBBRkdManBxS0VVaS92THNWMWxSTkRnNHpEcURvNDJBa2o4TFJoYlBkNUF3Tjlic3pNL1k4YjhiWVhGdzY0N1d3MXliaEE1ZE5UZmxrVCt1aE9VZ1pJYlJBN1ZXRjdkNXpzbjh1LzVpRFhvKy9BTWdCYkxjLzUySVBMditxS1dJUmllZkhSVXdGRi9hNGg4YUtxQUZBVENzeUtqNjhYZm5JY0RaSGtIVlJYUmhVMEZaOUo3TEs1bmVTZmhib2NSYVJXV2hYMEZaOUpYV055TzVUMFA5OFFDVmVtWUlab3prYXRNaXl4LzNRNkxjQ2dlcUVhWGdFZEtPWnQrbnVXcnYxVmd4MFlnS3kwR2Y4OUdybkpOc256MU53OTZKczhZZStzZFVOWG9ncWg3bG1ZdmVaVnkzVFpqTmtWT0l4aUtveGJOL01vc3Jzb3c1em9weWlRbjRtVVVaaUxWTVQxZytXbEdjSzRMNXNRbDBKdHhDeUtHeE4vRXltcFVha2xSSmxGL0R0UXlJNWJxMkltL2laZGx1TlRLc2tiYVJISUFoNDV5TnBEMXR5Wnl0N211eS9KekpLNE1POVNOdFR2Zlh6di8raGoyZUFqbmI0dkFsVkNMNVhOT0pIOE1hWHhGR2lKRDVxZENPWDlMQVZ1OTVFU3EraWJWbmlzWFBZanNacHkvYlV1dWN6a3hQdkhwZzdlV20rcVVrNG5sRVVTYTExeUhoOFBXTTJaeTdZbnlxNU5aVGpYait4c0NzckRHOHRIeTJCOURtZUhIaW5ib3hER1FXUlpYTWdrdHRWcU1PRFJHL0RHTUpTb3RESDBzWEpmRjVVeE1TNjA0SSs2WjFjbTE1M3lFai9JVWkzdHNPcENXL2N1WG9LRlpGbjhNTzFScThsUVkrUk54Nm04TjM2UTgzbEhCK21QWTRrNkVkWUU4Z2dabzBrMHJxc3p5ZDU5UWUxWWljMzhVbVdGeGQxeXVPMkRFZW5ieTB5Y2JaVmxjWTNGWFhhNlRuUGp3Q1RZT1VkWWxMWllQcnRTU29nelVIOGNOQUVOa2V4eDdYSXo0VytCSU5pZXFQNDd6UmZkWFd4bWZuQnFqWDE0TC9zcUdhQ1R0SXh6dzJjWEJ6L2hOekQyWnpLMDk3OFZ2bE9CMzd5MExMdlFJK00zVzcxOE5mcURobitmNmIvWUlHR2tlaXd0ODllaUkvT29JRlE5dXczQVA2cW5BMWR5Ry9vVU1mQ2lrTjJBTFhtRndsYzBKWS9vdURhOFA4MVJLM0lhelYwTmVGR1VXRi9qcUl6a3hSTWNZb3d2bVUzeWsrWFhaci9Db1owN2s1Wm0ya25uZlpFVTE4N3hGTENZUFNYNit1b0FSYXdtK05LWkNSZDVvSzdKOEpwUUp5WWxXZFFIYUZYSEpiTWIvS0xNQS9UWVNKR1JEY1h3M2xXVXJMYzdkR051b2tGbEZWbWd5alRjUW5oOFBYZklJcXVPa2JaSVR4NTgrMTJVdDdqZHRLV3Z3RGtNWkx0UzdpRzVJemJiTnhRekdOdUlTeDhMR2d6KzRtQTU1MG9tL3RabVIvT1JKSStzQmhJQVp1VTA4RlY0bXRRVDBtd3gwdVI3SkZLaUtxQk9tTElydnNCTVZOK244WG80bWtrSGJKWVF4N0c4Qmk3YVBvRjJlRFB3czI2VzQzNUtndTFLeUdWTWtJSWtIMU1va3d4dkNEWkwrSzFYQ3kxYXg0QTZ3RkpEOGpRbyt2NlhvL0hpWTBkYTFFUUZaeUtsUnZWVWhTZEYxejZGVjR0NW9uVzdEc0JwUUx4aXk1RDRYUTdJNitSdnQwMi8wQ0FyNG8rQ1I1eVpEcWdjejUvTktrVnUxMXNtOGVCM0dsQjdUWm5ISkN1b1dUVHJIaVBnNFl5dzlkSlpKNU1NZ0htaTBJWXNTWTJMcXcxMWZheW5LWGg5WHFXYmtkWGdBV2R6WXdTZlZTN1F2cTA5L2NZQTVQWUtFdFNJeklRVjJTM2tXUlFiWnRHcXRxS2VxQ1dwT3gvbDlZY2tLSXRCZnJLS3dKK01JREJHcytTYnU4RjNOMEdwMXFHVFVMcmR0bmN1S21sdGFJSGtGSVRqUWtGVlRrN1VydWNzcnVTTHhyRDJGdGMvcnNSdldOVEZ4VmUxa3hVWmtqQng4NEcxcmJTdDZMcXNYRElVaGZtMXU5T3NxUmZyVnpLbFJCSTVBZCs2Smk5TS9WOW5USVZmeEgvVXVMWkNTK2lVcHJ5RXJSTEZqa2tJUjZHeUhQS0ZueEt2MFhWbjNObS92UVF1a3VEZ2RiWDZIRjZOLzlrTFpQeFdKSHJ5cExPVFlIVFV5OG02WlUrdFNjYWxENFl0N0xqRVVQMnBwTXY4TXY3anpYU2J6STBqWFQ4UG9ibFdlazdCUEgvWkxNcTV6UjJHcHlaQnZtSUtmNGhkWjdEUDVITGwvSWsxUitvRmQzOUpUMlh0SDJnSlBOWHBDNFljc2pxRkxyOWwxMDNUb2JTV201eEFUTzZUUEl4cWpLdXBkWlRFek5VT0tmTnhpcXFvc0VlaXQyTWxuNjFDbmJhYmtJeHhzSWhzLy9JRjRQYVc5SE5GZ1htVFNoRzZ3YURlSWtXWVhGWmZqMlNsLzlQd2UrVUd0aW1sZEQrVnJGK01XN2d2LzQ0Q1ZUeG1CbTRZc1ZFd0JZMERib3FmcXltSmpHSFdRYTdhSlpZMm04aHFjdEp5MlJmKy9XTTlzN0Z1OGhxeEZXckttdHpLVmVIVDNIQzFvQU1wWVF4T2tXTmFtRGtzS1BCUzNtTVNvc3R3VkZRVFNOR1J4OVVONStoaHRDU2lZZkRLa2o4SVNWNjdMdWUybEU4c2xUbzBMZ3k3dnRhTnF3V3N2MFRSK1VzS0FXS2t6UFBWUG85OHpONkcralB1bzVHajFTclpmTXVaYk9FVURhUTNBUXI5N2NoSHVOMDBDNmFXaDcrQjlVY3ZndTM2c3NwQ3BwLzR1d1dBUFhpWWp2elFVZG1qbjcyVUEwN3Zma2g2OC9lNndZTG93dkFaVTczSnovNG5nSTdnZzE2aFQwL1EzencxK1JQclZLNE5kdSt6V1JUanJQMzRZbDl6emhtUjFsMDh6cmFXNzhwTUZ6TmY5RHhEOER5eGN2dWgwZ2dmVkFBQUFBRWxGVGtTdVFtQ0MiCn0K"/>
    </extobj>
    <extobj name="334E55B0-647D-440b-865C-3EC943EB4CBC-21">
      <extobjdata type="334E55B0-647D-440b-865C-3EC943EB4CBC" data="ewoJIkltZ1NldHRpbmdKc29uIiA6ICJ7XCJkcGlcIjpcIjYwMFwiLFwiZm9ybWF0XCI6XCJQTkdcIixcInRyYW5zcGFyZW50XCI6dHJ1ZSxcImF1dG9cIjp0cnVlfSIsCgkiTGF0ZXgiIDogIkpISTlYSFJsZUhSN1kyeHBjSDBvWEVSbGJIUmhMVnhzWVcxaVpHRWdReTF5WDN0cGJuWmhiR2xrZlNrayIsCgkiTGF0ZXhJbWdCYXNlNjQiIDogImlWQk9SdzBLR2dvQUFBQU5TVWhFVWdBQUE5RUFBQUJUQkFNQUFBQnFqcGtPQUFBQU1GQk1WRVgvLy84QUFBQUFBQUFBQUFBQUFBQUFBQUFBQUFBQUFBQUFBQUFBQUFBQUFBQUFBQUFBQUFBQUFBQUFBQUFBQUFBdjNhQjdBQUFBRDNSU1RsTUFWTHZ2bVNKRTNjMnJpVElRWm5ZNmJRYzlBQUFBQ1hCSVdYTUFBQTdFQUFBT3hBR1ZLdzRiQUFBVjBrbEVRVlI0QWUxZFhZd2sxMVd1bVoyZTM1NGZSZkFTSWZkQUVPdEFVQzlaRXErSm94cFptOFFHbzU0ay9PYUI2VVNKSTBCS2o0aGdzN0doQmh0aVcwVFVKRkdReVV1UEFDbncxSk1nSVNJRmRRZGtMU0dLWjRSNFFBalJRMTRnemtNdjJ3NHphNi8zOHAzN1Y3ZnEzdXFwcnE3cG1WbTJIcnB1blh2dXVlZWVjOC9QL1psZHp6dWJ6OFR2bkUyK3pobFhwWGVmZVlacjd6anpMSjRMQm9QVk04N21ITnUxT1Z6OGVSdDJIekpZQWplT09vTVJUcnUyK3I4T0RucHMzd0c5RHhva2daTC85S0RxNHVwS2YvUEFYN3o0eWUxaENjNDZkZXF6UzhNU1NzVmY4Sys4TjdXU1Y1VGVmTkh2UC9NOWlmU1hnNUhQYm0zN3NETVc1aHFNbnFFMTNYek53ZDBTWTNjZDRIeWdVc2lZcXhOTjdRZDh6anI3WFE2Wk90UVY1Nnd3d2JiR3duRStUYyt6VlFkM0Z4anJPOEE1UWVVV1k1OU5iVnVxUWMvOXR6NStrYkYzRWxMcjFWVFVzMTdSdWowV0RqOTBGYmFqYlhvaS9IU21YaHVzNDhEcmdkS0JBNTRUTk0vWVVWclRoU3IwL040T3FyOVJaV3VldDhqK0IrWHorY3dVS2JSQklpZzNJMDNYR05zY2hDdnJ5djRiTGl3Zm1pNHVVSHNlNk8yNCt2RThVdlN0dXFpYkRtRE9GWGJIalhrT29DWDIrcGk0M05PYW5vYXFCc1pHeWRHc003UWdUQmNacUQydng5aE50d3hhak4xZVYxVnpiQnVNWjVtaHFzVVplL2ZHbFdNZ3ZHNkxzVTlCVlZsNjdUSXRaa05vb0ZOb29QWXdCWjIrdy9zNC9QcHUxSFB6YnB1UkN6K3Z6NFUwMTFYMGdHYTBwaWRKVjhlVEx6Tm4rdE43bzRybSs4ZTN6NG94bHhLb0VjQmpvVzJHK1l5dFpLVjY5dkFXeCtXK1o3V215YVpUazZCSVFuUHVvT2hmYXFEOXBRaHYxQklGazQ1TnBJd0o5WlFKWGdDZUM5SEVPZFBsSUlQUWl4aEFwT2tTSk9iMmw3RisyazVYdWNUMlFTbEwreGl4UVI5KzNIWWw2aTlqT25aaXpXclpnazZzelZuNnFJekpJMFdhOXJyYXZBY0pvdW8wb0F0OWo0eXd3QlcxMTNJbFdndlEvM2FjdlEzbWppZHhyTFA3TlZPa0p4d3dURVBUQzQ5K2JnQ2lyRnB3aTdXSC9iRVFxaTR3VUxjWis3N0ZENEMzRWtDTTRQd3VwekdXcFFMM0ZoT2lpWDBhbW83QjB6NG0zUW1FandqZGdLWUxETlRJRmExRkgwV1lyUVJyV04rZDMrVTB4bEl1MUJNbWhHTjhEcXZwUGVmYWRZblNZWkFxTWxCRGcxWXcrQ0JnSFlON0tpSnFGRGkvRXNUSDhka2NUNkFlVnRNOTUvSVBZWnFMM05aTmZsR1IvZGJqemNzQlkvYUJxUlc1NDQzTy9GZkRjbE1ud3ZLd21nNmMreVlVcGdzUDFJajdhL0V4MDVKL0p3N0NsMTlrZG1CUlAzbkFzaU1mT1lGZWg5VDBnbnZKVFdHNjhFRGR0ZlpEZTg0VnYzdnluWUNzVG9qa3BKMlBuRVJQUTJwNnlzblZvdGkxQXEwaUEvVmVNcW1tVFpMWGJTR0VWamkzY2M0eVpESFRKdlRJSXhoUzA4dU9PT2w1UEV3WEhxamhxMi9IeG9kc1BMbVlwdnBxSEN2VzVEeDhJQ0haSFFPZlEycTY0VHhnNnZJd1hYU2dub0JpTzZZSTRMeGRXVUkxdzg2ZVNlYk1sUVBoRWsrWXJ5RTEzWExtaVNKTWkwQzlXUnpEVU95K1FZMlNjZGZwU21odnNCaXR6a0d4eVZZNWwyKzYvS1ByVkpoK24vL0NDb2VNOVBQdHp3ZjlQL2gzVFVKcitsc2YvcmZITHo3TTRTOTk1VC8rNnNGZzEvTW1Idk1mK25HOG95ZDA1TDY0ODNFZ01FQ3N5RURkWkZJRWdqcE90NXhaYW5BcDRtL1lVc0hDSGJaN2dkOFZqbktLWGVaWjBIVElEdG5SZWo1YVVhczNRVng0ZmtKQnRLWjlBb3VJMTZRaVlzZkxQcjBQRHhRdTNzNERRaG1tTVRNSTNjQWVzZGlJNzM1dGdQcXFnNlMvNWdCbUF4VXMzR3lkV2xodGtXZlduc0plLzVybjFZNSt5SnNPSDdIUWhnUDhMV04vL1BXWEhnaloyMlM3QVpxZVlFZi8rWXVmOEZsL1JmZUIvYWhkL2FFTEtreDdYZ0JsN0d2NHFBWGNicEFKQUtmVUJQRzZnK1lESFFjd0c2aFk0V2JyMDhaYTVvNXdHcnQvRjFDYTY5Yzk3MWNUeWFqZDZCZ0l6cUEvUXlqbFhuOWRvR3BOdi9Jb0JDbHMrczFYQTVSM2E3ZEpxNHZtbVFLdUFZaG1zVjhWcHVsR2wrc0FLb1k4eEFlNE5UeEVHYlNOenlIb3BLSVdLOXpVYm82cm1PRnluOEU1elNRMkdhdTRFd3VMR25IcFdGVlRwYXk4ZzlhMDUzMVRhZHJ6U2dGakg1SGJzWDl0M01lZGRNbGFoMm5QbzNWUWNRZEx0SDZXRXhMQ29wdHExcEhIY1VJY1hGK3NjQWYzTmFCMmpxdTFzdWw1bU5zZnBkbjhEeGhyWjBDTFk2c2l0WDdORitaTHh4TGJzaDJNUmdMNWZUMy9YUUlPZVI5MkpNb0Y2OHdRRlRwTUZ4Nm9mV1lrZ0RTTENzNnlDeFd1RkZHT0YvU0xWdFVEejBQU0dWQ0FybUNzU1VMZmVqTHQrVmdTMWZPYXlpU2pwYXFoYVd3Z2EwMVRWK1M3NlVGNWl4YzhiOW0xekluQ3RBalVLeEo1OUZmTFBLWnFneVZNK3lLZjQ0UmJaRjhEYU1GYnJYc2xNbUpvZzZjaUdIanlHTDdzb3k3bE9VZ1NSOGlWbTRsa0gwSWhwcWFEU05OdFk3bUVpYWE4NWtZc1JaTDB6VlZPQllTTFU4ZUdaaGhkWWZTR2hTZkhsdWY3T09IbW9abW5EZXl1N2kyUmFwR0Q4aDBEaURIcHZoQzZVNS9WWks4YlRLMVM5dERvZ0ZlYm1nNWptdGJOamVQRGhtTzViSVRwb2dNMUptUzBWUktDNXpybnVhaWY0NFNidTU5dnZQTDRjeitWM3Zydlh2bjhjMDhaMVlpUCs5NHM3ZlJCUTNlb1lvNGQ3aG9JdlBnRmpOLzlITmFUdUZVdHFtVTBzVzA2cnVrRDNieW0zWGZYc2UwOVkyYUp4YTZvemNzSWxIcGJzVXV6bUt0d3JIQnpVVVdqQUt5YTY4TTRIYkljNVZ4NURRQTczaklaY1VXNXJmZGJpbzdUR1B4RnFaWEVvSVBlZFY1T3Qra0RUYTJ0ei85Yk1RNEZnaG1tQ3c3VVNGVzBHVk1pZnFSWktxU1FKdHlGVU8wMjVPem1NZDlVWlpKYytTS3FiNXFrS1N0dVhBSUVObVhDODVZUmI1VXZMUG5LRFdmUk5KeW9sSEhOQ2gvUWJZenBDaFN5bVpmRFpEc01YSzhNa0dSbzlwTjRPYi9UaExzUlJiR2NsR0hWa1ZSc2N2QlBxeVpsOHBtdEhVQUNLeEV6MFRLWDRiTDFxYy9peis2S2RsazBUWDgyMGVIb1RSRkd6QzRuNG1rUzVYcEZyYWluNk04emxNVEl2alg3SmdQNXkybkNyWTB1Yjk5UXBVME9tajR3MlNaTmYyU2RMZzhPY1BwbWcyUEtGVHVoNDNuOXRtcVhGcWNwK0s1d0pJZW1aK1Fra0VUSTlGU01VSFR6dm10SGU5RzBvWUFqVnc1NTZTWGJwUW0zT3ZLVWlxblNKc2VUYllNYjVRWUJMMlNJOElYS1FLSmVzdGcwcFJCaU9sUnRtNjZvRlppa0dRQlpUSXVvRTE3NkpmZkMvemM3Q1R6OU9jV2VobnJWdXBJMHpmTlNYWjllS0xtN2V2THJkaE9YY0J0MHpqRFNBNnE3bW9CTkxybXA3TE5MSEJ0KzY2WnVOa0lCT2hBRVRScFpOSTBUTEJsN1E1dVRJQ0grcmtZMnV4SHJMMVRaajMzWlV6YXNzWFZJVExrTU1HcDNIdTlDZndWMkx3SlMxeWlxNEJKdTZRZFZiZDQzcUVaTmJYS3pLdStSU0VyVENIMWJVYnY4SlF4MjAycWRTZE9RbkpocnRxWVRZVHA5Ulkwc3dmMmtMVWVtYUVXSEpnZUNaMG9BN0ltS0RkaDFhMHpVeXYxSVdrYUxvb1Jya0VSeFJydWlPRngrTGJPNEl3eWtlQkdzZHB3TmhnUmk4RnRXazB5YUR0TTFuUWpUL096TEdham5BN2Z3KzM5bzhTUUFOVHIvYkdxZXlhWTNIYWk5TlJ2NFpYZFg3SW85SzRvU2JweUp2WVFxNDdYNGE1ZTRJMU0yWFdGNlVabG9NZFFuUmR0VnEwVW1UVmRWTG1mSDZXU1lwdXZYS1lIYTZuc2dZSXF2cVJxcVo5cjhkN0NQdTJ1WUR5TThsV0tFbStBZ3FjcEVkU3NSaDN3NWgydW0wMCswR2VLekNFM2J1WGN5VEh0ZUZ5clpHb0t2Rk5RYTF5czJncVdqbzFYV3FvM0w5NjV0Y0daSVFjSk45SmRVWmFJNlRBaElhVHBJeE85RXM4eWZUZzFrc3VsUWVXOUwwMWFZNXJ2MENlZVVtVU1EY1VxRUFHU3BjczJHbmRHRWZEajIxRzJqVVk1aVVjS05kNTFVWmJ3V2VjUk9EQ0pIaHJWWlBIN0hrSWI0Z0tqc1FKZEowNEhTdExWSFpvVnBFYWhIMzdhc3NYZlEwR2dQZEplUGtkTHdTL1pvOStJUnowWVlEQ2xNdVBGdWtxcU0xK0pZcWg2RFNHK0ZJUTRZelVMSzB2SEpKNjN6YWVqTEZsVW1UVVBJWW82MGtxeFVISlBRQjNwOEpMRmhaZnFBcnhZS0J0TnJ2QVYwa29odUhOemE0cSs4UDRPRm01ZXFwY280SVRpcWpnbkIwTGJwRzROT0xGa05yREtKTmVVNU1QQ28ySFNKS291bUtjS3ZjV0tWNUU2bkhhYUxDZFExMVZGUFQwK0VFRnNPNVJIbmxDM2M2YmRjT2VCajliejU0UG82aWd1UCtWZCtUb0t3cWxQMVM3N0N3MjJzUHd1dTF6V0taK3lNR09Tby9rTVhELzhFOXczaXU0aVE3dzVWRGx6eERYTStYWEh0dFdYUk5Ebk9GV0xGYXlmMkNSMWh1cEJBRFFYczhBN3BINnVTSGcwNnQzM2JwTnBDRTloRC8xckNMVmVQd2tQU0wzYWhnMmNvLzErb0hyNDEwQWN0VVgwdllnZi9GdDRMNFczdnE3OHYrNDkyUmlKMFh2VlZkdlFpMjA3ZTNJRVM5NmthWTkzaGFNNmZJYzZuUWVpdVJTT0xwaUYzdWVXVFhDYzZ3blFoZ2JxbVQ1UEFuOHk1Tmx4bldkM2sxUXhyZ0lNQmxuQnYzSWJKYmZGR2szZTlDa1RmZTdVREkxV0pIK3BuUkwwZjdZNjAySHU4VXZWdFNrcTRoUFdhN05ZZ0I4ZzhlM1hkKzhDdGhuSllFZ21XVktkaVE3NGxPUDhMUWpNc1lPRUpUaW1McHJIVWtRTk56c2FLR2xHTUt4OHpveDZERFBtQnFiVWxtOUNKaVNoaTQ5dTg4OENCNVZGdmwxdkNyZTRnWElyRHVNWTJWSFpuN29nc1BGUURRdjJjcU1kRmVNbmpQM0xBN0tIaTFOZ1pNY2pCU1lUY05ZWkJJZ3hoV2NHOVNJdkY0N2NrUC95TFBIM1Vha2E0d25STjcyaGNpRU9hemt4aXdSZmUwVWhHb1llT3RvenZvWXMxMXUvSVJwU0lyZkF5WlF0MUNWV3ZHV1ZxQ2pEc095bmNSVVJROWZmTTFYWGM2M3FqdGtvMFc5SjlMMkpWSWVzeFN0RmJPZUI4Z1QrMTVHZ3BWWnJrUE8rRzhQY2JLcjhWelhrbXhvdWhKcUJxOHI1RHhnNTAyOFpOWGt6WDlKcEdyYXFFak44ODEyQzZnTDVqZk9raWZFQVV3elEwZXdFbS9ickdidW9ORTVTMk5GZ1Vxa2xBb3Y3WXo2UndaekNsTDRnYkR5WG9iWm4xaFJ2c3lzVUgxYytJK25sbDB6UFNWemNGSEgyR2FqbHJrQU00RU9MQ2J0OWFqREYxaTc2bzVUVGxVOFl5cTduTmUwdlg5SmJpaHRhMEhmRUJQeU5ML0hzMjlpVlE4RXViSEdwNmErQVFoWm95WTJwVDBTbjNSblJZTFluTjZvdm9RMUNQb1NhRjIxMmxhM3R2RU00OGtwbzl4aDdoK0QyNXdqUHF2VkJtMEUycDE2NE92MXFWSmpwZEErUzBFSkNFbCtKZitKRlRDejdYVGprVnpuQnZKUC9nWGp3TGNyMmFybWw5Y3dRb3FneWw3eW9LZURkdU9WZnpINGFtTFVkck5EdW1DSlBXYlBKTW5ndGUvQWxMeDJ4YkNwODJQM09VTGVFRzBFRkx4Q3F5eDRZYVIwM2FTRkRYOVY1Rm1Ec1VKMlRTVXpFT1VwS3FOTWpSNmxONHFvUzUwSHppOG9WNjd1UVlnN01KM0xCU2xJcHc4TFJiQ3RmSUp0dElmem9TM21PUms0Ny9nVjFJS2sxNU5GVkZQZk83cGsyQ21rRHZ5aitBa1pocXV5T2JkRks0WlVxeWZMWktIZTl0a2xKbERsc1ZVdUwxZ1pUWXNraEg5eFIvVGVVeHRTcE5jblIxYUl2b2F0dm1IL1RURmxNRUZyV2xZU01XYmtTaWFqNGlhQzBiNlVFa1UzTDBvZXdXYTRBbzc2bnFoU1dhVTRxWCt1UjJSSVpxaVVXS0hldFVFRXJ2OEJMLytYdVRsd2c4VENrcDNOTHY4VkZ4aS96Z0FRVmNHRFk5dnVpTDZzSFFQb2N0QzAvWFVoNVA0bERLSnYyNlNZNjJVemhkT090SW5weFFWMHdScUdLSGZ4ZnhVMlh5Ynl5bitydUNIdXhFdVdZS3IzWFpTNXV4NzhycFhERVphS2w1UzNpUVUvcWpERkVTelA1cVJkT1JOd3FqL2xIMVRrMW95WmRlWFVPR0x5eEh0SFZqSkV5NkxMY3A4YWMwMFhJT0d1dHdCSDZKbUV6MUp2K01jR0pyVVUxdVQ5R1ZlWUR1Qkp1WDIvVFJqc1FmMWVVdHFSQzRFTHhPSkg3aDZsdElWUTlmZmNJclhYM1VSN0gvcCtKL0wyb2pUYTgrUlRob29xWUN2aHBxa2xOVkF3M1NuenFoRFArUW8xZzNtMVdpUEpMcXZpanIvc2svaXFHWlRUS1gydzdoN2tVbXB3TXVqRUIzcHY4S3NiRkovU0JNci9MK1VKQTRiVk5pbWx4WFJZS3VLVU5xNm90cDFGVlRpSk1iOWVmampQMzB4MTc2UkhpclE1UzBxcjRmZWVLN3ZBdUk0R0NLL1pqbi9aclBYdVc0SEl4bGg2SDJFSUpQZjFaRmkyRi9ZVEp4eDQ5TVFnUkVVUG9BdXZ0SmttZnBuOW5oeXJDa2JmeXVRN2pkcUg4ZGNPbnZtdFdqZDRURmJaZEpaZTdpYjJNSnEyZG1WcHFjdmlLcTQ3bWtpUG5Vb1dJakdxZXNHZW4xcjF3MVIvdWNTS04vK2RyenoxKzc3Sk9tTHovMHFlZXZmZEtQTkkzL0I2RWZ3T0xsVE9VdDVxSUpUM054MEhNcEg1OHdEY0djYWg0emN2eWJEdmp2azY0K2lBMnFPSmJDSHU3dEVtNFlCU2dkY0UxL1hGTjZiTmFwczJWbHlsSDRyVVlVS05STFFlanRKeDNQSmE5TE1xV2J2N3dqSWNXOHZ2MmlmK1ZMNjhmUmFzT21QZTgzbnUzL1Z2ei9vcHMySnZkeE5ITFcvL203RXcyL2R2RlR1eHIwVVYvTXJwK0pRTHB1K0lKRHVBaTNPNHFRVnJCYUlGR0ZUTTA5VDVnNUpDWFFvL0JycWxLVGcrWGU1SWhSUEJmdGtNQ05ubkJJVWpsZVF0T09ocjVPMmh5VjR3Q1Z2b3YvNXZDRjc1MVlWNGdlMmc0MlZLd3lyRlNuM2hQaVQ1OGEwaUt4WEpaNXVzWWdIalU1dUtZdHpuUVV6L2tuTGFmdnlOSnB2RkkxclRhQVQ0T3BzZlNwRXk3MDFwVTZRSDY5b3pyWGlwcmxTUzF3WkJaUlUyNWFZMUFUVFE1UVFXTXE2Ulo3Ykkwd1QrbEoxZlNlOUVHbnhOZkpkOHVQRkNkK20zZWs5am1oSlFTTC8rb1FVQ3VxdlVXZjBMVDB2UUhsNEY4R2hLZG0wMzlFbFpSbUlZVWxjcUN4enlIODM2K1ozK1JsL2hQbzdhd0lOcjVTcXFibGtkMzRPQmwzVHp3enBwMVFQTDYwTm5GSlJNVGpTZVd0UlVLR2ZYbXhHb0hkSDZBRld2SFViRkpZUE5iS2wzQW1BbklUYXVOa2o2YkdoWnRFbno4bFJWQUJ4dnRPMWZRcDgzWGlVb0RDMXJDSndVME91ZE1LNzVCZndKZ1FPMG1UY2xtOElMZUcybkpSeHUyZUEzbHF0aXhVR1pGRDlLNXpZank3a3c2QkFQeHZWWGpOcWZ5a2FocC96TDE3S2h5TnFWT1lIc2JYM0tmdW9MeDEzaTAvdTVnVXkzeTF6cHlSUnF0MkdMRHN4eWtlclZFYkRGVzR4a0NQUVU1Tkc1L2lYKytBVjlQUEhubjkwM3ZTTlgzS2pKMjBTUGlwTXorWmtBR1hPcXpSdWFTd2N4ekpDbU51clFsV3BwallnY0JHTS9hSEtZdm1lVnl0enFzTmNqWHk3clFwVHY0ODdGQ1pQNjNUTloxMFRjL1RqTDEzSDY3SVNaRms2YjBRdnVDZ0UwZzhjT2tkdkNhazg4WTM5K3JZM3NheFJuc2JWUTB5V3JtblpwRGJFTGJicENPbGhlaU1vMnp1UmFIMXVCOW9laWVsenlEaU1nWGpQSU1YU0hHOUxUNkVQYldjcmlCMno2dGgxN2hrS28rb1VmWW8vcGJDejVCTlYxR2t5MmY4R2dNaEdPU1dlRUQvbGFNR2JGcEdBc0tZUDlYVk5NMUxTa3ljVDBObUZzN0s4dytzOXIycHd3NGZSMFVwZ1c2RE5yZmsyR2JKWFg5VG5RV1NqMzhYL2gzVzI4aXk2L1BjdkJlQlVObVUyQWE1SnRxOHpMYm5vUEhXcXF5bUd5Nzd1bndhaGE0NnI3TTduMUk3QkhiVnZRQzV3WjVobnhVRDZVTEIvQ241UjFXUmVkTm5qYjM5UmYxdktlTzd4NjZIL1RweTZGdWhhTmhqUDZMK0FWN2NFdFRrbHRqaGkzVHFXbU1QSG5XSUVIOUNGUVlVWU14dkhGT0pKYVdqMzBCc0F6cHE3Z25RZHk3L3NCekgzTU1kV1pvUDMxNlhSWGpxN3p4N2FKNEdsUC9idjc2QzJsLzNQeTF3U3UvclA2R3hJM0xleTg4ZWZnN3c2UzhjN3VqcVJYbFJUUVBHV3ZpWHEvdzg4dnJWaUNHei80M1RUUlpOVnM1L2VlOVVZeUhTUS9IY2RFcHlJbjZieTRsekg1aFJBbFd4UnN1SVhUUmFzLy9RdGVlZnUzWTViWXU3ZDhxaHBlanhuaUs5cWRURTl4U1ppcnFlRi9lZUlzRDlVbDRKOUtKRUx5K0pFMjNYZXUxRXlmLy9JVDV4MW0xbTZaVFhnUGZNVkdpZitXVk01WjdlRVIzYlJDcUxyZkN4OVplam85SjdjalM2M3lRcGdmSVhOZVQvQU5EN1VxL1p2UEkyQUFBQUFFbEZUa1N1UW1DQyIKfQo="/>
    </extobj>
    <extobj name="334E55B0-647D-440b-865C-3EC943EB4CBC-22">
      <extobjdata type="334E55B0-647D-440b-865C-3EC943EB4CBC" data="ewoJIkltZ1NldHRpbmdKc29uIiA6ICJ7XCJkcGlcIjpcIjYwMFwiLFwiZm9ybWF0XCI6XCJQTkdcIixcInRyYW5zcGFyZW50XCI6dHJ1ZSxcImF1dG9cIjpmYWxzZX0iLAoJIkxhdGV4IiA6ICJKRkVuUFZFclhHRnNjR2hoSUZ4MGFXMWxjeUFvY2lBdElGRXBKQT09IiwKCSJMYXRleEltZ0Jhc2U2NCIgOiAiaVZCT1J3MEtHZ29BQUFBTlNVaEVVZ0FBQXcwQUFBQlVCQU1BQUFBeXBzWnhBQUFBTUZCTVZFWC8vLzhBQUFBQUFBQUFBQUFBQUFBQUFBQUFBQUFBQUFBQUFBQUFBQUFBQUFBQUFBQUFBQUFBQUFBQUFBQUFBQUF2M2FCN0FBQUFEM1JTVGxNQUlsU0p1OTN2elprUU1uWm1xMFJ4c3VSZUFBQUFDWEJJV1hNQUFBN0VBQUFPeEFHVkt3NGJBQUFSQkVsRVFWUjRBZTFkWFlnc1J4WHUyWis3Ty9zenV3VDBLbUptSWZxUUI5a1ZsWWd2c3dwQ2ZKcjE1Y1pFa3I2S1huK2l6Z29LQmhObkl3UmZ4Rm5CSktnUHN5Q0VCQ1Z6ZmNtVHlZeGdCSjkySXhnaENyTUdSUkhpWEUxMk44bk5XbjZudXF1Ny9ycjZaM29tWHJRZWJsZWRPblhPNlRwMVRwMVQxYlBYODdLVWFoYWsvK05NZWdhcTdWZldKODNqdjRUK3pEMVRGS1R5cFh6TTVoamJ5VGZpaHNYdWZHcWFvdnZidWJqMUdIczkxNEFiRm5tVkhVeFQ5b2ZQOXZPd2F6RDI3eno0Tnk1dWM3cnZXV25kYVorcnlpMGZiWjErN2R1YWxuekdydG54aTBEdFBJcFFLbjNNQWh1VVRqTWllTlA3TDdIUDNYNXIxS1pLNzBTYjZxRDNKNWh4S21kWFpld0tJRnN5WUt5Nm5jZFlKRXNiUEh5NU5GSTZvYVVQOEpsbDdKdHl6d3pibFp0aC9Wbkd2dnpNMjI5K1Q0dWR5b3BZQm9WOUMzb2hVQUtQUXJUS0hqVEx0c3NtS2VpdCtPejBEMy82L292UE0zYXZnTkd6Y1M2M2d2cFRqUDJXMTJZd2FDUHVYMkRNZ2gzMzU2a2w4Y2hEWTJLNG8vS1dteWJqY291ZGIzRFl1eG43dE5RNXorUVZ6enQremRoeklRWXM0SHFNM0MwdlhFcmtFWE43ODJyVjFoc1RZcjRDTmF5SHRQdE1udnFLRVlsZVpPeXVTSXdSWTBkUlk1T1ZaYS9KUENKbWIySmx3ZXFzU3hDbzBtWW5CNEpPVGZVdS9SUFJFVHhoQXRJbUJlUlhvdjRoWThkUlk1eUtnOGM0Wk1zYWU4akVtaTJMWWtnSEpyQVZrOFFhMzQ1YkYrUXVnSnZxWk12V3c1aW1zNWhLdnBxRFJ6NUNFOEd1c2xjblF0ZkRjWVNjbHFoT2YwVjFURzloN09PeUZOaWJ4VmpZUmpsKzA4RkRadjFtMVZmWmF4TmhYZkhaaVdKb2JXWEorMmNTMXlXcytYMnA3U0ZuT0EzYmk0eGRscnVLMWwwOHJEUlhIclNDSndYc3NiMkprTzR4cG1iTmRXVkNOOWxHekJZK1M4VWxQM1UxNkw4UTFXTDhJalVYRHl1OVhyeEZXZnRMQmpZbkU3WENuYWhMblB5VUZJM09TNnNjdUtlSzZYZ2VadTF5OEtLOWNySTRKdy9ybEc2V3RDMVppUnZBcFFsdEQ1aEk3UXlYWmlKbXZ5d3BCVk10ZGdPQnNCWXByVkdPZ0U0ZWdxdnlQSlNrVlRvbTBwaFROOHl5ZU1BYkc5RW1RS0d2QVpkcXJKUktTKzRJSklEeGhOUFFadjhzUVNnM0R5dUQ2ZXFoTzVrN2xyZEc2emwreDJia2F3ZzJqRGFJUitSc0lVUkhkQldFMDFVNXBZdHA1YTA1ZWRpSlRWY1BmUzJRdDh1VUYxckZFdC9XQi9XWnZMUkhVZm9JL1JnaEc1d1lHeENCRlZiSzNZaVRoeTVvMEo2dUh2eUpaSEZ3SytiMlAxSXlnVFdoRkZyNkEzMHE2TEI3bTRCelRBNXdkYlNzYlRjUE81V3A2bUdwbE5jMFhxU3ZUSG5ZWFZmOHo1dzR5T2pod3NFZ0FIY1VCRXhyN0Y5R1ozNkFtNGVkWGhsNnFQN0NvUDM0aGdFQ1lGSE1ocTJ6TUl4MjZWMWpkRGZhZTZsclJSeFh0TTFvQ2QyZ2NJM1FOa3Zadjl3OGlJOVp5dEREcW5SZUdYQ29tVDZZT3RhTWlORVVLRDhFeHhKR3RFUzhHSXRwd2ZNY1VJdGNocWt6MGdQZk5JYW16NHBwWksybDhMQ1RLVWNQNXhyeGtWMFBvekt2ZmlPV2ZadXI0WHJZajNBOFA0aGl1NWp4NHhncWFvQytUdlZXR1ZGOENnL0JVMzJXb1lkcVd6TUl4QjhEbFUzUWF0aldvZzB4RDR5Y3U1NllZVHpadzBGTVp4aHN4QjJyenNnZWlNUlNLWDdUelNNV1NhbGwwVVAxNlV1bmQvOUdHYVkySG1hcVFZellHeXBDMkdxcllldTdydHkrVGoyMWgxb1BiSVFvK1I4NG1yT3BsL1J3SEZNNzVLWklPck9JUm1EYW9HZnRaaHhUeVZKTDRaRkFJb01lWnBxTVhZcnZFUzJFTklOSU1nY3N1dzFwOUNLN3d0ZGZyYzFPMkJuWGlOU2J1ZHJGSkE1TWJBSnZ4T0FlZHp5a3Myc3hVTlJvcHlkN21DL2pGREtGaCtDcFBkUDFNTk5pOTY1N1A3YStyQ0QycUhTalJjZG1salVIVk9qblFJekFzM09YMTZBWDc1emQ2dFhhWDVCNmNsWGhCcVFOT1JyYUEvZzRhc0ZOa1V4ZEFQZGlvS2pOQUV6N1E3ZU05Q2FGaCtDcFBWUDFVR2tHZCs0WE5kK2owSUZCYkVlQVJIT1lWU2FzZHJydlhjRHNySjRlZTk0N1hkUWp5cllLdVlGWExSMmJnQi9FOEhuTzRGQUZpbTRJeHZPODVic0ZaSXhuQ284RXlxbDZPR1N2OExBRGh3ZDduTWJDa1lXVWJCQ2JTY25RbkFqaU9ZRjVlT1E1bks4MTcrT1dValJTd1ZFRVg4dTZVQTNBSlYrM3lrL3kya3BTRVExWkJhN0ZYVVg5dVNyRmVLVHBBVXNsbkhjeHZiMWRpMWlTUWNESU55d1lBRjFRdk5mbURpVjI3RzkwOEk2RE1mTmt3azVFaDFMMmNGa0hvajBFWEFLRGswY1hiMWJibVUrZ0ljWlhuL3hIVWxrWE9PSlprRWVhSGpxUnc0Q3crOFNzc1NWWXlzL1lJSVMrNU42Z3ZxWk1Rdk9xNTJFaCtyUXhrQk14OFROQjZoaTZaOEgwMWFXUDVHcWRaM0cwSCt1bEN4cmJPbEJxMHpKSktOY2xORjZsTEs0QWp4UTlZS0oyUTA1Z2dKbnpQUDg0QkNpUHlDQ1N6Y0dyUzdjeFdKdjduaWRTNFlaeUdLUVFUbXYwOGQ3SEpoSnRHL0pWSThRNnBrczZxLytoWlRBd2FVU1FFZm9UaXN5RDR4ZmtrYUtIUnV4a1lYQ1h3V2twd1pFL0dwNmZKWnVER2tjdDB4dmdPcGp2c1ppSW92Y3ZUVXdRbndEMUh3cUI1S2dOb2VtQTUzWTdLaDV2NFMzbHZjVEFXRzBCd1Y3dTBaSFhnRmVBaDFzUENIM2lsMmtGdVE2Zk9KMDdycnphM0hJYzV1QWR5Z2E3UUlUcjRibk9LanM1TUVsbWd1QzFiVmU3SWdRU05MQ0t0cndla1BjRVJIcTJWUjhtOWVTdkZ1VGgxZ1BtNlhJa1NwT3YzUXMyNTBjNEM5d2dIT2FBYklHQzlMQ3NrUUZzaW8rL2Jqb1E4SnhQU3NGc0s4UFl2aW5lT0FUeXdHU1FGUHFhbUJrZ0JYbTQ5WUNGRXN2ZDRLSGY2SEtTTUdRUUxuUHdPckx6NFhRNlZwK1N4TUFHcDdBMU50a1lvd3Y0WHR5a28rMWRDS0RrRktLYmFKUng3OERwRmVUaDFBUGNrclFiOUxrVHBUREhYbUFRKzV1eTY5SFJodXkxR01URExsL1pTK1BPN0RVNlJaQ3NMQnBJeTNJamFxRkNlbWdDS01QQ3VtRTdGcHpNb0lJOG5IcEFxQ3JGWlpzVWN2QXdKMEdvTnJ1ZlVCS0xvb2MvcjlObkZETDl4SEd1anFUd3BLMHNJVkNnM1JOQTh6SXVPTzFJWEYwdTVyYSs3RHlVcktSekttY29tQnU1WUZGSlljeUlWdGlpelJtSFkyaGRKZTBlaE5LVTdZRUE4R0sydFV4ZDNzMnlYSEg5Ny91OE4vcUhlTzVHcmFoQ0xsOWFRb0Mzc05QNWFpd3JzUHRBMXNpS3J2elA3RHl5WnlXZ3VSTkxBajBNdkxxa21MZ3JyTFdkNW9EbGVFMGRBcWVpUWFKK1NuR3RSVk0wNFcxSG82SUtaVk9TRXdTYzlOQ3k3K20rSFJ3UnkxWEp6Z1B6bVZUVXJJUlM5SzFZaUI0bGNzTzlHR0RVR3ZyWGpTcUdvUWRNNHE2S0VyWFdra1JVVnpsbElHd3ZHaFZWU0QwcTJJZktNVWZTN3g0RU1uWkIyZXdGdU9Bek80L01XUWt0cW9OWUhPaGhhOG1WN3hEK25URytVVFAwMEZYMHJPRFAraUJtS2FkZlZkQzRIcVMxSWpwSEdMb3VHdnhKOXREV25SWHZJZGUycCtDTzB5akl3N1ZQWTFGSjRSSmxRVnR6bHZVVVNkMW5aMDZETVBhSFRiY2Zpd2c3S2pTSlY4MSt6SWEya2JYZ1lwdldHQmM2d3hGOFdhVWdENWNldXVxMlZvY2VEbmVTNVYxbXB3ZHRsMEVvOFJMUjZWakR5R1FPbHA0NTZHRmd3TW5WYUJkTHBJZWhWUS90RXJNSGZzNXJ5V2RTZWJqMDBGUE51TTdZZTExaGFaOTlFVW0xOXYyN1BFV0dIbnhyR0NrUFNhM2pJTktpQjdLU0RYVXNiVVVOOVlVQ0JOTFp0b283VHFzZ0Q1Y2VOdFV3dE03WWJlZkpJcEk1VUd5YXZFTW8rVFFJSWJoMHVibGtWbElQblNPWmZtbWtXakxoMDJUamhVeUd0S1dudWFVbjQ4QlpxNjFMc3ZCcVFSNHVQZlRWc0xMTFdNdmhsaG93QjdwaFN6YUlocFpkSUgzUW9sRDlwZExib0NISGRPRUFYNDlhU2VkSEh0N0FYRWlOZExlVVBkTG5TV0VSSGk0OWRKVDBnZDVDRHArME9acmw1dUEwQ1AwTUVPbkRheHFWM0UxSzJJNzBVV1FrR3lxUW43ZkNYUmxuczNSUWVGWEZOVm93cjZTaVJ2b1lXWkNIU3c4Tk5ienYycXc2a3JrUi9pTEhZUkE5N1VUT2tUNUVaRk1yYlhXeGNQeWV1UTlnRnhoNHBKK0FZTzEzcHg4SmFoRENYTDhhMTh5UlBzWVY1T0hTUTE5ZGFtdVdONDRFaGptRXJqSjVoK2hxM2htSzNZb0lGSzAwSXVmNWt2K1pqWUNLcndwT1FQZ3ZPaHdMN2FUU1pqNjdqeVBENkhlRFVlWDhXNUNIU3crSGFuNERQZXdseWlyTXdiVkRxUGZUL09lQng0a0VzM2JVaFh1L1NGK2o3ZE13K0R2ak9BODVKdGJKTUZUUVkyZkgzdHM0RHM2OGt6ZTByRElvZU1WNHVQU0FWOXlUV0VBUFcxSlRxY2JtNE5naDVyWHBhYVFIS2dvVGF3T0JLL2NyUzYxdmVaWE9MdUZnL1JoQkczU0RIcndSN1VqVkZyMUlaNEIvUml5MEM5VExLY1Y0dVBTQXM1dHRTVGFYSG1KejRCOGxyVXZENGlwOXJTU1h0cVlYdVM5em5mekFQckFmb1loMGtWSW9iQVhtbjRJTHZwMkNOZ2d0T0JXb1EybHdWNm03QXdia0tjVjR1UFFBaWp1eEJMaUFWc3dqN3FITlNld09CRzNxUDZJTlVlRWJhTWFpNHR6M0k2eTBTaWN3MCtZV0VDdmthemJOM1lHK1NLQnpqcXJQM1ZPUHY5WWNqbzZCdXdkNG1hVVlENWNlc05TdXhSSStob1YzRkRlVm1td095UWFCRVBGQUdvWjFPM2I2QUhJUDg5UFNwU0FnYmE3VEV0ZU9sb2huTjdqNXJITVQ3MndRYVBZNkJUZVdRd2pxSEtNVTR1SFNBeFoyUEZITDdIMUJaUEZIVTBUVkhHZzcxSDVWSGc1Ump5QXdDZVNzeHkxWUxRamlGNE1MNXNaVk9yd1ltRFI3d2RGMm9LVDJQaUVzbnlOc0t2NmR1Y2tqaEJUaTRkVERJL0gxOFZMN0swaVpZTThyUnViaTRkWFZlY2ZIcE9zMk1adUtRU0hqMmJWaDVZVngzN0lRcUxSL2hEOC9wUjJOYzNxSDdITDRSTERoOCtyS1NUODloZU9ZT2Y4NUpFK1prNGRURDlEc1JpQkRaWWp0ckVscjZvTDVaUU5PbHJScEg0WnZyYjFBUXdHdk9lSXZiYUN6aWREelpXLytHc2M1L0tTWnd2R09ZYmdFbGxyNGJycTVUekNNWXgvbW5TWC9VNFNIVXcvWXhnTEhWR3VlSFZQVTl3Wjh6clloOVp4bUR2VGRLalJtbHBFQzdsRnFWVWJCenZXeHVjQWVzQlR0ZjU2N0paelZENkMxemhiWVZwNXkvclptSE1FSzhIRHJvZFppTDBEaVh6RlNBLzM0ZGYraTVjcWtkZ2RmWDdMa25TTzVKZXByeW1kQ21ETmpuTURNOWF3Mkdmc2dQMGg5aC9RMytoUVNDQkVFcjcvQ0RGNSs0dVpiL0ZnTnp5aTRKVFR5ODNEcmdRS0trMHVNZmY2QUMzZUlsUFcrTWNSY1ZZTDFrWGJNVVp4d3JZMjUvZEQzWDhTZmJ6MWZEOGdzSHl2a2xxVlU1YVVXc0ZGT3hmbmVrbVhMVTBibmIrVG1rYUlIci9ZZC8rU0JuNGVDVkcrN2NuOSttZUlSTlNXUm03MnlGWGVOVjZzOUgwd3RhMTBQQ2ZXMkZZcHpjbnk2OVBUWFc1Lzl4aStqbjMydmlrSEtrUEVhZVhtazZXRThhZlRSclpKMkJKMnU1LzMwOTVkTzcvanVPb1VUdkF5dktqaGRTNGk4S3JMVXVuVXpVOFlYYldUbU1WMDlOSlRBdGVqTE9jWU53L3VGaXZhMVJ0K1NOczhKM2JSM0hCVEg2OHJNWTdwNjZNb0orbmh2YUI4dC91N2NnbmJmNHl1WmZEQjJnUVgrYUZIc0UzYVNZMEV6OHpqVUJCNkxhK3JnVlNWZ1NrWFBqOUFPNTdTanV2eUt0RTFIUk9mRHk3bE9GRXBGWGFWVk12TVlHU2YxcGNsZ0lXU2REd3RlWVpBZitQeEY0WEpDUW92U0FVMUUrMEtRVGYvRmRod1ZJWTFaeWN4alFmNkQ1R015elRDOFkvRVBHWVpsUm1seFgxUHp0ZTJneTdaTkVwaWo4eWQrOUd3NXAxd21lUTZaQm84RTFrNndkVUtjSS9KMUlqVjQ0WWMvOCtPc0xSamVzS2tmTjlOQktTMThObVdkQmcrVGF6cGtscjJlampRR0JqVEFpL3FaVWxYSkh3VjVuRFB5TXNrZGNobzh4UHZrZXZvaXdNODFLak55TzV4Yk5SSzEveDBaK2hTUXlpUlh4alI0Wko0Y0dYRTBzVXlPY3hueW1XV2FHNnFMUXo1WkVuN2VTdWdEQlZwdWc4NTBxVXlTUnlHSkY1V2o3MElrWElOd2RrZ0Y1OEp5YVZ1RFF2b0V6Y1NWeDQxZm53YVBZbEw2bGt2TFlwUnNvN3A4YXJYbHQ2Si8reDJPREpRMnNORXBEVFlOSG9XRXJXcytveENSeEVHQkg5RE1vWnZnQzNHWUxQLy9OSWxFeCttWUJvOUM4czJZM3hZVm9wTXdxSUdwUFRsUU81dHFjaDEzUHU2ZmZDOXVUYVkyRFI2RkpPOWJuWFVoVXBaQlN3K3hUeHlyOEVVdHFWTjcvMmRiczVNK2M5Vm50bC8rTlkvTzRvWnNOOVFrYTlMdk1ETnR2VS82aGNxaXY2eUZNMlhSVGFEVG0yaUFsc0QwaGdCdlRqS0QxV2VnT3NIYkJaM1hEZGF1UERoRmdhdlBSY3orQTh3djBHRTRmWVhaQUFBQUFFbEZUa1N1UW1DQyIKfQo="/>
    </extobj>
  </extobjs>
</s:customData>
</file>

<file path=customXml/itemProps78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1470</Words>
  <Application>WPS 演示</Application>
  <PresentationFormat>宽屏</PresentationFormat>
  <Paragraphs>487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4" baseType="lpstr">
      <vt:lpstr>Arial</vt:lpstr>
      <vt:lpstr>宋体</vt:lpstr>
      <vt:lpstr>Wingdings</vt:lpstr>
      <vt:lpstr>Wingdings</vt:lpstr>
      <vt:lpstr>宋体</vt:lpstr>
      <vt:lpstr>汉仪书宋二KW</vt:lpstr>
      <vt:lpstr>Times New Roman Regular</vt:lpstr>
      <vt:lpstr>Times New Roman</vt:lpstr>
      <vt:lpstr>华文仿宋</vt:lpstr>
      <vt:lpstr>PingFang SC Semibold</vt:lpstr>
      <vt:lpstr>苹方-简</vt:lpstr>
      <vt:lpstr>微软雅黑</vt:lpstr>
      <vt:lpstr>方正雅意黑 GB18030L2</vt:lpstr>
      <vt:lpstr>Arial Unicode MS</vt:lpstr>
      <vt:lpstr>helvetica</vt:lpstr>
      <vt:lpstr>黑体</vt:lpstr>
      <vt:lpstr>汉仪中黑KW</vt:lpstr>
      <vt:lpstr>DejaVu Math TeX Gyre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王羿珧(2026211232)</cp:lastModifiedBy>
  <cp:revision>843</cp:revision>
  <dcterms:created xsi:type="dcterms:W3CDTF">2026-09-12T14:29:12Z</dcterms:created>
  <dcterms:modified xsi:type="dcterms:W3CDTF">2026-09-12T14:29:12Z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789ED136CF305FC591B8A46AD691F418_43</vt:lpwstr>
  </property>
</Properties>
</file>